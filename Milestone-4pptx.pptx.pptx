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Inter Bold" charset="1" panose="020B08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576006"/>
            <a:ext cx="7085781" cy="6710994"/>
            <a:chOff x="0" y="0"/>
            <a:chExt cx="24092299" cy="228179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92298" cy="22817989"/>
            </a:xfrm>
            <a:custGeom>
              <a:avLst/>
              <a:gdLst/>
              <a:ahLst/>
              <a:cxnLst/>
              <a:rect r="r" b="b" t="t" l="l"/>
              <a:pathLst>
                <a:path h="22817989" w="24092298">
                  <a:moveTo>
                    <a:pt x="0" y="0"/>
                  </a:moveTo>
                  <a:lnTo>
                    <a:pt x="24092298" y="0"/>
                  </a:lnTo>
                  <a:lnTo>
                    <a:pt x="24092298" y="22817989"/>
                  </a:lnTo>
                  <a:lnTo>
                    <a:pt x="0" y="22817989"/>
                  </a:lnTo>
                  <a:close/>
                </a:path>
              </a:pathLst>
            </a:custGeom>
            <a:blipFill>
              <a:blip r:embed="rId3"/>
              <a:stretch>
                <a:fillRect l="-3133" t="0" r="-313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333829" y="1130381"/>
            <a:ext cx="13836948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b="true" sz="556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HOSTEL ENERGY MANAGEMENT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35546" y="7994894"/>
            <a:ext cx="2360216" cy="69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Jiya Jain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9405" y="2926840"/>
            <a:ext cx="7524669" cy="4433319"/>
          </a:xfrm>
          <a:custGeom>
            <a:avLst/>
            <a:gdLst/>
            <a:ahLst/>
            <a:cxnLst/>
            <a:rect r="r" b="b" t="t" l="l"/>
            <a:pathLst>
              <a:path h="4433319" w="7524669">
                <a:moveTo>
                  <a:pt x="0" y="0"/>
                </a:moveTo>
                <a:lnTo>
                  <a:pt x="7524669" y="0"/>
                </a:lnTo>
                <a:lnTo>
                  <a:pt x="7524669" y="4433320"/>
                </a:lnTo>
                <a:lnTo>
                  <a:pt x="0" y="4433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547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75264" y="0"/>
            <a:ext cx="11012736" cy="10287000"/>
          </a:xfrm>
          <a:custGeom>
            <a:avLst/>
            <a:gdLst/>
            <a:ahLst/>
            <a:cxnLst/>
            <a:rect r="r" b="b" t="t" l="l"/>
            <a:pathLst>
              <a:path h="10287000" w="11012736">
                <a:moveTo>
                  <a:pt x="0" y="0"/>
                </a:moveTo>
                <a:lnTo>
                  <a:pt x="11012736" y="0"/>
                </a:lnTo>
                <a:lnTo>
                  <a:pt x="11012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0682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34588"/>
            <a:ext cx="7730430" cy="7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b="true" sz="4437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KEY FEATURES BY MODULE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2897086"/>
            <a:ext cx="8214274" cy="5626598"/>
            <a:chOff x="0" y="0"/>
            <a:chExt cx="10952366" cy="75021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7502144"/>
            </a:xfrm>
            <a:custGeom>
              <a:avLst/>
              <a:gdLst/>
              <a:ahLst/>
              <a:cxnLst/>
              <a:rect r="r" b="b" t="t" l="l"/>
              <a:pathLst>
                <a:path h="7502144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7229983"/>
                  </a:lnTo>
                  <a:cubicBezTo>
                    <a:pt x="10952353" y="7380351"/>
                    <a:pt x="10830433" y="7502144"/>
                    <a:pt x="10680192" y="7502144"/>
                  </a:cubicBezTo>
                  <a:lnTo>
                    <a:pt x="272161" y="7502144"/>
                  </a:lnTo>
                  <a:cubicBezTo>
                    <a:pt x="121920" y="7502144"/>
                    <a:pt x="0" y="7380224"/>
                    <a:pt x="0" y="7229983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3161557"/>
            <a:ext cx="764723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331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1: AUTHENTICATION &amp; ROLE MANAGEMENT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4460672"/>
            <a:ext cx="7647232" cy="333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Handles secure user login and registration.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Validates user credentials.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Enforces role-based access control.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Stores and retrieves user details.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Separates responsibilities using Controller–Service–Repository layers.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only authorized users can access system features.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5209" y="2897086"/>
            <a:ext cx="8214274" cy="5626598"/>
            <a:chOff x="0" y="0"/>
            <a:chExt cx="10952366" cy="75021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2353" cy="7502144"/>
            </a:xfrm>
            <a:custGeom>
              <a:avLst/>
              <a:gdLst/>
              <a:ahLst/>
              <a:cxnLst/>
              <a:rect r="r" b="b" t="t" l="l"/>
              <a:pathLst>
                <a:path h="7502144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7229983"/>
                  </a:lnTo>
                  <a:cubicBezTo>
                    <a:pt x="10952353" y="7380351"/>
                    <a:pt x="10830433" y="7502144"/>
                    <a:pt x="10680192" y="7502144"/>
                  </a:cubicBezTo>
                  <a:lnTo>
                    <a:pt x="272161" y="7502144"/>
                  </a:lnTo>
                  <a:cubicBezTo>
                    <a:pt x="121920" y="7502144"/>
                    <a:pt x="0" y="7380224"/>
                    <a:pt x="0" y="7229983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78731" y="3161557"/>
            <a:ext cx="764723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b="true" sz="331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2: SMART DEVICE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8731" y="4460672"/>
            <a:ext cx="7647232" cy="249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Manages all smart home devices.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Accepts device control requests.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Applies business logic for device operations.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Updates and stores device data.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Maintains real-time device status (ON / OFF).</a:t>
            </a:r>
          </a:p>
          <a:p>
            <a:pPr algn="l" marL="329903" indent="-164951" lvl="1">
              <a:lnSpc>
                <a:spcPts val="3312"/>
              </a:lnSpc>
              <a:buAutoNum type="arabicPeriod" startAt="1"/>
            </a:pPr>
            <a:r>
              <a:rPr lang="en-US" sz="218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Integrates with Module 1 for secure device access.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489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489A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8587" y="1171870"/>
            <a:ext cx="8207873" cy="7943259"/>
            <a:chOff x="0" y="0"/>
            <a:chExt cx="10943831" cy="105910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43844" cy="10591038"/>
            </a:xfrm>
            <a:custGeom>
              <a:avLst/>
              <a:gdLst/>
              <a:ahLst/>
              <a:cxnLst/>
              <a:rect r="r" b="b" t="t" l="l"/>
              <a:pathLst>
                <a:path h="10591038" w="10943844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698861" y="0"/>
                  </a:lnTo>
                  <a:cubicBezTo>
                    <a:pt x="10834116" y="0"/>
                    <a:pt x="10943844" y="109728"/>
                    <a:pt x="10943844" y="244983"/>
                  </a:cubicBezTo>
                  <a:lnTo>
                    <a:pt x="10943844" y="10346055"/>
                  </a:lnTo>
                  <a:cubicBezTo>
                    <a:pt x="10943844" y="10481311"/>
                    <a:pt x="10834116" y="10591038"/>
                    <a:pt x="10698861" y="10591038"/>
                  </a:cubicBezTo>
                  <a:lnTo>
                    <a:pt x="244983" y="10591038"/>
                  </a:lnTo>
                  <a:cubicBezTo>
                    <a:pt x="109728" y="10591038"/>
                    <a:pt x="0" y="10481310"/>
                    <a:pt x="0" y="10346055"/>
                  </a:cubicBezTo>
                  <a:close/>
                </a:path>
              </a:pathLst>
            </a:custGeom>
            <a:solidFill>
              <a:srgbClr val="364F62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3676" y="1382468"/>
            <a:ext cx="806112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MODULE 3: REAL-TIME ENERGY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676" y="1952777"/>
            <a:ext cx="2264569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USAGELOG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3676" y="2552405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Stores device-wise energy usage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3676" y="3122562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Maintains timestamp and power consumption details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3676" y="3744363"/>
            <a:ext cx="4779169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⚙️ ENERGYTRACKINGSERVICE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676" y="4343991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Calculates energy usage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3676" y="4914157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Applies business logic before saving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676" y="5535959"/>
            <a:ext cx="5579666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🎮 ENERGYTRACKINGCONTROLLER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676" y="6135586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Handles energy tracking requests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3676" y="6705752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Logs usage when device state changes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3676" y="7327554"/>
            <a:ext cx="3607197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🗄️ USAGEREPOSITORY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3676" y="7927181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Saves and retrieves energy usage records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3676" y="8497338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data consistency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281074" y="1171870"/>
            <a:ext cx="8207873" cy="7943259"/>
            <a:chOff x="0" y="0"/>
            <a:chExt cx="10943831" cy="105910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43844" cy="10591038"/>
            </a:xfrm>
            <a:custGeom>
              <a:avLst/>
              <a:gdLst/>
              <a:ahLst/>
              <a:cxnLst/>
              <a:rect r="r" b="b" t="t" l="l"/>
              <a:pathLst>
                <a:path h="10591038" w="10943844">
                  <a:moveTo>
                    <a:pt x="0" y="244983"/>
                  </a:moveTo>
                  <a:cubicBezTo>
                    <a:pt x="0" y="109728"/>
                    <a:pt x="109728" y="0"/>
                    <a:pt x="244983" y="0"/>
                  </a:cubicBezTo>
                  <a:lnTo>
                    <a:pt x="10698861" y="0"/>
                  </a:lnTo>
                  <a:cubicBezTo>
                    <a:pt x="10834116" y="0"/>
                    <a:pt x="10943844" y="109728"/>
                    <a:pt x="10943844" y="244983"/>
                  </a:cubicBezTo>
                  <a:lnTo>
                    <a:pt x="10943844" y="10346055"/>
                  </a:lnTo>
                  <a:cubicBezTo>
                    <a:pt x="10943844" y="10481311"/>
                    <a:pt x="10834116" y="10591038"/>
                    <a:pt x="10698861" y="10591038"/>
                  </a:cubicBezTo>
                  <a:lnTo>
                    <a:pt x="244983" y="10591038"/>
                  </a:lnTo>
                  <a:cubicBezTo>
                    <a:pt x="109728" y="10591038"/>
                    <a:pt x="0" y="10481310"/>
                    <a:pt x="0" y="10346055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536163" y="1382468"/>
            <a:ext cx="698857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MODULE 4: ANALYTICS DASHBOARD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36163" y="1952777"/>
            <a:ext cx="460781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ENERGY USAGE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36163" y="2552405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Calculates total, daily, and monthly energy consumption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36163" y="3174206"/>
            <a:ext cx="4126111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TREND VISUALIZATION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36163" y="3773834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Displays usage trends using charts and graphs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36163" y="4395635"/>
            <a:ext cx="3418979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💰 COST ESTIMATION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36163" y="4995272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Estimates electricity cost based on energy usage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36163" y="5617073"/>
            <a:ext cx="6538317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🏢 HIGH CONSUMPTION IDENTIFICATION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36163" y="6216701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Identifies rooms or devices with high energy usage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36163" y="6838502"/>
            <a:ext cx="3093938" cy="3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🔐 SECURE ACCESS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36163" y="7438130"/>
            <a:ext cx="7697686" cy="3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Provides analytics access only to authorized admins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316414" y="1621336"/>
            <a:ext cx="3655021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b="true" sz="5562">
                <a:solidFill>
                  <a:srgbClr val="2637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280019"/>
            <a:ext cx="4916691" cy="4338485"/>
            <a:chOff x="0" y="0"/>
            <a:chExt cx="6555588" cy="57846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555613" cy="5784596"/>
            </a:xfrm>
            <a:custGeom>
              <a:avLst/>
              <a:gdLst/>
              <a:ahLst/>
              <a:cxnLst/>
              <a:rect r="r" b="b" t="t" l="l"/>
              <a:pathLst>
                <a:path h="5784596" w="6555613">
                  <a:moveTo>
                    <a:pt x="0" y="0"/>
                  </a:moveTo>
                  <a:lnTo>
                    <a:pt x="6555613" y="0"/>
                  </a:lnTo>
                  <a:lnTo>
                    <a:pt x="6555613" y="5784596"/>
                  </a:lnTo>
                  <a:lnTo>
                    <a:pt x="0" y="5784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" t="0" r="-3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10198" y="3280019"/>
            <a:ext cx="5086502" cy="5037982"/>
            <a:chOff x="0" y="0"/>
            <a:chExt cx="6782003" cy="671730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782054" cy="6717284"/>
            </a:xfrm>
            <a:custGeom>
              <a:avLst/>
              <a:gdLst/>
              <a:ahLst/>
              <a:cxnLst/>
              <a:rect r="r" b="b" t="t" l="l"/>
              <a:pathLst>
                <a:path h="6717284" w="6782054">
                  <a:moveTo>
                    <a:pt x="0" y="0"/>
                  </a:moveTo>
                  <a:lnTo>
                    <a:pt x="6782054" y="0"/>
                  </a:lnTo>
                  <a:lnTo>
                    <a:pt x="6782054" y="6717284"/>
                  </a:lnTo>
                  <a:lnTo>
                    <a:pt x="0" y="6717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" r="0" b="-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97978" y="3280019"/>
            <a:ext cx="4916691" cy="4260647"/>
            <a:chOff x="0" y="0"/>
            <a:chExt cx="6555588" cy="5680862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555613" cy="5680837"/>
            </a:xfrm>
            <a:custGeom>
              <a:avLst/>
              <a:gdLst/>
              <a:ahLst/>
              <a:cxnLst/>
              <a:rect r="r" b="b" t="t" l="l"/>
              <a:pathLst>
                <a:path h="5680837" w="6555613">
                  <a:moveTo>
                    <a:pt x="0" y="0"/>
                  </a:moveTo>
                  <a:lnTo>
                    <a:pt x="6555613" y="0"/>
                  </a:lnTo>
                  <a:lnTo>
                    <a:pt x="6555613" y="5680837"/>
                  </a:lnTo>
                  <a:lnTo>
                    <a:pt x="0" y="5680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" t="0" r="-16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489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24152"/>
            <a:ext cx="3843040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b="true" sz="5562">
                <a:solidFill>
                  <a:srgbClr val="2637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 2 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1763" y="3188198"/>
            <a:ext cx="5276850" cy="5276850"/>
            <a:chOff x="0" y="0"/>
            <a:chExt cx="7035800" cy="7035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35800" cy="7035800"/>
            </a:xfrm>
            <a:custGeom>
              <a:avLst/>
              <a:gdLst/>
              <a:ahLst/>
              <a:cxnLst/>
              <a:rect r="r" b="b" t="t" l="l"/>
              <a:pathLst>
                <a:path h="7035800" w="7035800">
                  <a:moveTo>
                    <a:pt x="0" y="0"/>
                  </a:moveTo>
                  <a:lnTo>
                    <a:pt x="7035800" y="0"/>
                  </a:lnTo>
                  <a:lnTo>
                    <a:pt x="7035800" y="7035800"/>
                  </a:lnTo>
                  <a:lnTo>
                    <a:pt x="0" y="703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09234" y="3188198"/>
            <a:ext cx="5277002" cy="5277002"/>
            <a:chOff x="0" y="0"/>
            <a:chExt cx="7036003" cy="703600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036054" cy="7036054"/>
            </a:xfrm>
            <a:custGeom>
              <a:avLst/>
              <a:gdLst/>
              <a:ahLst/>
              <a:cxnLst/>
              <a:rect r="r" b="b" t="t" l="l"/>
              <a:pathLst>
                <a:path h="7036054" w="7036054">
                  <a:moveTo>
                    <a:pt x="0" y="0"/>
                  </a:moveTo>
                  <a:lnTo>
                    <a:pt x="7036054" y="0"/>
                  </a:lnTo>
                  <a:lnTo>
                    <a:pt x="7036054" y="7036054"/>
                  </a:lnTo>
                  <a:lnTo>
                    <a:pt x="0" y="703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24152"/>
            <a:ext cx="10042327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b="true" sz="5562">
                <a:solidFill>
                  <a:srgbClr val="2637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FUNCTIONING OF MODULE 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01763" y="3188198"/>
            <a:ext cx="5276850" cy="5276850"/>
            <a:chOff x="0" y="0"/>
            <a:chExt cx="7035800" cy="70358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35800" cy="7035800"/>
            </a:xfrm>
            <a:custGeom>
              <a:avLst/>
              <a:gdLst/>
              <a:ahLst/>
              <a:cxnLst/>
              <a:rect r="r" b="b" t="t" l="l"/>
              <a:pathLst>
                <a:path h="7035800" w="7035800">
                  <a:moveTo>
                    <a:pt x="0" y="0"/>
                  </a:moveTo>
                  <a:lnTo>
                    <a:pt x="7035800" y="0"/>
                  </a:lnTo>
                  <a:lnTo>
                    <a:pt x="7035800" y="7035800"/>
                  </a:lnTo>
                  <a:lnTo>
                    <a:pt x="0" y="703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05423" y="3188198"/>
            <a:ext cx="5277002" cy="5277002"/>
            <a:chOff x="0" y="0"/>
            <a:chExt cx="7036003" cy="703600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036054" cy="7036054"/>
            </a:xfrm>
            <a:custGeom>
              <a:avLst/>
              <a:gdLst/>
              <a:ahLst/>
              <a:cxnLst/>
              <a:rect r="r" b="b" t="t" l="l"/>
              <a:pathLst>
                <a:path h="7036054" w="7036054">
                  <a:moveTo>
                    <a:pt x="0" y="0"/>
                  </a:moveTo>
                  <a:lnTo>
                    <a:pt x="7036054" y="0"/>
                  </a:lnTo>
                  <a:lnTo>
                    <a:pt x="7036054" y="7036054"/>
                  </a:lnTo>
                  <a:lnTo>
                    <a:pt x="0" y="703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09234" y="3188198"/>
            <a:ext cx="5277002" cy="5277002"/>
            <a:chOff x="0" y="0"/>
            <a:chExt cx="7036003" cy="703600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7036054" cy="7036054"/>
            </a:xfrm>
            <a:custGeom>
              <a:avLst/>
              <a:gdLst/>
              <a:ahLst/>
              <a:cxnLst/>
              <a:rect r="r" b="b" t="t" l="l"/>
              <a:pathLst>
                <a:path h="7036054" w="7036054">
                  <a:moveTo>
                    <a:pt x="0" y="0"/>
                  </a:moveTo>
                  <a:lnTo>
                    <a:pt x="7036054" y="0"/>
                  </a:lnTo>
                  <a:lnTo>
                    <a:pt x="7036054" y="7036054"/>
                  </a:lnTo>
                  <a:lnTo>
                    <a:pt x="0" y="703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489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53550" y="455196"/>
            <a:ext cx="7073228" cy="5931907"/>
            <a:chOff x="0" y="0"/>
            <a:chExt cx="10502506" cy="8807844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502519" cy="8807831"/>
            </a:xfrm>
            <a:custGeom>
              <a:avLst/>
              <a:gdLst/>
              <a:ahLst/>
              <a:cxnLst/>
              <a:rect r="r" b="b" t="t" l="l"/>
              <a:pathLst>
                <a:path h="8807831" w="10502519">
                  <a:moveTo>
                    <a:pt x="0" y="0"/>
                  </a:moveTo>
                  <a:lnTo>
                    <a:pt x="10502519" y="0"/>
                  </a:lnTo>
                  <a:lnTo>
                    <a:pt x="10502519" y="8807831"/>
                  </a:lnTo>
                  <a:lnTo>
                    <a:pt x="0" y="8807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349128"/>
            <a:ext cx="61451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b="true" sz="268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CLASSES &amp; THEIR RESPONSIBILITIES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736" y="8233493"/>
            <a:ext cx="4043067" cy="1234230"/>
            <a:chOff x="0" y="0"/>
            <a:chExt cx="5390756" cy="16456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5365369" cy="1620139"/>
            </a:xfrm>
            <a:custGeom>
              <a:avLst/>
              <a:gdLst/>
              <a:ahLst/>
              <a:cxnLst/>
              <a:rect r="r" b="b" t="t" l="l"/>
              <a:pathLst>
                <a:path h="1620139" w="5365369">
                  <a:moveTo>
                    <a:pt x="0" y="97282"/>
                  </a:moveTo>
                  <a:cubicBezTo>
                    <a:pt x="0" y="43561"/>
                    <a:pt x="44069" y="0"/>
                    <a:pt x="98425" y="0"/>
                  </a:cubicBezTo>
                  <a:lnTo>
                    <a:pt x="5266944" y="0"/>
                  </a:lnTo>
                  <a:cubicBezTo>
                    <a:pt x="5321300" y="0"/>
                    <a:pt x="5365369" y="43561"/>
                    <a:pt x="5365369" y="97282"/>
                  </a:cubicBezTo>
                  <a:lnTo>
                    <a:pt x="5365369" y="1522857"/>
                  </a:lnTo>
                  <a:cubicBezTo>
                    <a:pt x="5365369" y="1576578"/>
                    <a:pt x="5321300" y="1620139"/>
                    <a:pt x="5266944" y="1620139"/>
                  </a:cubicBezTo>
                  <a:lnTo>
                    <a:pt x="98425" y="1620139"/>
                  </a:lnTo>
                  <a:cubicBezTo>
                    <a:pt x="44069" y="1620139"/>
                    <a:pt x="0" y="1576578"/>
                    <a:pt x="0" y="152285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90769" cy="1645539"/>
            </a:xfrm>
            <a:custGeom>
              <a:avLst/>
              <a:gdLst/>
              <a:ahLst/>
              <a:cxnLst/>
              <a:rect r="r" b="b" t="t" l="l"/>
              <a:pathLst>
                <a:path h="1645539" w="5390769">
                  <a:moveTo>
                    <a:pt x="0" y="109982"/>
                  </a:moveTo>
                  <a:cubicBezTo>
                    <a:pt x="0" y="49149"/>
                    <a:pt x="49911" y="0"/>
                    <a:pt x="111125" y="0"/>
                  </a:cubicBezTo>
                  <a:lnTo>
                    <a:pt x="5279644" y="0"/>
                  </a:lnTo>
                  <a:lnTo>
                    <a:pt x="5279644" y="12700"/>
                  </a:lnTo>
                  <a:lnTo>
                    <a:pt x="5279644" y="0"/>
                  </a:lnTo>
                  <a:cubicBezTo>
                    <a:pt x="5340858" y="0"/>
                    <a:pt x="5390769" y="49149"/>
                    <a:pt x="5390769" y="109982"/>
                  </a:cubicBezTo>
                  <a:lnTo>
                    <a:pt x="5378069" y="109982"/>
                  </a:lnTo>
                  <a:lnTo>
                    <a:pt x="5390769" y="109982"/>
                  </a:lnTo>
                  <a:lnTo>
                    <a:pt x="5390769" y="1535557"/>
                  </a:lnTo>
                  <a:lnTo>
                    <a:pt x="5378069" y="1535557"/>
                  </a:lnTo>
                  <a:lnTo>
                    <a:pt x="5390769" y="1535557"/>
                  </a:lnTo>
                  <a:cubicBezTo>
                    <a:pt x="5390769" y="1596517"/>
                    <a:pt x="5340858" y="1645539"/>
                    <a:pt x="5279644" y="1645539"/>
                  </a:cubicBezTo>
                  <a:lnTo>
                    <a:pt x="5279644" y="1632839"/>
                  </a:lnTo>
                  <a:lnTo>
                    <a:pt x="5279644" y="1645539"/>
                  </a:lnTo>
                  <a:lnTo>
                    <a:pt x="111125" y="1645539"/>
                  </a:lnTo>
                  <a:lnTo>
                    <a:pt x="111125" y="1632839"/>
                  </a:lnTo>
                  <a:lnTo>
                    <a:pt x="111125" y="1645539"/>
                  </a:lnTo>
                  <a:cubicBezTo>
                    <a:pt x="49911" y="1645539"/>
                    <a:pt x="0" y="1596390"/>
                    <a:pt x="0" y="1535557"/>
                  </a:cubicBezTo>
                  <a:lnTo>
                    <a:pt x="0" y="109982"/>
                  </a:lnTo>
                  <a:lnTo>
                    <a:pt x="12700" y="109982"/>
                  </a:lnTo>
                  <a:lnTo>
                    <a:pt x="0" y="109982"/>
                  </a:lnTo>
                  <a:moveTo>
                    <a:pt x="25400" y="109982"/>
                  </a:moveTo>
                  <a:lnTo>
                    <a:pt x="25400" y="1535557"/>
                  </a:lnTo>
                  <a:lnTo>
                    <a:pt x="12700" y="1535557"/>
                  </a:lnTo>
                  <a:lnTo>
                    <a:pt x="25400" y="1535557"/>
                  </a:lnTo>
                  <a:cubicBezTo>
                    <a:pt x="25400" y="1582166"/>
                    <a:pt x="63627" y="1620139"/>
                    <a:pt x="111125" y="1620139"/>
                  </a:cubicBezTo>
                  <a:lnTo>
                    <a:pt x="5279644" y="1620139"/>
                  </a:lnTo>
                  <a:cubicBezTo>
                    <a:pt x="5327142" y="1620139"/>
                    <a:pt x="5365369" y="1582166"/>
                    <a:pt x="5365369" y="1535557"/>
                  </a:cubicBezTo>
                  <a:lnTo>
                    <a:pt x="5365369" y="109982"/>
                  </a:lnTo>
                  <a:cubicBezTo>
                    <a:pt x="5365369" y="63373"/>
                    <a:pt x="5327142" y="25400"/>
                    <a:pt x="5279644" y="25400"/>
                  </a:cubicBezTo>
                  <a:lnTo>
                    <a:pt x="111125" y="25400"/>
                  </a:lnTo>
                  <a:lnTo>
                    <a:pt x="111125" y="12700"/>
                  </a:lnTo>
                  <a:lnTo>
                    <a:pt x="111125" y="25400"/>
                  </a:lnTo>
                  <a:cubicBezTo>
                    <a:pt x="63627" y="25400"/>
                    <a:pt x="25400" y="63373"/>
                    <a:pt x="25400" y="109982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28865" y="8408784"/>
            <a:ext cx="2214267" cy="18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"/>
              </a:lnSpc>
            </a:pPr>
            <a:r>
              <a:rPr lang="en-US" b="true" sz="123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ANALYTICSCONTROLLER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865" y="8744245"/>
            <a:ext cx="3070820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Handles analytics dashboard requests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8865" y="9018384"/>
            <a:ext cx="3770809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Acts as the entry point for analytics operations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57032" y="8206378"/>
            <a:ext cx="4043210" cy="1234230"/>
            <a:chOff x="0" y="0"/>
            <a:chExt cx="5390947" cy="16456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5365623" cy="1620139"/>
            </a:xfrm>
            <a:custGeom>
              <a:avLst/>
              <a:gdLst/>
              <a:ahLst/>
              <a:cxnLst/>
              <a:rect r="r" b="b" t="t" l="l"/>
              <a:pathLst>
                <a:path h="1620139" w="5365623">
                  <a:moveTo>
                    <a:pt x="0" y="97282"/>
                  </a:moveTo>
                  <a:cubicBezTo>
                    <a:pt x="0" y="43561"/>
                    <a:pt x="44069" y="0"/>
                    <a:pt x="98425" y="0"/>
                  </a:cubicBezTo>
                  <a:lnTo>
                    <a:pt x="5267198" y="0"/>
                  </a:lnTo>
                  <a:cubicBezTo>
                    <a:pt x="5321554" y="0"/>
                    <a:pt x="5365623" y="43561"/>
                    <a:pt x="5365623" y="97282"/>
                  </a:cubicBezTo>
                  <a:lnTo>
                    <a:pt x="5365623" y="1522857"/>
                  </a:lnTo>
                  <a:cubicBezTo>
                    <a:pt x="5365623" y="1576578"/>
                    <a:pt x="5321554" y="1620139"/>
                    <a:pt x="5267198" y="1620139"/>
                  </a:cubicBezTo>
                  <a:lnTo>
                    <a:pt x="98425" y="1620139"/>
                  </a:lnTo>
                  <a:cubicBezTo>
                    <a:pt x="44069" y="1620139"/>
                    <a:pt x="0" y="1576578"/>
                    <a:pt x="0" y="152285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91023" cy="1645539"/>
            </a:xfrm>
            <a:custGeom>
              <a:avLst/>
              <a:gdLst/>
              <a:ahLst/>
              <a:cxnLst/>
              <a:rect r="r" b="b" t="t" l="l"/>
              <a:pathLst>
                <a:path h="1645539" w="5391023">
                  <a:moveTo>
                    <a:pt x="0" y="109982"/>
                  </a:moveTo>
                  <a:cubicBezTo>
                    <a:pt x="0" y="49149"/>
                    <a:pt x="49911" y="0"/>
                    <a:pt x="111125" y="0"/>
                  </a:cubicBezTo>
                  <a:lnTo>
                    <a:pt x="5279898" y="0"/>
                  </a:lnTo>
                  <a:lnTo>
                    <a:pt x="5279898" y="12700"/>
                  </a:lnTo>
                  <a:lnTo>
                    <a:pt x="5279898" y="0"/>
                  </a:lnTo>
                  <a:cubicBezTo>
                    <a:pt x="5341112" y="0"/>
                    <a:pt x="5391023" y="49149"/>
                    <a:pt x="5391023" y="109982"/>
                  </a:cubicBezTo>
                  <a:lnTo>
                    <a:pt x="5378323" y="109982"/>
                  </a:lnTo>
                  <a:lnTo>
                    <a:pt x="5391023" y="109982"/>
                  </a:lnTo>
                  <a:lnTo>
                    <a:pt x="5391023" y="1535557"/>
                  </a:lnTo>
                  <a:lnTo>
                    <a:pt x="5378323" y="1535557"/>
                  </a:lnTo>
                  <a:lnTo>
                    <a:pt x="5391023" y="1535557"/>
                  </a:lnTo>
                  <a:cubicBezTo>
                    <a:pt x="5391023" y="1596517"/>
                    <a:pt x="5341112" y="1645539"/>
                    <a:pt x="5279898" y="1645539"/>
                  </a:cubicBezTo>
                  <a:lnTo>
                    <a:pt x="5279898" y="1632839"/>
                  </a:lnTo>
                  <a:lnTo>
                    <a:pt x="5279898" y="1645539"/>
                  </a:lnTo>
                  <a:lnTo>
                    <a:pt x="111125" y="1645539"/>
                  </a:lnTo>
                  <a:lnTo>
                    <a:pt x="111125" y="1632839"/>
                  </a:lnTo>
                  <a:lnTo>
                    <a:pt x="111125" y="1645539"/>
                  </a:lnTo>
                  <a:cubicBezTo>
                    <a:pt x="49911" y="1645539"/>
                    <a:pt x="0" y="1596390"/>
                    <a:pt x="0" y="1535557"/>
                  </a:cubicBezTo>
                  <a:lnTo>
                    <a:pt x="0" y="109982"/>
                  </a:lnTo>
                  <a:lnTo>
                    <a:pt x="12700" y="109982"/>
                  </a:lnTo>
                  <a:lnTo>
                    <a:pt x="0" y="109982"/>
                  </a:lnTo>
                  <a:moveTo>
                    <a:pt x="25400" y="109982"/>
                  </a:moveTo>
                  <a:lnTo>
                    <a:pt x="25400" y="1535557"/>
                  </a:lnTo>
                  <a:lnTo>
                    <a:pt x="12700" y="1535557"/>
                  </a:lnTo>
                  <a:lnTo>
                    <a:pt x="25400" y="1535557"/>
                  </a:lnTo>
                  <a:cubicBezTo>
                    <a:pt x="25400" y="1582166"/>
                    <a:pt x="63627" y="1620139"/>
                    <a:pt x="111125" y="1620139"/>
                  </a:cubicBezTo>
                  <a:lnTo>
                    <a:pt x="5279898" y="1620139"/>
                  </a:lnTo>
                  <a:cubicBezTo>
                    <a:pt x="5327396" y="1620139"/>
                    <a:pt x="5365623" y="1582166"/>
                    <a:pt x="5365623" y="1535557"/>
                  </a:cubicBezTo>
                  <a:lnTo>
                    <a:pt x="5365623" y="109982"/>
                  </a:lnTo>
                  <a:cubicBezTo>
                    <a:pt x="5365623" y="63373"/>
                    <a:pt x="5327396" y="25400"/>
                    <a:pt x="5279898" y="25400"/>
                  </a:cubicBezTo>
                  <a:lnTo>
                    <a:pt x="111125" y="25400"/>
                  </a:lnTo>
                  <a:lnTo>
                    <a:pt x="111125" y="12700"/>
                  </a:lnTo>
                  <a:lnTo>
                    <a:pt x="111125" y="25400"/>
                  </a:lnTo>
                  <a:cubicBezTo>
                    <a:pt x="63627" y="25400"/>
                    <a:pt x="25400" y="63373"/>
                    <a:pt x="25400" y="109982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259438" y="8399259"/>
            <a:ext cx="2172891" cy="22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b="true" sz="148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⚙️ ANALYTICSSERVICE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59438" y="8744245"/>
            <a:ext cx="3388816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Processes and analyzes energy usage 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59438" y="9018384"/>
            <a:ext cx="3264991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Calculates totals, trends, and summaries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87758" y="8206378"/>
            <a:ext cx="4043067" cy="1234230"/>
            <a:chOff x="0" y="0"/>
            <a:chExt cx="5390756" cy="16456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2700" y="12700"/>
              <a:ext cx="5365369" cy="1620139"/>
            </a:xfrm>
            <a:custGeom>
              <a:avLst/>
              <a:gdLst/>
              <a:ahLst/>
              <a:cxnLst/>
              <a:rect r="r" b="b" t="t" l="l"/>
              <a:pathLst>
                <a:path h="1620139" w="5365369">
                  <a:moveTo>
                    <a:pt x="0" y="97282"/>
                  </a:moveTo>
                  <a:cubicBezTo>
                    <a:pt x="0" y="43561"/>
                    <a:pt x="44069" y="0"/>
                    <a:pt x="98425" y="0"/>
                  </a:cubicBezTo>
                  <a:lnTo>
                    <a:pt x="5266944" y="0"/>
                  </a:lnTo>
                  <a:cubicBezTo>
                    <a:pt x="5321300" y="0"/>
                    <a:pt x="5365369" y="43561"/>
                    <a:pt x="5365369" y="97282"/>
                  </a:cubicBezTo>
                  <a:lnTo>
                    <a:pt x="5365369" y="1522857"/>
                  </a:lnTo>
                  <a:cubicBezTo>
                    <a:pt x="5365369" y="1576578"/>
                    <a:pt x="5321300" y="1620139"/>
                    <a:pt x="5266944" y="1620139"/>
                  </a:cubicBezTo>
                  <a:lnTo>
                    <a:pt x="98425" y="1620139"/>
                  </a:lnTo>
                  <a:cubicBezTo>
                    <a:pt x="44069" y="1620139"/>
                    <a:pt x="0" y="1576578"/>
                    <a:pt x="0" y="152285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90769" cy="1645539"/>
            </a:xfrm>
            <a:custGeom>
              <a:avLst/>
              <a:gdLst/>
              <a:ahLst/>
              <a:cxnLst/>
              <a:rect r="r" b="b" t="t" l="l"/>
              <a:pathLst>
                <a:path h="1645539" w="5390769">
                  <a:moveTo>
                    <a:pt x="0" y="109982"/>
                  </a:moveTo>
                  <a:cubicBezTo>
                    <a:pt x="0" y="49149"/>
                    <a:pt x="49911" y="0"/>
                    <a:pt x="111125" y="0"/>
                  </a:cubicBezTo>
                  <a:lnTo>
                    <a:pt x="5279644" y="0"/>
                  </a:lnTo>
                  <a:lnTo>
                    <a:pt x="5279644" y="12700"/>
                  </a:lnTo>
                  <a:lnTo>
                    <a:pt x="5279644" y="0"/>
                  </a:lnTo>
                  <a:cubicBezTo>
                    <a:pt x="5340858" y="0"/>
                    <a:pt x="5390769" y="49149"/>
                    <a:pt x="5390769" y="109982"/>
                  </a:cubicBezTo>
                  <a:lnTo>
                    <a:pt x="5378069" y="109982"/>
                  </a:lnTo>
                  <a:lnTo>
                    <a:pt x="5390769" y="109982"/>
                  </a:lnTo>
                  <a:lnTo>
                    <a:pt x="5390769" y="1535557"/>
                  </a:lnTo>
                  <a:lnTo>
                    <a:pt x="5378069" y="1535557"/>
                  </a:lnTo>
                  <a:lnTo>
                    <a:pt x="5390769" y="1535557"/>
                  </a:lnTo>
                  <a:cubicBezTo>
                    <a:pt x="5390769" y="1596517"/>
                    <a:pt x="5340858" y="1645539"/>
                    <a:pt x="5279644" y="1645539"/>
                  </a:cubicBezTo>
                  <a:lnTo>
                    <a:pt x="5279644" y="1632839"/>
                  </a:lnTo>
                  <a:lnTo>
                    <a:pt x="5279644" y="1645539"/>
                  </a:lnTo>
                  <a:lnTo>
                    <a:pt x="111125" y="1645539"/>
                  </a:lnTo>
                  <a:lnTo>
                    <a:pt x="111125" y="1632839"/>
                  </a:lnTo>
                  <a:lnTo>
                    <a:pt x="111125" y="1645539"/>
                  </a:lnTo>
                  <a:cubicBezTo>
                    <a:pt x="49911" y="1645539"/>
                    <a:pt x="0" y="1596390"/>
                    <a:pt x="0" y="1535557"/>
                  </a:cubicBezTo>
                  <a:lnTo>
                    <a:pt x="0" y="109982"/>
                  </a:lnTo>
                  <a:lnTo>
                    <a:pt x="12700" y="109982"/>
                  </a:lnTo>
                  <a:lnTo>
                    <a:pt x="0" y="109982"/>
                  </a:lnTo>
                  <a:moveTo>
                    <a:pt x="25400" y="109982"/>
                  </a:moveTo>
                  <a:lnTo>
                    <a:pt x="25400" y="1535557"/>
                  </a:lnTo>
                  <a:lnTo>
                    <a:pt x="12700" y="1535557"/>
                  </a:lnTo>
                  <a:lnTo>
                    <a:pt x="25400" y="1535557"/>
                  </a:lnTo>
                  <a:cubicBezTo>
                    <a:pt x="25400" y="1582166"/>
                    <a:pt x="63627" y="1620139"/>
                    <a:pt x="111125" y="1620139"/>
                  </a:cubicBezTo>
                  <a:lnTo>
                    <a:pt x="5279644" y="1620139"/>
                  </a:lnTo>
                  <a:cubicBezTo>
                    <a:pt x="5327142" y="1620139"/>
                    <a:pt x="5365369" y="1582166"/>
                    <a:pt x="5365369" y="1535557"/>
                  </a:cubicBezTo>
                  <a:lnTo>
                    <a:pt x="5365369" y="109982"/>
                  </a:lnTo>
                  <a:cubicBezTo>
                    <a:pt x="5365369" y="63373"/>
                    <a:pt x="5327142" y="25400"/>
                    <a:pt x="5279644" y="25400"/>
                  </a:cubicBezTo>
                  <a:lnTo>
                    <a:pt x="111125" y="25400"/>
                  </a:lnTo>
                  <a:lnTo>
                    <a:pt x="111125" y="12700"/>
                  </a:lnTo>
                  <a:lnTo>
                    <a:pt x="111125" y="25400"/>
                  </a:lnTo>
                  <a:cubicBezTo>
                    <a:pt x="63627" y="25400"/>
                    <a:pt x="25400" y="63373"/>
                    <a:pt x="25400" y="109982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390164" y="8399259"/>
            <a:ext cx="2316366" cy="20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0"/>
              </a:lnSpc>
            </a:pPr>
            <a:r>
              <a:rPr lang="en-US" b="true" sz="134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🗄️ ANALYTICSREPOSITORY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90164" y="8744245"/>
            <a:ext cx="3777357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Retrieves energy usage data from the database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90164" y="9018384"/>
            <a:ext cx="3298031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filtered and aggregated queries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318331" y="8206378"/>
            <a:ext cx="4043210" cy="1234230"/>
            <a:chOff x="0" y="0"/>
            <a:chExt cx="5390947" cy="16456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2700" y="12700"/>
              <a:ext cx="5365623" cy="1620139"/>
            </a:xfrm>
            <a:custGeom>
              <a:avLst/>
              <a:gdLst/>
              <a:ahLst/>
              <a:cxnLst/>
              <a:rect r="r" b="b" t="t" l="l"/>
              <a:pathLst>
                <a:path h="1620139" w="5365623">
                  <a:moveTo>
                    <a:pt x="0" y="97282"/>
                  </a:moveTo>
                  <a:cubicBezTo>
                    <a:pt x="0" y="43561"/>
                    <a:pt x="44069" y="0"/>
                    <a:pt x="98425" y="0"/>
                  </a:cubicBezTo>
                  <a:lnTo>
                    <a:pt x="5267198" y="0"/>
                  </a:lnTo>
                  <a:cubicBezTo>
                    <a:pt x="5321554" y="0"/>
                    <a:pt x="5365623" y="43561"/>
                    <a:pt x="5365623" y="97282"/>
                  </a:cubicBezTo>
                  <a:lnTo>
                    <a:pt x="5365623" y="1522857"/>
                  </a:lnTo>
                  <a:cubicBezTo>
                    <a:pt x="5365623" y="1576578"/>
                    <a:pt x="5321554" y="1620139"/>
                    <a:pt x="5267198" y="1620139"/>
                  </a:cubicBezTo>
                  <a:lnTo>
                    <a:pt x="98425" y="1620139"/>
                  </a:lnTo>
                  <a:cubicBezTo>
                    <a:pt x="44069" y="1620139"/>
                    <a:pt x="0" y="1576578"/>
                    <a:pt x="0" y="1522857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91023" cy="1645539"/>
            </a:xfrm>
            <a:custGeom>
              <a:avLst/>
              <a:gdLst/>
              <a:ahLst/>
              <a:cxnLst/>
              <a:rect r="r" b="b" t="t" l="l"/>
              <a:pathLst>
                <a:path h="1645539" w="5391023">
                  <a:moveTo>
                    <a:pt x="0" y="109982"/>
                  </a:moveTo>
                  <a:cubicBezTo>
                    <a:pt x="0" y="49149"/>
                    <a:pt x="49911" y="0"/>
                    <a:pt x="111125" y="0"/>
                  </a:cubicBezTo>
                  <a:lnTo>
                    <a:pt x="5279898" y="0"/>
                  </a:lnTo>
                  <a:lnTo>
                    <a:pt x="5279898" y="12700"/>
                  </a:lnTo>
                  <a:lnTo>
                    <a:pt x="5279898" y="0"/>
                  </a:lnTo>
                  <a:cubicBezTo>
                    <a:pt x="5341112" y="0"/>
                    <a:pt x="5391023" y="49149"/>
                    <a:pt x="5391023" y="109982"/>
                  </a:cubicBezTo>
                  <a:lnTo>
                    <a:pt x="5378323" y="109982"/>
                  </a:lnTo>
                  <a:lnTo>
                    <a:pt x="5391023" y="109982"/>
                  </a:lnTo>
                  <a:lnTo>
                    <a:pt x="5391023" y="1535557"/>
                  </a:lnTo>
                  <a:lnTo>
                    <a:pt x="5378323" y="1535557"/>
                  </a:lnTo>
                  <a:lnTo>
                    <a:pt x="5391023" y="1535557"/>
                  </a:lnTo>
                  <a:cubicBezTo>
                    <a:pt x="5391023" y="1596517"/>
                    <a:pt x="5341112" y="1645539"/>
                    <a:pt x="5279898" y="1645539"/>
                  </a:cubicBezTo>
                  <a:lnTo>
                    <a:pt x="5279898" y="1632839"/>
                  </a:lnTo>
                  <a:lnTo>
                    <a:pt x="5279898" y="1645539"/>
                  </a:lnTo>
                  <a:lnTo>
                    <a:pt x="111125" y="1645539"/>
                  </a:lnTo>
                  <a:lnTo>
                    <a:pt x="111125" y="1632839"/>
                  </a:lnTo>
                  <a:lnTo>
                    <a:pt x="111125" y="1645539"/>
                  </a:lnTo>
                  <a:cubicBezTo>
                    <a:pt x="49911" y="1645539"/>
                    <a:pt x="0" y="1596390"/>
                    <a:pt x="0" y="1535557"/>
                  </a:cubicBezTo>
                  <a:lnTo>
                    <a:pt x="0" y="109982"/>
                  </a:lnTo>
                  <a:lnTo>
                    <a:pt x="12700" y="109982"/>
                  </a:lnTo>
                  <a:lnTo>
                    <a:pt x="0" y="109982"/>
                  </a:lnTo>
                  <a:moveTo>
                    <a:pt x="25400" y="109982"/>
                  </a:moveTo>
                  <a:lnTo>
                    <a:pt x="25400" y="1535557"/>
                  </a:lnTo>
                  <a:lnTo>
                    <a:pt x="12700" y="1535557"/>
                  </a:lnTo>
                  <a:lnTo>
                    <a:pt x="25400" y="1535557"/>
                  </a:lnTo>
                  <a:cubicBezTo>
                    <a:pt x="25400" y="1582166"/>
                    <a:pt x="63627" y="1620139"/>
                    <a:pt x="111125" y="1620139"/>
                  </a:cubicBezTo>
                  <a:lnTo>
                    <a:pt x="5279898" y="1620139"/>
                  </a:lnTo>
                  <a:cubicBezTo>
                    <a:pt x="5327396" y="1620139"/>
                    <a:pt x="5365623" y="1582166"/>
                    <a:pt x="5365623" y="1535557"/>
                  </a:cubicBezTo>
                  <a:lnTo>
                    <a:pt x="5365623" y="109982"/>
                  </a:lnTo>
                  <a:cubicBezTo>
                    <a:pt x="5365623" y="63373"/>
                    <a:pt x="5327396" y="25400"/>
                    <a:pt x="5279898" y="25400"/>
                  </a:cubicBezTo>
                  <a:lnTo>
                    <a:pt x="111125" y="25400"/>
                  </a:lnTo>
                  <a:lnTo>
                    <a:pt x="111125" y="12700"/>
                  </a:lnTo>
                  <a:lnTo>
                    <a:pt x="111125" y="25400"/>
                  </a:lnTo>
                  <a:cubicBezTo>
                    <a:pt x="63627" y="25400"/>
                    <a:pt x="25400" y="63373"/>
                    <a:pt x="25400" y="109982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520738" y="8399259"/>
            <a:ext cx="2172891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b="true" sz="15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CHARTGENERATOR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20738" y="8744245"/>
            <a:ext cx="3375224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Converts analytical data into visual charts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20738" y="9018384"/>
            <a:ext cx="3816152" cy="20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graphs for better data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7828" y="1074239"/>
            <a:ext cx="4393406" cy="2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25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WHY ANALYTICS DASHBOARD IS NEEDED?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7828" y="1496911"/>
            <a:ext cx="16772334" cy="1011736"/>
            <a:chOff x="0" y="0"/>
            <a:chExt cx="22363112" cy="13489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63176" cy="1348994"/>
            </a:xfrm>
            <a:custGeom>
              <a:avLst/>
              <a:gdLst/>
              <a:ahLst/>
              <a:cxnLst/>
              <a:rect r="r" b="b" t="t" l="l"/>
              <a:pathLst>
                <a:path h="1348994" w="22363176">
                  <a:moveTo>
                    <a:pt x="0" y="78867"/>
                  </a:moveTo>
                  <a:cubicBezTo>
                    <a:pt x="0" y="35306"/>
                    <a:pt x="35306" y="0"/>
                    <a:pt x="78867" y="0"/>
                  </a:cubicBezTo>
                  <a:lnTo>
                    <a:pt x="22284310" y="0"/>
                  </a:lnTo>
                  <a:cubicBezTo>
                    <a:pt x="22327871" y="0"/>
                    <a:pt x="22363176" y="35306"/>
                    <a:pt x="22363176" y="78867"/>
                  </a:cubicBezTo>
                  <a:lnTo>
                    <a:pt x="22363176" y="1270127"/>
                  </a:lnTo>
                  <a:cubicBezTo>
                    <a:pt x="22363176" y="1313688"/>
                    <a:pt x="22327871" y="1348994"/>
                    <a:pt x="22284310" y="1348994"/>
                  </a:cubicBezTo>
                  <a:lnTo>
                    <a:pt x="78867" y="1348994"/>
                  </a:lnTo>
                  <a:cubicBezTo>
                    <a:pt x="35306" y="1348994"/>
                    <a:pt x="0" y="1313688"/>
                    <a:pt x="0" y="1270127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98474" y="1619250"/>
            <a:ext cx="219818" cy="175917"/>
            <a:chOff x="0" y="0"/>
            <a:chExt cx="293091" cy="234556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93116" cy="234569"/>
            </a:xfrm>
            <a:custGeom>
              <a:avLst/>
              <a:gdLst/>
              <a:ahLst/>
              <a:cxnLst/>
              <a:rect r="r" b="b" t="t" l="l"/>
              <a:pathLst>
                <a:path h="234569" w="293116">
                  <a:moveTo>
                    <a:pt x="0" y="0"/>
                  </a:moveTo>
                  <a:lnTo>
                    <a:pt x="293116" y="0"/>
                  </a:lnTo>
                  <a:lnTo>
                    <a:pt x="293116" y="234569"/>
                  </a:lnTo>
                  <a:lnTo>
                    <a:pt x="0" y="23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26" t="0" r="-1122" b="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58938" y="1601838"/>
            <a:ext cx="229999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 Without Analytics: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938" y="1910505"/>
            <a:ext cx="16130588" cy="42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Raw energy data is difficult to interpret.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visibility into high-consumption rooms or blocks.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Decision-making is manual and inaccurate.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7828" y="2538651"/>
            <a:ext cx="16772334" cy="1011736"/>
            <a:chOff x="0" y="0"/>
            <a:chExt cx="22363112" cy="13489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63176" cy="1348994"/>
            </a:xfrm>
            <a:custGeom>
              <a:avLst/>
              <a:gdLst/>
              <a:ahLst/>
              <a:cxnLst/>
              <a:rect r="r" b="b" t="t" l="l"/>
              <a:pathLst>
                <a:path h="1348994" w="22363176">
                  <a:moveTo>
                    <a:pt x="0" y="78867"/>
                  </a:moveTo>
                  <a:cubicBezTo>
                    <a:pt x="0" y="35306"/>
                    <a:pt x="35306" y="0"/>
                    <a:pt x="78867" y="0"/>
                  </a:cubicBezTo>
                  <a:lnTo>
                    <a:pt x="22284310" y="0"/>
                  </a:lnTo>
                  <a:cubicBezTo>
                    <a:pt x="22327871" y="0"/>
                    <a:pt x="22363176" y="35306"/>
                    <a:pt x="22363176" y="78867"/>
                  </a:cubicBezTo>
                  <a:lnTo>
                    <a:pt x="22363176" y="1270127"/>
                  </a:lnTo>
                  <a:cubicBezTo>
                    <a:pt x="22363176" y="1313688"/>
                    <a:pt x="22327871" y="1348994"/>
                    <a:pt x="22284310" y="1348994"/>
                  </a:cubicBezTo>
                  <a:lnTo>
                    <a:pt x="78867" y="1348994"/>
                  </a:lnTo>
                  <a:cubicBezTo>
                    <a:pt x="35306" y="1348994"/>
                    <a:pt x="0" y="1313688"/>
                    <a:pt x="0" y="1270127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8474" y="2660990"/>
            <a:ext cx="219818" cy="175917"/>
            <a:chOff x="0" y="0"/>
            <a:chExt cx="293091" cy="23455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93116" cy="234569"/>
            </a:xfrm>
            <a:custGeom>
              <a:avLst/>
              <a:gdLst/>
              <a:ahLst/>
              <a:cxnLst/>
              <a:rect r="r" b="b" t="t" l="l"/>
              <a:pathLst>
                <a:path h="234569" w="293116">
                  <a:moveTo>
                    <a:pt x="0" y="0"/>
                  </a:moveTo>
                  <a:lnTo>
                    <a:pt x="293116" y="0"/>
                  </a:lnTo>
                  <a:lnTo>
                    <a:pt x="293116" y="234569"/>
                  </a:lnTo>
                  <a:lnTo>
                    <a:pt x="0" y="23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26" t="0" r="-1122" b="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8938" y="2643578"/>
            <a:ext cx="2946995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Solution with Analytics Dashboard: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938" y="2952245"/>
            <a:ext cx="16130588" cy="42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Converts usage data into visual insights.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Helps identify wastage patterns.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Enables data-driven energy management.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7828" y="3587544"/>
            <a:ext cx="3619004" cy="2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25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INPUT TO ANALYTICS DASHBOARD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828" y="3975240"/>
            <a:ext cx="16772334" cy="2076002"/>
            <a:chOff x="0" y="0"/>
            <a:chExt cx="22363112" cy="27680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63176" cy="2768092"/>
            </a:xfrm>
            <a:custGeom>
              <a:avLst/>
              <a:gdLst/>
              <a:ahLst/>
              <a:cxnLst/>
              <a:rect r="r" b="b" t="t" l="l"/>
              <a:pathLst>
                <a:path h="2768092" w="22363176">
                  <a:moveTo>
                    <a:pt x="0" y="78867"/>
                  </a:moveTo>
                  <a:cubicBezTo>
                    <a:pt x="0" y="35306"/>
                    <a:pt x="35306" y="0"/>
                    <a:pt x="78867" y="0"/>
                  </a:cubicBezTo>
                  <a:lnTo>
                    <a:pt x="22284310" y="0"/>
                  </a:lnTo>
                  <a:cubicBezTo>
                    <a:pt x="22327871" y="0"/>
                    <a:pt x="22363176" y="35306"/>
                    <a:pt x="22363176" y="78867"/>
                  </a:cubicBezTo>
                  <a:lnTo>
                    <a:pt x="22363176" y="2689225"/>
                  </a:lnTo>
                  <a:cubicBezTo>
                    <a:pt x="22363176" y="2732786"/>
                    <a:pt x="22327871" y="2768092"/>
                    <a:pt x="22284310" y="2768092"/>
                  </a:cubicBezTo>
                  <a:lnTo>
                    <a:pt x="78867" y="2768092"/>
                  </a:lnTo>
                  <a:cubicBezTo>
                    <a:pt x="35306" y="2768092"/>
                    <a:pt x="0" y="2732786"/>
                    <a:pt x="0" y="2689225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8474" y="4097569"/>
            <a:ext cx="219818" cy="175917"/>
            <a:chOff x="0" y="0"/>
            <a:chExt cx="293091" cy="234556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93116" cy="234569"/>
            </a:xfrm>
            <a:custGeom>
              <a:avLst/>
              <a:gdLst/>
              <a:ahLst/>
              <a:cxnLst/>
              <a:rect r="r" b="b" t="t" l="l"/>
              <a:pathLst>
                <a:path h="234569" w="293116">
                  <a:moveTo>
                    <a:pt x="0" y="0"/>
                  </a:moveTo>
                  <a:lnTo>
                    <a:pt x="293116" y="0"/>
                  </a:lnTo>
                  <a:lnTo>
                    <a:pt x="293116" y="234569"/>
                  </a:lnTo>
                  <a:lnTo>
                    <a:pt x="0" y="23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26" t="0" r="-1122" b="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58938" y="4080158"/>
            <a:ext cx="1165523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Sources: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8938" y="4388834"/>
            <a:ext cx="16130588" cy="42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Energy usage data from Module 3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Device details from Module 2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 roles from Module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8938" y="4913538"/>
            <a:ext cx="953294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 Type: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8938" y="5222215"/>
            <a:ext cx="16130588" cy="5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Device ID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Timestamp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Power consumption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Usage duration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7828" y="6015495"/>
            <a:ext cx="3842048" cy="2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25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OUTPUT OF ANALYTICS DASHBOARD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57828" y="6403191"/>
            <a:ext cx="16772334" cy="1194044"/>
            <a:chOff x="0" y="0"/>
            <a:chExt cx="22363112" cy="15920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363176" cy="1592072"/>
            </a:xfrm>
            <a:custGeom>
              <a:avLst/>
              <a:gdLst/>
              <a:ahLst/>
              <a:cxnLst/>
              <a:rect r="r" b="b" t="t" l="l"/>
              <a:pathLst>
                <a:path h="1592072" w="22363176">
                  <a:moveTo>
                    <a:pt x="0" y="78867"/>
                  </a:moveTo>
                  <a:cubicBezTo>
                    <a:pt x="0" y="35306"/>
                    <a:pt x="35306" y="0"/>
                    <a:pt x="78867" y="0"/>
                  </a:cubicBezTo>
                  <a:lnTo>
                    <a:pt x="22284310" y="0"/>
                  </a:lnTo>
                  <a:cubicBezTo>
                    <a:pt x="22327871" y="0"/>
                    <a:pt x="22363176" y="35306"/>
                    <a:pt x="22363176" y="78867"/>
                  </a:cubicBezTo>
                  <a:lnTo>
                    <a:pt x="22363176" y="1513205"/>
                  </a:lnTo>
                  <a:cubicBezTo>
                    <a:pt x="22363176" y="1556766"/>
                    <a:pt x="22327871" y="1592072"/>
                    <a:pt x="22284310" y="1592072"/>
                  </a:cubicBezTo>
                  <a:lnTo>
                    <a:pt x="78867" y="1592072"/>
                  </a:lnTo>
                  <a:cubicBezTo>
                    <a:pt x="35306" y="1592072"/>
                    <a:pt x="0" y="1556766"/>
                    <a:pt x="0" y="1513205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8474" y="6525520"/>
            <a:ext cx="219818" cy="175917"/>
            <a:chOff x="0" y="0"/>
            <a:chExt cx="293091" cy="234556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293116" cy="234569"/>
            </a:xfrm>
            <a:custGeom>
              <a:avLst/>
              <a:gdLst/>
              <a:ahLst/>
              <a:cxnLst/>
              <a:rect r="r" b="b" t="t" l="l"/>
              <a:pathLst>
                <a:path h="234569" w="293116">
                  <a:moveTo>
                    <a:pt x="0" y="0"/>
                  </a:moveTo>
                  <a:lnTo>
                    <a:pt x="293116" y="0"/>
                  </a:lnTo>
                  <a:lnTo>
                    <a:pt x="293116" y="234569"/>
                  </a:lnTo>
                  <a:lnTo>
                    <a:pt x="0" y="23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26" t="0" r="-1122" b="5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58938" y="6508109"/>
            <a:ext cx="1728490" cy="20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Dashboard Displays: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8938" y="6816785"/>
            <a:ext cx="16130588" cy="5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energy consumed (kWh)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Daily energy usage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Monthly consumption trend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Active vs inactive devices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7828" y="7610065"/>
            <a:ext cx="1622425" cy="2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b="true" sz="1625">
                <a:solidFill>
                  <a:srgbClr val="263744"/>
                </a:solidFill>
                <a:latin typeface="Inter Bold"/>
                <a:ea typeface="Inter Bold"/>
                <a:cs typeface="Inter Bold"/>
                <a:sym typeface="Inter Bold"/>
              </a:rPr>
              <a:t>MAIN CLASSES: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57828" y="7997762"/>
            <a:ext cx="16772334" cy="904427"/>
            <a:chOff x="0" y="0"/>
            <a:chExt cx="22363112" cy="12059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63176" cy="1205992"/>
            </a:xfrm>
            <a:custGeom>
              <a:avLst/>
              <a:gdLst/>
              <a:ahLst/>
              <a:cxnLst/>
              <a:rect r="r" b="b" t="t" l="l"/>
              <a:pathLst>
                <a:path h="1205992" w="22363176">
                  <a:moveTo>
                    <a:pt x="0" y="78867"/>
                  </a:moveTo>
                  <a:cubicBezTo>
                    <a:pt x="0" y="35306"/>
                    <a:pt x="35306" y="0"/>
                    <a:pt x="78867" y="0"/>
                  </a:cubicBezTo>
                  <a:lnTo>
                    <a:pt x="22284310" y="0"/>
                  </a:lnTo>
                  <a:cubicBezTo>
                    <a:pt x="22327871" y="0"/>
                    <a:pt x="22363176" y="35306"/>
                    <a:pt x="22363176" y="78867"/>
                  </a:cubicBezTo>
                  <a:lnTo>
                    <a:pt x="22363176" y="1127125"/>
                  </a:lnTo>
                  <a:cubicBezTo>
                    <a:pt x="22363176" y="1170686"/>
                    <a:pt x="22327871" y="1205992"/>
                    <a:pt x="22284310" y="1205992"/>
                  </a:cubicBezTo>
                  <a:lnTo>
                    <a:pt x="78867" y="1205992"/>
                  </a:lnTo>
                  <a:cubicBezTo>
                    <a:pt x="35306" y="1205865"/>
                    <a:pt x="0" y="1170559"/>
                    <a:pt x="0" y="1127125"/>
                  </a:cubicBezTo>
                  <a:close/>
                </a:path>
              </a:pathLst>
            </a:custGeom>
            <a:solidFill>
              <a:srgbClr val="26374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8474" y="8174269"/>
            <a:ext cx="175917" cy="140646"/>
            <a:chOff x="0" y="0"/>
            <a:chExt cx="234556" cy="18752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234569" cy="187579"/>
            </a:xfrm>
            <a:custGeom>
              <a:avLst/>
              <a:gdLst/>
              <a:ahLst/>
              <a:cxnLst/>
              <a:rect r="r" b="b" t="t" l="l"/>
              <a:pathLst>
                <a:path h="187579" w="234569">
                  <a:moveTo>
                    <a:pt x="0" y="0"/>
                  </a:moveTo>
                  <a:lnTo>
                    <a:pt x="234569" y="0"/>
                  </a:lnTo>
                  <a:lnTo>
                    <a:pt x="234569" y="187579"/>
                  </a:lnTo>
                  <a:lnTo>
                    <a:pt x="0" y="187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19" r="5" b="-2085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15028" y="8121729"/>
            <a:ext cx="16174488" cy="5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AnalyticsController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AnalyticsService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AnalyticsRepository</a:t>
            </a:r>
          </a:p>
          <a:p>
            <a:pPr algn="l" marL="160239" indent="-80119" lvl="1">
              <a:lnSpc>
                <a:spcPts val="1187"/>
              </a:lnSpc>
              <a:buFont typeface="Arial"/>
              <a:buChar char="•"/>
            </a:pPr>
            <a:r>
              <a:rPr lang="en-US" sz="1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ChartGenerator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3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6489A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49614" y="4671860"/>
            <a:ext cx="4188619" cy="871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b="true" sz="5562">
                <a:solidFill>
                  <a:srgbClr val="26374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DAHAoN9YrDs</dc:identifier>
  <dcterms:modified xsi:type="dcterms:W3CDTF">2011-08-01T06:04:30Z</dcterms:modified>
  <cp:revision>1</cp:revision>
  <dc:title>Milestone-4pptx.pptx</dc:title>
</cp:coreProperties>
</file>