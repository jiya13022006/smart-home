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Arial MT Pro Bold" charset="1" panose="020B0802020202020204"/>
      <p:regular r:id="rId21"/>
    </p:embeddedFont>
    <p:embeddedFont>
      <p:font typeface="Arial MT Pro" charset="1" panose="020B0502020202020204"/>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notesMasters/notesMaster1.xml" Type="http://schemas.openxmlformats.org/officeDocument/2006/relationships/notesMaster"/><Relationship Id="rId19" Target="theme/theme2.xml" Type="http://schemas.openxmlformats.org/officeDocument/2006/relationships/theme"/><Relationship Id="rId2" Target="presProps.xml" Type="http://schemas.openxmlformats.org/officeDocument/2006/relationships/presProps"/><Relationship Id="rId20" Target="notesSlides/notesSlide1.xml" Type="http://schemas.openxmlformats.org/officeDocument/2006/relationships/notesSlide"/><Relationship Id="rId21" Target="fonts/font21.fntdata" Type="http://schemas.openxmlformats.org/officeDocument/2006/relationships/font"/><Relationship Id="rId22" Target="fonts/font22.fntdata" Type="http://schemas.openxmlformats.org/officeDocument/2006/relationships/font"/><Relationship Id="rId23" Target="notesSlides/notesSlide2.xml" Type="http://schemas.openxmlformats.org/officeDocument/2006/relationships/notesSlide"/><Relationship Id="rId24" Target="notesSlides/notesSlide3.xml" Type="http://schemas.openxmlformats.org/officeDocument/2006/relationships/notesSlide"/><Relationship Id="rId25" Target="notesSlides/notesSlide4.xml" Type="http://schemas.openxmlformats.org/officeDocument/2006/relationships/notesSlide"/><Relationship Id="rId26" Target="notesSlides/notesSlide5.xml" Type="http://schemas.openxmlformats.org/officeDocument/2006/relationships/notesSlide"/><Relationship Id="rId27" Target="notesSlides/notesSlide6.xml" Type="http://schemas.openxmlformats.org/officeDocument/2006/relationships/notesSlide"/><Relationship Id="rId28" Target="notesSlides/notesSlide7.xml" Type="http://schemas.openxmlformats.org/officeDocument/2006/relationships/notesSlide"/><Relationship Id="rId29" Target="notesSlides/notesSlide8.xml" Type="http://schemas.openxmlformats.org/officeDocument/2006/relationships/notesSlide"/><Relationship Id="rId3" Target="viewProps.xml" Type="http://schemas.openxmlformats.org/officeDocument/2006/relationships/viewProps"/><Relationship Id="rId30" Target="notesSlides/notesSlide9.xml" Type="http://schemas.openxmlformats.org/officeDocument/2006/relationships/notesSlide"/><Relationship Id="rId31" Target="notesSlides/notesSlide10.xml" Type="http://schemas.openxmlformats.org/officeDocument/2006/relationships/notesSlide"/><Relationship Id="rId32" Target="notesSlides/notesSlide11.xml" Type="http://schemas.openxmlformats.org/officeDocument/2006/relationships/notesSlide"/><Relationship Id="rId33" Target="notesSlides/notesSlide12.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png" Type="http://schemas.openxmlformats.org/officeDocument/2006/relationships/image"/><Relationship Id="rId2" Target="../notesSlides/notesSlide5.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 Id="rId6" Target="../media/image12.png" Type="http://schemas.openxmlformats.org/officeDocument/2006/relationships/image"/><Relationship Id="rId7"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png" Type="http://schemas.openxmlformats.org/officeDocument/2006/relationships/image"/><Relationship Id="rId4" Target="../media/image1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png" Type="http://schemas.openxmlformats.org/officeDocument/2006/relationships/image"/><Relationship Id="rId4"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png" Type="http://schemas.openxmlformats.org/officeDocument/2006/relationships/image"/><Relationship Id="rId4" Target="../media/image1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png" Type="http://schemas.openxmlformats.org/officeDocument/2006/relationships/image"/><Relationship Id="rId4" Target="../media/image1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41519">
                <a:alpha val="90196"/>
              </a:srgbClr>
            </a:solidFill>
          </p:spPr>
        </p:sp>
      </p:grpSp>
      <p:grpSp>
        <p:nvGrpSpPr>
          <p:cNvPr name="Group 6" id="6"/>
          <p:cNvGrpSpPr/>
          <p:nvPr/>
        </p:nvGrpSpPr>
        <p:grpSpPr>
          <a:xfrm rot="0">
            <a:off x="0" y="0"/>
            <a:ext cx="18288000" cy="3544043"/>
            <a:chOff x="0" y="0"/>
            <a:chExt cx="24384000" cy="4725391"/>
          </a:xfrm>
        </p:grpSpPr>
        <p:sp>
          <p:nvSpPr>
            <p:cNvPr name="Freeform 7" id="7" descr="preencoded.png"/>
            <p:cNvSpPr/>
            <p:nvPr/>
          </p:nvSpPr>
          <p:spPr>
            <a:xfrm flipH="false" flipV="false" rot="0">
              <a:off x="0" y="0"/>
              <a:ext cx="24384000" cy="4725416"/>
            </a:xfrm>
            <a:custGeom>
              <a:avLst/>
              <a:gdLst/>
              <a:ahLst/>
              <a:cxnLst/>
              <a:rect r="r" b="b" t="t" l="l"/>
              <a:pathLst>
                <a:path h="4725416" w="24384000">
                  <a:moveTo>
                    <a:pt x="0" y="0"/>
                  </a:moveTo>
                  <a:lnTo>
                    <a:pt x="24384000" y="0"/>
                  </a:lnTo>
                  <a:lnTo>
                    <a:pt x="24384000" y="4725416"/>
                  </a:lnTo>
                  <a:lnTo>
                    <a:pt x="0" y="4725416"/>
                  </a:lnTo>
                  <a:lnTo>
                    <a:pt x="0" y="0"/>
                  </a:lnTo>
                  <a:close/>
                </a:path>
              </a:pathLst>
            </a:custGeom>
            <a:blipFill>
              <a:blip r:embed="rId4"/>
              <a:stretch>
                <a:fillRect l="-10" t="0" r="-10" b="0"/>
              </a:stretch>
            </a:blipFill>
          </p:spPr>
        </p:sp>
      </p:grpSp>
      <p:sp>
        <p:nvSpPr>
          <p:cNvPr name="TextBox 8" id="8"/>
          <p:cNvSpPr txBox="true"/>
          <p:nvPr/>
        </p:nvSpPr>
        <p:spPr>
          <a:xfrm rot="0">
            <a:off x="992238" y="4721866"/>
            <a:ext cx="16303523" cy="2578100"/>
          </a:xfrm>
          <a:prstGeom prst="rect">
            <a:avLst/>
          </a:prstGeom>
        </p:spPr>
        <p:txBody>
          <a:bodyPr anchor="t" rtlCol="false" tIns="0" lIns="0" bIns="0" rIns="0">
            <a:spAutoFit/>
          </a:bodyPr>
          <a:lstStyle/>
          <a:p>
            <a:pPr algn="l">
              <a:lnSpc>
                <a:spcPts val="9625"/>
              </a:lnSpc>
            </a:pPr>
            <a:r>
              <a:rPr lang="en-US" b="true" sz="7687" spc="-322">
                <a:solidFill>
                  <a:srgbClr val="FFFFFF"/>
                </a:solidFill>
                <a:latin typeface="Arial MT Pro Bold"/>
                <a:ea typeface="Arial MT Pro Bold"/>
                <a:cs typeface="Arial MT Pro Bold"/>
                <a:sym typeface="Arial MT Pro Bold"/>
              </a:rPr>
              <a:t>Smart Home Energy Management System</a:t>
            </a:r>
          </a:p>
        </p:txBody>
      </p:sp>
      <p:sp>
        <p:nvSpPr>
          <p:cNvPr name="TextBox 9" id="9"/>
          <p:cNvSpPr txBox="true"/>
          <p:nvPr/>
        </p:nvSpPr>
        <p:spPr>
          <a:xfrm rot="0">
            <a:off x="992238" y="7668816"/>
            <a:ext cx="16303523" cy="376238"/>
          </a:xfrm>
          <a:prstGeom prst="rect">
            <a:avLst/>
          </a:prstGeom>
        </p:spPr>
        <p:txBody>
          <a:bodyPr anchor="t" rtlCol="false" tIns="0" lIns="0" bIns="0" rIns="0">
            <a:spAutoFit/>
          </a:bodyPr>
          <a:lstStyle/>
          <a:p>
            <a:pPr algn="l">
              <a:lnSpc>
                <a:spcPts val="2812"/>
              </a:lnSpc>
            </a:pPr>
            <a:r>
              <a:rPr lang="en-US" sz="1749">
                <a:solidFill>
                  <a:srgbClr val="FFFFFF"/>
                </a:solidFill>
                <a:latin typeface="Arial MT Pro"/>
                <a:ea typeface="Arial MT Pro"/>
                <a:cs typeface="Arial MT Pro"/>
                <a:sym typeface="Arial MT Pro"/>
              </a:rPr>
              <a:t>PRESENTED BY</a:t>
            </a:r>
          </a:p>
        </p:txBody>
      </p:sp>
      <p:sp>
        <p:nvSpPr>
          <p:cNvPr name="TextBox 10" id="10"/>
          <p:cNvSpPr txBox="true"/>
          <p:nvPr/>
        </p:nvSpPr>
        <p:spPr>
          <a:xfrm rot="0">
            <a:off x="992238" y="8322021"/>
            <a:ext cx="16303523" cy="471487"/>
          </a:xfrm>
          <a:prstGeom prst="rect">
            <a:avLst/>
          </a:prstGeom>
        </p:spPr>
        <p:txBody>
          <a:bodyPr anchor="t" rtlCol="false" tIns="0" lIns="0" bIns="0" rIns="0">
            <a:spAutoFit/>
          </a:bodyPr>
          <a:lstStyle/>
          <a:p>
            <a:pPr algn="l">
              <a:lnSpc>
                <a:spcPts val="3562"/>
              </a:lnSpc>
            </a:pPr>
            <a:r>
              <a:rPr lang="en-US" b="true" sz="2187" spc="-35">
                <a:solidFill>
                  <a:srgbClr val="FFFFFF"/>
                </a:solidFill>
                <a:latin typeface="Arial MT Pro Bold"/>
                <a:ea typeface="Arial MT Pro Bold"/>
                <a:cs typeface="Arial MT Pro Bold"/>
                <a:sym typeface="Arial MT Pro Bold"/>
              </a:rPr>
              <a:t>JIYA JAIN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41519">
                <a:alpha val="90196"/>
              </a:srgbClr>
            </a:solidFill>
          </p:spPr>
        </p:sp>
      </p:grpSp>
      <p:sp>
        <p:nvSpPr>
          <p:cNvPr name="TextBox 6" id="6"/>
          <p:cNvSpPr txBox="true"/>
          <p:nvPr/>
        </p:nvSpPr>
        <p:spPr>
          <a:xfrm rot="0">
            <a:off x="894607" y="1001316"/>
            <a:ext cx="3791347" cy="454025"/>
          </a:xfrm>
          <a:prstGeom prst="rect">
            <a:avLst/>
          </a:prstGeom>
        </p:spPr>
        <p:txBody>
          <a:bodyPr anchor="t" rtlCol="false" tIns="0" lIns="0" bIns="0" rIns="0">
            <a:spAutoFit/>
          </a:bodyPr>
          <a:lstStyle/>
          <a:p>
            <a:pPr algn="l">
              <a:lnSpc>
                <a:spcPts val="3250"/>
              </a:lnSpc>
            </a:pPr>
            <a:r>
              <a:rPr lang="en-US" b="true" sz="2562" spc="-107">
                <a:solidFill>
                  <a:srgbClr val="FFFFFF"/>
                </a:solidFill>
                <a:latin typeface="Arial MT Pro Bold"/>
                <a:ea typeface="Arial MT Pro Bold"/>
                <a:cs typeface="Arial MT Pro Bold"/>
                <a:sym typeface="Arial MT Pro Bold"/>
              </a:rPr>
              <a:t>System Modules Overview</a:t>
            </a:r>
          </a:p>
        </p:txBody>
      </p:sp>
      <p:grpSp>
        <p:nvGrpSpPr>
          <p:cNvPr name="Group 7" id="7"/>
          <p:cNvGrpSpPr/>
          <p:nvPr/>
        </p:nvGrpSpPr>
        <p:grpSpPr>
          <a:xfrm rot="0">
            <a:off x="885082" y="1668513"/>
            <a:ext cx="8219780" cy="2349846"/>
            <a:chOff x="0" y="0"/>
            <a:chExt cx="10959706" cy="3133128"/>
          </a:xfrm>
        </p:grpSpPr>
        <p:sp>
          <p:nvSpPr>
            <p:cNvPr name="Freeform 8" id="8"/>
            <p:cNvSpPr/>
            <p:nvPr/>
          </p:nvSpPr>
          <p:spPr>
            <a:xfrm flipH="false" flipV="false" rot="0">
              <a:off x="12700" y="12700"/>
              <a:ext cx="10934319" cy="3107817"/>
            </a:xfrm>
            <a:custGeom>
              <a:avLst/>
              <a:gdLst/>
              <a:ahLst/>
              <a:cxnLst/>
              <a:rect r="r" b="b" t="t" l="l"/>
              <a:pathLst>
                <a:path h="3107817" w="10934319">
                  <a:moveTo>
                    <a:pt x="0" y="93091"/>
                  </a:moveTo>
                  <a:cubicBezTo>
                    <a:pt x="0" y="41656"/>
                    <a:pt x="41910" y="0"/>
                    <a:pt x="93599" y="0"/>
                  </a:cubicBezTo>
                  <a:lnTo>
                    <a:pt x="10840720" y="0"/>
                  </a:lnTo>
                  <a:cubicBezTo>
                    <a:pt x="10892409" y="0"/>
                    <a:pt x="10934319" y="41656"/>
                    <a:pt x="10934319" y="93091"/>
                  </a:cubicBezTo>
                  <a:lnTo>
                    <a:pt x="10934319" y="3014726"/>
                  </a:lnTo>
                  <a:cubicBezTo>
                    <a:pt x="10934319" y="3066161"/>
                    <a:pt x="10892409" y="3107817"/>
                    <a:pt x="10840720" y="3107817"/>
                  </a:cubicBezTo>
                  <a:lnTo>
                    <a:pt x="93599" y="3107817"/>
                  </a:lnTo>
                  <a:cubicBezTo>
                    <a:pt x="41910" y="3107690"/>
                    <a:pt x="0" y="3066034"/>
                    <a:pt x="0" y="3014726"/>
                  </a:cubicBezTo>
                  <a:close/>
                </a:path>
              </a:pathLst>
            </a:custGeom>
            <a:solidFill>
              <a:srgbClr val="FFFFFF">
                <a:alpha val="90196"/>
              </a:srgbClr>
            </a:solidFill>
          </p:spPr>
        </p:sp>
        <p:sp>
          <p:nvSpPr>
            <p:cNvPr name="Freeform 9" id="9"/>
            <p:cNvSpPr/>
            <p:nvPr/>
          </p:nvSpPr>
          <p:spPr>
            <a:xfrm flipH="false" flipV="false" rot="0">
              <a:off x="0" y="0"/>
              <a:ext cx="10959719" cy="3133217"/>
            </a:xfrm>
            <a:custGeom>
              <a:avLst/>
              <a:gdLst/>
              <a:ahLst/>
              <a:cxnLst/>
              <a:rect r="r" b="b" t="t" l="l"/>
              <a:pathLst>
                <a:path h="3133217" w="10959719">
                  <a:moveTo>
                    <a:pt x="0" y="105791"/>
                  </a:moveTo>
                  <a:cubicBezTo>
                    <a:pt x="0" y="47244"/>
                    <a:pt x="47625" y="0"/>
                    <a:pt x="106299" y="0"/>
                  </a:cubicBezTo>
                  <a:lnTo>
                    <a:pt x="10853420" y="0"/>
                  </a:lnTo>
                  <a:lnTo>
                    <a:pt x="10853420" y="12700"/>
                  </a:lnTo>
                  <a:lnTo>
                    <a:pt x="10853420" y="0"/>
                  </a:lnTo>
                  <a:cubicBezTo>
                    <a:pt x="10912094" y="0"/>
                    <a:pt x="10959719" y="47244"/>
                    <a:pt x="10959719" y="105791"/>
                  </a:cubicBezTo>
                  <a:lnTo>
                    <a:pt x="10947019" y="105791"/>
                  </a:lnTo>
                  <a:lnTo>
                    <a:pt x="10959719" y="105791"/>
                  </a:lnTo>
                  <a:lnTo>
                    <a:pt x="10959719" y="3027426"/>
                  </a:lnTo>
                  <a:lnTo>
                    <a:pt x="10947019" y="3027426"/>
                  </a:lnTo>
                  <a:lnTo>
                    <a:pt x="10959719" y="3027426"/>
                  </a:lnTo>
                  <a:cubicBezTo>
                    <a:pt x="10959719" y="3085846"/>
                    <a:pt x="10912094" y="3133217"/>
                    <a:pt x="10853420" y="3133217"/>
                  </a:cubicBezTo>
                  <a:lnTo>
                    <a:pt x="10853420" y="3120517"/>
                  </a:lnTo>
                  <a:lnTo>
                    <a:pt x="10853420" y="3133217"/>
                  </a:lnTo>
                  <a:lnTo>
                    <a:pt x="106299" y="3133217"/>
                  </a:lnTo>
                  <a:lnTo>
                    <a:pt x="106299" y="3120517"/>
                  </a:lnTo>
                  <a:lnTo>
                    <a:pt x="106299" y="3133217"/>
                  </a:lnTo>
                  <a:cubicBezTo>
                    <a:pt x="47625" y="3133217"/>
                    <a:pt x="0" y="3085973"/>
                    <a:pt x="0" y="3027426"/>
                  </a:cubicBezTo>
                  <a:lnTo>
                    <a:pt x="0" y="105791"/>
                  </a:lnTo>
                  <a:lnTo>
                    <a:pt x="12700" y="105791"/>
                  </a:lnTo>
                  <a:lnTo>
                    <a:pt x="0" y="105791"/>
                  </a:lnTo>
                  <a:moveTo>
                    <a:pt x="25400" y="105791"/>
                  </a:moveTo>
                  <a:lnTo>
                    <a:pt x="25400" y="3027426"/>
                  </a:lnTo>
                  <a:lnTo>
                    <a:pt x="12700" y="3027426"/>
                  </a:lnTo>
                  <a:lnTo>
                    <a:pt x="25400" y="3027426"/>
                  </a:lnTo>
                  <a:cubicBezTo>
                    <a:pt x="25400" y="3071749"/>
                    <a:pt x="61595" y="3107817"/>
                    <a:pt x="106299" y="3107817"/>
                  </a:cubicBezTo>
                  <a:lnTo>
                    <a:pt x="10853420" y="3107817"/>
                  </a:lnTo>
                  <a:cubicBezTo>
                    <a:pt x="10898124" y="3107817"/>
                    <a:pt x="10934319" y="3071749"/>
                    <a:pt x="10934319" y="3027426"/>
                  </a:cubicBezTo>
                  <a:lnTo>
                    <a:pt x="10934319" y="105791"/>
                  </a:lnTo>
                  <a:cubicBezTo>
                    <a:pt x="10934319" y="61468"/>
                    <a:pt x="10898124" y="25400"/>
                    <a:pt x="10853420" y="25400"/>
                  </a:cubicBezTo>
                  <a:lnTo>
                    <a:pt x="106299" y="25400"/>
                  </a:lnTo>
                  <a:lnTo>
                    <a:pt x="106299" y="12700"/>
                  </a:lnTo>
                  <a:lnTo>
                    <a:pt x="106299" y="25400"/>
                  </a:lnTo>
                  <a:cubicBezTo>
                    <a:pt x="61595" y="25400"/>
                    <a:pt x="25400" y="61468"/>
                    <a:pt x="25400" y="105791"/>
                  </a:cubicBezTo>
                  <a:close/>
                </a:path>
              </a:pathLst>
            </a:custGeom>
            <a:solidFill>
              <a:srgbClr val="C8CACF"/>
            </a:solidFill>
          </p:spPr>
        </p:sp>
      </p:grpSp>
      <p:grpSp>
        <p:nvGrpSpPr>
          <p:cNvPr name="Group 10" id="10"/>
          <p:cNvGrpSpPr/>
          <p:nvPr/>
        </p:nvGrpSpPr>
        <p:grpSpPr>
          <a:xfrm rot="0">
            <a:off x="913657" y="1697088"/>
            <a:ext cx="8162630" cy="498424"/>
            <a:chOff x="0" y="0"/>
            <a:chExt cx="10883506" cy="664566"/>
          </a:xfrm>
        </p:grpSpPr>
        <p:sp>
          <p:nvSpPr>
            <p:cNvPr name="Freeform 11" id="11"/>
            <p:cNvSpPr/>
            <p:nvPr/>
          </p:nvSpPr>
          <p:spPr>
            <a:xfrm flipH="false" flipV="false" rot="0">
              <a:off x="0" y="0"/>
              <a:ext cx="10883519" cy="664591"/>
            </a:xfrm>
            <a:custGeom>
              <a:avLst/>
              <a:gdLst/>
              <a:ahLst/>
              <a:cxnLst/>
              <a:rect r="r" b="b" t="t" l="l"/>
              <a:pathLst>
                <a:path h="664591" w="10883519">
                  <a:moveTo>
                    <a:pt x="0" y="62611"/>
                  </a:moveTo>
                  <a:cubicBezTo>
                    <a:pt x="0" y="28067"/>
                    <a:pt x="28067" y="0"/>
                    <a:pt x="62611" y="0"/>
                  </a:cubicBezTo>
                  <a:lnTo>
                    <a:pt x="10820908" y="0"/>
                  </a:lnTo>
                  <a:cubicBezTo>
                    <a:pt x="10855451" y="0"/>
                    <a:pt x="10883519" y="28067"/>
                    <a:pt x="10883519" y="62611"/>
                  </a:cubicBezTo>
                  <a:lnTo>
                    <a:pt x="10883519" y="601980"/>
                  </a:lnTo>
                  <a:cubicBezTo>
                    <a:pt x="10883519" y="636524"/>
                    <a:pt x="10855451" y="664591"/>
                    <a:pt x="10820908" y="664591"/>
                  </a:cubicBezTo>
                  <a:lnTo>
                    <a:pt x="62611" y="664591"/>
                  </a:lnTo>
                  <a:cubicBezTo>
                    <a:pt x="28067" y="664591"/>
                    <a:pt x="0" y="636524"/>
                    <a:pt x="0" y="601980"/>
                  </a:cubicBezTo>
                  <a:close/>
                </a:path>
              </a:pathLst>
            </a:custGeom>
            <a:solidFill>
              <a:srgbClr val="141519"/>
            </a:solidFill>
          </p:spPr>
        </p:sp>
      </p:grpSp>
      <p:sp>
        <p:nvSpPr>
          <p:cNvPr name="TextBox 12" id="12"/>
          <p:cNvSpPr txBox="true"/>
          <p:nvPr/>
        </p:nvSpPr>
        <p:spPr>
          <a:xfrm rot="0">
            <a:off x="4870399" y="1785785"/>
            <a:ext cx="132854" cy="287337"/>
          </a:xfrm>
          <a:prstGeom prst="rect">
            <a:avLst/>
          </a:prstGeom>
        </p:spPr>
        <p:txBody>
          <a:bodyPr anchor="t" rtlCol="false" tIns="0" lIns="0" bIns="0" rIns="0">
            <a:spAutoFit/>
          </a:bodyPr>
          <a:lstStyle/>
          <a:p>
            <a:pPr algn="l">
              <a:lnSpc>
                <a:spcPts val="1937"/>
              </a:lnSpc>
            </a:pPr>
            <a:r>
              <a:rPr lang="en-US" b="true" sz="1937" spc="-30">
                <a:solidFill>
                  <a:srgbClr val="FFFFFF"/>
                </a:solidFill>
                <a:latin typeface="Arial MT Pro Bold"/>
                <a:ea typeface="Arial MT Pro Bold"/>
                <a:cs typeface="Arial MT Pro Bold"/>
                <a:sym typeface="Arial MT Pro Bold"/>
              </a:rPr>
              <a:t>1</a:t>
            </a:r>
          </a:p>
        </p:txBody>
      </p:sp>
      <p:sp>
        <p:nvSpPr>
          <p:cNvPr name="TextBox 13" id="13"/>
          <p:cNvSpPr txBox="true"/>
          <p:nvPr/>
        </p:nvSpPr>
        <p:spPr>
          <a:xfrm rot="0">
            <a:off x="1079744" y="2245223"/>
            <a:ext cx="3452912" cy="288925"/>
          </a:xfrm>
          <a:prstGeom prst="rect">
            <a:avLst/>
          </a:prstGeom>
        </p:spPr>
        <p:txBody>
          <a:bodyPr anchor="t" rtlCol="false" tIns="0" lIns="0" bIns="0" rIns="0">
            <a:spAutoFit/>
          </a:bodyPr>
          <a:lstStyle/>
          <a:p>
            <a:pPr algn="l">
              <a:lnSpc>
                <a:spcPts val="2000"/>
              </a:lnSpc>
            </a:pPr>
            <a:r>
              <a:rPr lang="en-US" sz="1625">
                <a:solidFill>
                  <a:srgbClr val="141519"/>
                </a:solidFill>
                <a:latin typeface="Arial MT Pro"/>
                <a:ea typeface="Arial MT Pro"/>
                <a:cs typeface="Arial MT Pro"/>
                <a:sym typeface="Arial MT Pro"/>
              </a:rPr>
              <a:t>Authentication and Role Management</a:t>
            </a:r>
          </a:p>
        </p:txBody>
      </p:sp>
      <p:sp>
        <p:nvSpPr>
          <p:cNvPr name="TextBox 14" id="14"/>
          <p:cNvSpPr txBox="true"/>
          <p:nvPr/>
        </p:nvSpPr>
        <p:spPr>
          <a:xfrm rot="0">
            <a:off x="1079744" y="2572493"/>
            <a:ext cx="7830445" cy="222250"/>
          </a:xfrm>
          <a:prstGeom prst="rect">
            <a:avLst/>
          </a:prstGeom>
        </p:spPr>
        <p:txBody>
          <a:bodyPr anchor="t" rtlCol="false" tIns="0" lIns="0" bIns="0" rIns="0">
            <a:spAutoFit/>
          </a:bodyPr>
          <a:lstStyle/>
          <a:p>
            <a:pPr algn="l">
              <a:lnSpc>
                <a:spcPts val="1625"/>
              </a:lnSpc>
            </a:pPr>
            <a:r>
              <a:rPr lang="en-US" sz="1250">
                <a:solidFill>
                  <a:srgbClr val="141519"/>
                </a:solidFill>
                <a:latin typeface="Arial MT Pro"/>
                <a:ea typeface="Arial MT Pro"/>
                <a:cs typeface="Arial MT Pro"/>
                <a:sym typeface="Arial MT Pro"/>
              </a:rPr>
              <a:t>This module handles user authentication and authorization, ensuring secure access to the system.</a:t>
            </a:r>
          </a:p>
        </p:txBody>
      </p:sp>
      <p:sp>
        <p:nvSpPr>
          <p:cNvPr name="TextBox 15" id="15"/>
          <p:cNvSpPr txBox="true"/>
          <p:nvPr/>
        </p:nvSpPr>
        <p:spPr>
          <a:xfrm rot="0">
            <a:off x="1079744" y="2841422"/>
            <a:ext cx="7830445" cy="622300"/>
          </a:xfrm>
          <a:prstGeom prst="rect">
            <a:avLst/>
          </a:prstGeom>
        </p:spPr>
        <p:txBody>
          <a:bodyPr anchor="t" rtlCol="false" tIns="0" lIns="0" bIns="0" rIns="0">
            <a:spAutoFit/>
          </a:bodyPr>
          <a:lstStyle/>
          <a:p>
            <a:pPr algn="l" marL="188516" indent="-94258" lvl="1">
              <a:lnSpc>
                <a:spcPts val="1625"/>
              </a:lnSpc>
              <a:buFont typeface="Arial"/>
              <a:buChar char="•"/>
            </a:pPr>
            <a:r>
              <a:rPr lang="en-US" sz="1250">
                <a:solidFill>
                  <a:srgbClr val="141519"/>
                </a:solidFill>
                <a:latin typeface="Arial MT Pro"/>
                <a:ea typeface="Arial MT Pro"/>
                <a:cs typeface="Arial MT Pro"/>
                <a:sym typeface="Arial MT Pro"/>
              </a:rPr>
              <a:t>UserAuthController</a:t>
            </a:r>
          </a:p>
          <a:p>
            <a:pPr algn="l" marL="188516" indent="-94258" lvl="1">
              <a:lnSpc>
                <a:spcPts val="1625"/>
              </a:lnSpc>
              <a:buFont typeface="Arial"/>
              <a:buChar char="•"/>
            </a:pPr>
            <a:r>
              <a:rPr lang="en-US" sz="1250">
                <a:solidFill>
                  <a:srgbClr val="141519"/>
                </a:solidFill>
                <a:latin typeface="Arial MT Pro"/>
                <a:ea typeface="Arial MT Pro"/>
                <a:cs typeface="Arial MT Pro"/>
                <a:sym typeface="Arial MT Pro"/>
              </a:rPr>
              <a:t>AuthService</a:t>
            </a:r>
          </a:p>
          <a:p>
            <a:pPr algn="l" marL="188516" indent="-94258" lvl="1">
              <a:lnSpc>
                <a:spcPts val="1625"/>
              </a:lnSpc>
              <a:buFont typeface="Arial"/>
              <a:buChar char="•"/>
            </a:pPr>
            <a:r>
              <a:rPr lang="en-US" sz="1250">
                <a:solidFill>
                  <a:srgbClr val="141519"/>
                </a:solidFill>
                <a:latin typeface="Arial MT Pro"/>
                <a:ea typeface="Arial MT Pro"/>
                <a:cs typeface="Arial MT Pro"/>
                <a:sym typeface="Arial MT Pro"/>
              </a:rPr>
              <a:t>UserRepository</a:t>
            </a:r>
          </a:p>
        </p:txBody>
      </p:sp>
      <p:grpSp>
        <p:nvGrpSpPr>
          <p:cNvPr name="Group 16" id="16"/>
          <p:cNvGrpSpPr/>
          <p:nvPr/>
        </p:nvGrpSpPr>
        <p:grpSpPr>
          <a:xfrm rot="0">
            <a:off x="9183138" y="1668513"/>
            <a:ext cx="8219780" cy="2349846"/>
            <a:chOff x="0" y="0"/>
            <a:chExt cx="10959706" cy="3133128"/>
          </a:xfrm>
        </p:grpSpPr>
        <p:sp>
          <p:nvSpPr>
            <p:cNvPr name="Freeform 17" id="17"/>
            <p:cNvSpPr/>
            <p:nvPr/>
          </p:nvSpPr>
          <p:spPr>
            <a:xfrm flipH="false" flipV="false" rot="0">
              <a:off x="12700" y="12700"/>
              <a:ext cx="10934319" cy="3107817"/>
            </a:xfrm>
            <a:custGeom>
              <a:avLst/>
              <a:gdLst/>
              <a:ahLst/>
              <a:cxnLst/>
              <a:rect r="r" b="b" t="t" l="l"/>
              <a:pathLst>
                <a:path h="3107817" w="10934319">
                  <a:moveTo>
                    <a:pt x="0" y="93091"/>
                  </a:moveTo>
                  <a:cubicBezTo>
                    <a:pt x="0" y="41656"/>
                    <a:pt x="41910" y="0"/>
                    <a:pt x="93599" y="0"/>
                  </a:cubicBezTo>
                  <a:lnTo>
                    <a:pt x="10840720" y="0"/>
                  </a:lnTo>
                  <a:cubicBezTo>
                    <a:pt x="10892409" y="0"/>
                    <a:pt x="10934319" y="41656"/>
                    <a:pt x="10934319" y="93091"/>
                  </a:cubicBezTo>
                  <a:lnTo>
                    <a:pt x="10934319" y="3014726"/>
                  </a:lnTo>
                  <a:cubicBezTo>
                    <a:pt x="10934319" y="3066161"/>
                    <a:pt x="10892409" y="3107817"/>
                    <a:pt x="10840720" y="3107817"/>
                  </a:cubicBezTo>
                  <a:lnTo>
                    <a:pt x="93599" y="3107817"/>
                  </a:lnTo>
                  <a:cubicBezTo>
                    <a:pt x="41910" y="3107690"/>
                    <a:pt x="0" y="3066034"/>
                    <a:pt x="0" y="3014726"/>
                  </a:cubicBezTo>
                  <a:close/>
                </a:path>
              </a:pathLst>
            </a:custGeom>
            <a:solidFill>
              <a:srgbClr val="FFFFFF">
                <a:alpha val="90196"/>
              </a:srgbClr>
            </a:solidFill>
          </p:spPr>
        </p:sp>
        <p:sp>
          <p:nvSpPr>
            <p:cNvPr name="Freeform 18" id="18"/>
            <p:cNvSpPr/>
            <p:nvPr/>
          </p:nvSpPr>
          <p:spPr>
            <a:xfrm flipH="false" flipV="false" rot="0">
              <a:off x="0" y="0"/>
              <a:ext cx="10959719" cy="3133217"/>
            </a:xfrm>
            <a:custGeom>
              <a:avLst/>
              <a:gdLst/>
              <a:ahLst/>
              <a:cxnLst/>
              <a:rect r="r" b="b" t="t" l="l"/>
              <a:pathLst>
                <a:path h="3133217" w="10959719">
                  <a:moveTo>
                    <a:pt x="0" y="105791"/>
                  </a:moveTo>
                  <a:cubicBezTo>
                    <a:pt x="0" y="47244"/>
                    <a:pt x="47625" y="0"/>
                    <a:pt x="106299" y="0"/>
                  </a:cubicBezTo>
                  <a:lnTo>
                    <a:pt x="10853420" y="0"/>
                  </a:lnTo>
                  <a:lnTo>
                    <a:pt x="10853420" y="12700"/>
                  </a:lnTo>
                  <a:lnTo>
                    <a:pt x="10853420" y="0"/>
                  </a:lnTo>
                  <a:cubicBezTo>
                    <a:pt x="10912094" y="0"/>
                    <a:pt x="10959719" y="47244"/>
                    <a:pt x="10959719" y="105791"/>
                  </a:cubicBezTo>
                  <a:lnTo>
                    <a:pt x="10947019" y="105791"/>
                  </a:lnTo>
                  <a:lnTo>
                    <a:pt x="10959719" y="105791"/>
                  </a:lnTo>
                  <a:lnTo>
                    <a:pt x="10959719" y="3027426"/>
                  </a:lnTo>
                  <a:lnTo>
                    <a:pt x="10947019" y="3027426"/>
                  </a:lnTo>
                  <a:lnTo>
                    <a:pt x="10959719" y="3027426"/>
                  </a:lnTo>
                  <a:cubicBezTo>
                    <a:pt x="10959719" y="3085846"/>
                    <a:pt x="10912094" y="3133217"/>
                    <a:pt x="10853420" y="3133217"/>
                  </a:cubicBezTo>
                  <a:lnTo>
                    <a:pt x="10853420" y="3120517"/>
                  </a:lnTo>
                  <a:lnTo>
                    <a:pt x="10853420" y="3133217"/>
                  </a:lnTo>
                  <a:lnTo>
                    <a:pt x="106299" y="3133217"/>
                  </a:lnTo>
                  <a:lnTo>
                    <a:pt x="106299" y="3120517"/>
                  </a:lnTo>
                  <a:lnTo>
                    <a:pt x="106299" y="3133217"/>
                  </a:lnTo>
                  <a:cubicBezTo>
                    <a:pt x="47625" y="3133217"/>
                    <a:pt x="0" y="3085973"/>
                    <a:pt x="0" y="3027426"/>
                  </a:cubicBezTo>
                  <a:lnTo>
                    <a:pt x="0" y="105791"/>
                  </a:lnTo>
                  <a:lnTo>
                    <a:pt x="12700" y="105791"/>
                  </a:lnTo>
                  <a:lnTo>
                    <a:pt x="0" y="105791"/>
                  </a:lnTo>
                  <a:moveTo>
                    <a:pt x="25400" y="105791"/>
                  </a:moveTo>
                  <a:lnTo>
                    <a:pt x="25400" y="3027426"/>
                  </a:lnTo>
                  <a:lnTo>
                    <a:pt x="12700" y="3027426"/>
                  </a:lnTo>
                  <a:lnTo>
                    <a:pt x="25400" y="3027426"/>
                  </a:lnTo>
                  <a:cubicBezTo>
                    <a:pt x="25400" y="3071749"/>
                    <a:pt x="61595" y="3107817"/>
                    <a:pt x="106299" y="3107817"/>
                  </a:cubicBezTo>
                  <a:lnTo>
                    <a:pt x="10853420" y="3107817"/>
                  </a:lnTo>
                  <a:cubicBezTo>
                    <a:pt x="10898124" y="3107817"/>
                    <a:pt x="10934319" y="3071749"/>
                    <a:pt x="10934319" y="3027426"/>
                  </a:cubicBezTo>
                  <a:lnTo>
                    <a:pt x="10934319" y="105791"/>
                  </a:lnTo>
                  <a:cubicBezTo>
                    <a:pt x="10934319" y="61468"/>
                    <a:pt x="10898124" y="25400"/>
                    <a:pt x="10853420" y="25400"/>
                  </a:cubicBezTo>
                  <a:lnTo>
                    <a:pt x="106299" y="25400"/>
                  </a:lnTo>
                  <a:lnTo>
                    <a:pt x="106299" y="12700"/>
                  </a:lnTo>
                  <a:lnTo>
                    <a:pt x="106299" y="25400"/>
                  </a:lnTo>
                  <a:cubicBezTo>
                    <a:pt x="61595" y="25400"/>
                    <a:pt x="25400" y="61468"/>
                    <a:pt x="25400" y="105791"/>
                  </a:cubicBezTo>
                  <a:close/>
                </a:path>
              </a:pathLst>
            </a:custGeom>
            <a:solidFill>
              <a:srgbClr val="C8CACF"/>
            </a:solidFill>
          </p:spPr>
        </p:sp>
      </p:grpSp>
      <p:grpSp>
        <p:nvGrpSpPr>
          <p:cNvPr name="Group 19" id="19"/>
          <p:cNvGrpSpPr/>
          <p:nvPr/>
        </p:nvGrpSpPr>
        <p:grpSpPr>
          <a:xfrm rot="0">
            <a:off x="9211713" y="1697088"/>
            <a:ext cx="8162630" cy="498424"/>
            <a:chOff x="0" y="0"/>
            <a:chExt cx="10883506" cy="664566"/>
          </a:xfrm>
        </p:grpSpPr>
        <p:sp>
          <p:nvSpPr>
            <p:cNvPr name="Freeform 20" id="20"/>
            <p:cNvSpPr/>
            <p:nvPr/>
          </p:nvSpPr>
          <p:spPr>
            <a:xfrm flipH="false" flipV="false" rot="0">
              <a:off x="0" y="0"/>
              <a:ext cx="10883519" cy="664591"/>
            </a:xfrm>
            <a:custGeom>
              <a:avLst/>
              <a:gdLst/>
              <a:ahLst/>
              <a:cxnLst/>
              <a:rect r="r" b="b" t="t" l="l"/>
              <a:pathLst>
                <a:path h="664591" w="10883519">
                  <a:moveTo>
                    <a:pt x="0" y="62611"/>
                  </a:moveTo>
                  <a:cubicBezTo>
                    <a:pt x="0" y="28067"/>
                    <a:pt x="28067" y="0"/>
                    <a:pt x="62611" y="0"/>
                  </a:cubicBezTo>
                  <a:lnTo>
                    <a:pt x="10820908" y="0"/>
                  </a:lnTo>
                  <a:cubicBezTo>
                    <a:pt x="10855451" y="0"/>
                    <a:pt x="10883519" y="28067"/>
                    <a:pt x="10883519" y="62611"/>
                  </a:cubicBezTo>
                  <a:lnTo>
                    <a:pt x="10883519" y="601980"/>
                  </a:lnTo>
                  <a:cubicBezTo>
                    <a:pt x="10883519" y="636524"/>
                    <a:pt x="10855451" y="664591"/>
                    <a:pt x="10820908" y="664591"/>
                  </a:cubicBezTo>
                  <a:lnTo>
                    <a:pt x="62611" y="664591"/>
                  </a:lnTo>
                  <a:cubicBezTo>
                    <a:pt x="28067" y="664591"/>
                    <a:pt x="0" y="636524"/>
                    <a:pt x="0" y="601980"/>
                  </a:cubicBezTo>
                  <a:close/>
                </a:path>
              </a:pathLst>
            </a:custGeom>
            <a:solidFill>
              <a:srgbClr val="141519"/>
            </a:solidFill>
          </p:spPr>
        </p:sp>
      </p:grpSp>
      <p:sp>
        <p:nvSpPr>
          <p:cNvPr name="TextBox 21" id="21"/>
          <p:cNvSpPr txBox="true"/>
          <p:nvPr/>
        </p:nvSpPr>
        <p:spPr>
          <a:xfrm rot="0">
            <a:off x="13168465" y="1785785"/>
            <a:ext cx="132854" cy="287337"/>
          </a:xfrm>
          <a:prstGeom prst="rect">
            <a:avLst/>
          </a:prstGeom>
        </p:spPr>
        <p:txBody>
          <a:bodyPr anchor="t" rtlCol="false" tIns="0" lIns="0" bIns="0" rIns="0">
            <a:spAutoFit/>
          </a:bodyPr>
          <a:lstStyle/>
          <a:p>
            <a:pPr algn="l">
              <a:lnSpc>
                <a:spcPts val="1937"/>
              </a:lnSpc>
            </a:pPr>
            <a:r>
              <a:rPr lang="en-US" b="true" sz="1937" spc="-30">
                <a:solidFill>
                  <a:srgbClr val="FFFFFF"/>
                </a:solidFill>
                <a:latin typeface="Arial MT Pro Bold"/>
                <a:ea typeface="Arial MT Pro Bold"/>
                <a:cs typeface="Arial MT Pro Bold"/>
                <a:sym typeface="Arial MT Pro Bold"/>
              </a:rPr>
              <a:t>2</a:t>
            </a:r>
          </a:p>
        </p:txBody>
      </p:sp>
      <p:sp>
        <p:nvSpPr>
          <p:cNvPr name="TextBox 22" id="22"/>
          <p:cNvSpPr txBox="true"/>
          <p:nvPr/>
        </p:nvSpPr>
        <p:spPr>
          <a:xfrm rot="0">
            <a:off x="9377810" y="2245223"/>
            <a:ext cx="2500312" cy="288925"/>
          </a:xfrm>
          <a:prstGeom prst="rect">
            <a:avLst/>
          </a:prstGeom>
        </p:spPr>
        <p:txBody>
          <a:bodyPr anchor="t" rtlCol="false" tIns="0" lIns="0" bIns="0" rIns="0">
            <a:spAutoFit/>
          </a:bodyPr>
          <a:lstStyle/>
          <a:p>
            <a:pPr algn="l">
              <a:lnSpc>
                <a:spcPts val="2000"/>
              </a:lnSpc>
            </a:pPr>
            <a:r>
              <a:rPr lang="en-US" sz="1625">
                <a:solidFill>
                  <a:srgbClr val="141519"/>
                </a:solidFill>
                <a:latin typeface="Arial MT Pro"/>
                <a:ea typeface="Arial MT Pro"/>
                <a:cs typeface="Arial MT Pro"/>
                <a:sym typeface="Arial MT Pro"/>
              </a:rPr>
              <a:t>Smart Device Management</a:t>
            </a:r>
          </a:p>
        </p:txBody>
      </p:sp>
      <p:sp>
        <p:nvSpPr>
          <p:cNvPr name="TextBox 23" id="23"/>
          <p:cNvSpPr txBox="true"/>
          <p:nvPr/>
        </p:nvSpPr>
        <p:spPr>
          <a:xfrm rot="0">
            <a:off x="9377810" y="2572493"/>
            <a:ext cx="7830445" cy="222250"/>
          </a:xfrm>
          <a:prstGeom prst="rect">
            <a:avLst/>
          </a:prstGeom>
        </p:spPr>
        <p:txBody>
          <a:bodyPr anchor="t" rtlCol="false" tIns="0" lIns="0" bIns="0" rIns="0">
            <a:spAutoFit/>
          </a:bodyPr>
          <a:lstStyle/>
          <a:p>
            <a:pPr algn="l">
              <a:lnSpc>
                <a:spcPts val="1625"/>
              </a:lnSpc>
            </a:pPr>
            <a:r>
              <a:rPr lang="en-US" sz="1250">
                <a:solidFill>
                  <a:srgbClr val="141519"/>
                </a:solidFill>
                <a:latin typeface="Arial MT Pro"/>
                <a:ea typeface="Arial MT Pro"/>
                <a:cs typeface="Arial MT Pro"/>
                <a:sym typeface="Arial MT Pro"/>
              </a:rPr>
              <a:t>Manages the integration and control of various smart home devices.</a:t>
            </a:r>
          </a:p>
        </p:txBody>
      </p:sp>
      <p:sp>
        <p:nvSpPr>
          <p:cNvPr name="TextBox 24" id="24"/>
          <p:cNvSpPr txBox="true"/>
          <p:nvPr/>
        </p:nvSpPr>
        <p:spPr>
          <a:xfrm rot="0">
            <a:off x="9377810" y="2841422"/>
            <a:ext cx="7830445" cy="822325"/>
          </a:xfrm>
          <a:prstGeom prst="rect">
            <a:avLst/>
          </a:prstGeom>
        </p:spPr>
        <p:txBody>
          <a:bodyPr anchor="t" rtlCol="false" tIns="0" lIns="0" bIns="0" rIns="0">
            <a:spAutoFit/>
          </a:bodyPr>
          <a:lstStyle/>
          <a:p>
            <a:pPr algn="l" marL="188516" indent="-94258" lvl="1">
              <a:lnSpc>
                <a:spcPts val="1625"/>
              </a:lnSpc>
              <a:buFont typeface="Arial"/>
              <a:buChar char="•"/>
            </a:pPr>
            <a:r>
              <a:rPr lang="en-US" sz="1250">
                <a:solidFill>
                  <a:srgbClr val="141519"/>
                </a:solidFill>
                <a:latin typeface="Arial MT Pro"/>
                <a:ea typeface="Arial MT Pro"/>
                <a:cs typeface="Arial MT Pro"/>
                <a:sym typeface="Arial MT Pro"/>
              </a:rPr>
              <a:t>Device</a:t>
            </a:r>
          </a:p>
          <a:p>
            <a:pPr algn="l" marL="188516" indent="-94258" lvl="1">
              <a:lnSpc>
                <a:spcPts val="1625"/>
              </a:lnSpc>
              <a:buFont typeface="Arial"/>
              <a:buChar char="•"/>
            </a:pPr>
            <a:r>
              <a:rPr lang="en-US" sz="1250">
                <a:solidFill>
                  <a:srgbClr val="141519"/>
                </a:solidFill>
                <a:latin typeface="Arial MT Pro"/>
                <a:ea typeface="Arial MT Pro"/>
                <a:cs typeface="Arial MT Pro"/>
                <a:sym typeface="Arial MT Pro"/>
              </a:rPr>
              <a:t>DeviceController</a:t>
            </a:r>
          </a:p>
          <a:p>
            <a:pPr algn="l" marL="188516" indent="-94258" lvl="1">
              <a:lnSpc>
                <a:spcPts val="1625"/>
              </a:lnSpc>
              <a:buFont typeface="Arial"/>
              <a:buChar char="•"/>
            </a:pPr>
            <a:r>
              <a:rPr lang="en-US" sz="1250">
                <a:solidFill>
                  <a:srgbClr val="141519"/>
                </a:solidFill>
                <a:latin typeface="Arial MT Pro"/>
                <a:ea typeface="Arial MT Pro"/>
                <a:cs typeface="Arial MT Pro"/>
                <a:sym typeface="Arial MT Pro"/>
              </a:rPr>
              <a:t>DeviceService</a:t>
            </a:r>
          </a:p>
          <a:p>
            <a:pPr algn="l" marL="188516" indent="-94258" lvl="1">
              <a:lnSpc>
                <a:spcPts val="1625"/>
              </a:lnSpc>
              <a:buFont typeface="Arial"/>
              <a:buChar char="•"/>
            </a:pPr>
            <a:r>
              <a:rPr lang="en-US" sz="1250">
                <a:solidFill>
                  <a:srgbClr val="141519"/>
                </a:solidFill>
                <a:latin typeface="Arial MT Pro"/>
                <a:ea typeface="Arial MT Pro"/>
                <a:cs typeface="Arial MT Pro"/>
                <a:sym typeface="Arial MT Pro"/>
              </a:rPr>
              <a:t>DeviceRepository</a:t>
            </a:r>
          </a:p>
        </p:txBody>
      </p:sp>
      <p:grpSp>
        <p:nvGrpSpPr>
          <p:cNvPr name="Group 25" id="25"/>
          <p:cNvGrpSpPr/>
          <p:nvPr/>
        </p:nvGrpSpPr>
        <p:grpSpPr>
          <a:xfrm rot="0">
            <a:off x="885082" y="3928443"/>
            <a:ext cx="8219780" cy="2349846"/>
            <a:chOff x="0" y="0"/>
            <a:chExt cx="10959706" cy="3133128"/>
          </a:xfrm>
        </p:grpSpPr>
        <p:sp>
          <p:nvSpPr>
            <p:cNvPr name="Freeform 26" id="26"/>
            <p:cNvSpPr/>
            <p:nvPr/>
          </p:nvSpPr>
          <p:spPr>
            <a:xfrm flipH="false" flipV="false" rot="0">
              <a:off x="12700" y="12700"/>
              <a:ext cx="10934319" cy="3107817"/>
            </a:xfrm>
            <a:custGeom>
              <a:avLst/>
              <a:gdLst/>
              <a:ahLst/>
              <a:cxnLst/>
              <a:rect r="r" b="b" t="t" l="l"/>
              <a:pathLst>
                <a:path h="3107817" w="10934319">
                  <a:moveTo>
                    <a:pt x="0" y="93091"/>
                  </a:moveTo>
                  <a:cubicBezTo>
                    <a:pt x="0" y="41656"/>
                    <a:pt x="41910" y="0"/>
                    <a:pt x="93599" y="0"/>
                  </a:cubicBezTo>
                  <a:lnTo>
                    <a:pt x="10840720" y="0"/>
                  </a:lnTo>
                  <a:cubicBezTo>
                    <a:pt x="10892409" y="0"/>
                    <a:pt x="10934319" y="41656"/>
                    <a:pt x="10934319" y="93091"/>
                  </a:cubicBezTo>
                  <a:lnTo>
                    <a:pt x="10934319" y="3014726"/>
                  </a:lnTo>
                  <a:cubicBezTo>
                    <a:pt x="10934319" y="3066161"/>
                    <a:pt x="10892409" y="3107817"/>
                    <a:pt x="10840720" y="3107817"/>
                  </a:cubicBezTo>
                  <a:lnTo>
                    <a:pt x="93599" y="3107817"/>
                  </a:lnTo>
                  <a:cubicBezTo>
                    <a:pt x="41910" y="3107690"/>
                    <a:pt x="0" y="3066034"/>
                    <a:pt x="0" y="3014726"/>
                  </a:cubicBezTo>
                  <a:close/>
                </a:path>
              </a:pathLst>
            </a:custGeom>
            <a:solidFill>
              <a:srgbClr val="FFFFFF">
                <a:alpha val="90196"/>
              </a:srgbClr>
            </a:solidFill>
          </p:spPr>
        </p:sp>
        <p:sp>
          <p:nvSpPr>
            <p:cNvPr name="Freeform 27" id="27"/>
            <p:cNvSpPr/>
            <p:nvPr/>
          </p:nvSpPr>
          <p:spPr>
            <a:xfrm flipH="false" flipV="false" rot="0">
              <a:off x="0" y="0"/>
              <a:ext cx="10959719" cy="3133217"/>
            </a:xfrm>
            <a:custGeom>
              <a:avLst/>
              <a:gdLst/>
              <a:ahLst/>
              <a:cxnLst/>
              <a:rect r="r" b="b" t="t" l="l"/>
              <a:pathLst>
                <a:path h="3133217" w="10959719">
                  <a:moveTo>
                    <a:pt x="0" y="105791"/>
                  </a:moveTo>
                  <a:cubicBezTo>
                    <a:pt x="0" y="47244"/>
                    <a:pt x="47625" y="0"/>
                    <a:pt x="106299" y="0"/>
                  </a:cubicBezTo>
                  <a:lnTo>
                    <a:pt x="10853420" y="0"/>
                  </a:lnTo>
                  <a:lnTo>
                    <a:pt x="10853420" y="12700"/>
                  </a:lnTo>
                  <a:lnTo>
                    <a:pt x="10853420" y="0"/>
                  </a:lnTo>
                  <a:cubicBezTo>
                    <a:pt x="10912094" y="0"/>
                    <a:pt x="10959719" y="47244"/>
                    <a:pt x="10959719" y="105791"/>
                  </a:cubicBezTo>
                  <a:lnTo>
                    <a:pt x="10947019" y="105791"/>
                  </a:lnTo>
                  <a:lnTo>
                    <a:pt x="10959719" y="105791"/>
                  </a:lnTo>
                  <a:lnTo>
                    <a:pt x="10959719" y="3027426"/>
                  </a:lnTo>
                  <a:lnTo>
                    <a:pt x="10947019" y="3027426"/>
                  </a:lnTo>
                  <a:lnTo>
                    <a:pt x="10959719" y="3027426"/>
                  </a:lnTo>
                  <a:cubicBezTo>
                    <a:pt x="10959719" y="3085846"/>
                    <a:pt x="10912094" y="3133217"/>
                    <a:pt x="10853420" y="3133217"/>
                  </a:cubicBezTo>
                  <a:lnTo>
                    <a:pt x="10853420" y="3120517"/>
                  </a:lnTo>
                  <a:lnTo>
                    <a:pt x="10853420" y="3133217"/>
                  </a:lnTo>
                  <a:lnTo>
                    <a:pt x="106299" y="3133217"/>
                  </a:lnTo>
                  <a:lnTo>
                    <a:pt x="106299" y="3120517"/>
                  </a:lnTo>
                  <a:lnTo>
                    <a:pt x="106299" y="3133217"/>
                  </a:lnTo>
                  <a:cubicBezTo>
                    <a:pt x="47625" y="3133217"/>
                    <a:pt x="0" y="3085973"/>
                    <a:pt x="0" y="3027426"/>
                  </a:cubicBezTo>
                  <a:lnTo>
                    <a:pt x="0" y="105791"/>
                  </a:lnTo>
                  <a:lnTo>
                    <a:pt x="12700" y="105791"/>
                  </a:lnTo>
                  <a:lnTo>
                    <a:pt x="0" y="105791"/>
                  </a:lnTo>
                  <a:moveTo>
                    <a:pt x="25400" y="105791"/>
                  </a:moveTo>
                  <a:lnTo>
                    <a:pt x="25400" y="3027426"/>
                  </a:lnTo>
                  <a:lnTo>
                    <a:pt x="12700" y="3027426"/>
                  </a:lnTo>
                  <a:lnTo>
                    <a:pt x="25400" y="3027426"/>
                  </a:lnTo>
                  <a:cubicBezTo>
                    <a:pt x="25400" y="3071749"/>
                    <a:pt x="61595" y="3107817"/>
                    <a:pt x="106299" y="3107817"/>
                  </a:cubicBezTo>
                  <a:lnTo>
                    <a:pt x="10853420" y="3107817"/>
                  </a:lnTo>
                  <a:cubicBezTo>
                    <a:pt x="10898124" y="3107817"/>
                    <a:pt x="10934319" y="3071749"/>
                    <a:pt x="10934319" y="3027426"/>
                  </a:cubicBezTo>
                  <a:lnTo>
                    <a:pt x="10934319" y="105791"/>
                  </a:lnTo>
                  <a:cubicBezTo>
                    <a:pt x="10934319" y="61468"/>
                    <a:pt x="10898124" y="25400"/>
                    <a:pt x="10853420" y="25400"/>
                  </a:cubicBezTo>
                  <a:lnTo>
                    <a:pt x="106299" y="25400"/>
                  </a:lnTo>
                  <a:lnTo>
                    <a:pt x="106299" y="12700"/>
                  </a:lnTo>
                  <a:lnTo>
                    <a:pt x="106299" y="25400"/>
                  </a:lnTo>
                  <a:cubicBezTo>
                    <a:pt x="61595" y="25400"/>
                    <a:pt x="25400" y="61468"/>
                    <a:pt x="25400" y="105791"/>
                  </a:cubicBezTo>
                  <a:close/>
                </a:path>
              </a:pathLst>
            </a:custGeom>
            <a:solidFill>
              <a:srgbClr val="C8CACF"/>
            </a:solidFill>
          </p:spPr>
        </p:sp>
      </p:grpSp>
      <p:grpSp>
        <p:nvGrpSpPr>
          <p:cNvPr name="Group 28" id="28"/>
          <p:cNvGrpSpPr/>
          <p:nvPr/>
        </p:nvGrpSpPr>
        <p:grpSpPr>
          <a:xfrm rot="0">
            <a:off x="913657" y="3957018"/>
            <a:ext cx="8162630" cy="498424"/>
            <a:chOff x="0" y="0"/>
            <a:chExt cx="10883506" cy="664566"/>
          </a:xfrm>
        </p:grpSpPr>
        <p:sp>
          <p:nvSpPr>
            <p:cNvPr name="Freeform 29" id="29"/>
            <p:cNvSpPr/>
            <p:nvPr/>
          </p:nvSpPr>
          <p:spPr>
            <a:xfrm flipH="false" flipV="false" rot="0">
              <a:off x="0" y="0"/>
              <a:ext cx="10883519" cy="664591"/>
            </a:xfrm>
            <a:custGeom>
              <a:avLst/>
              <a:gdLst/>
              <a:ahLst/>
              <a:cxnLst/>
              <a:rect r="r" b="b" t="t" l="l"/>
              <a:pathLst>
                <a:path h="664591" w="10883519">
                  <a:moveTo>
                    <a:pt x="0" y="62611"/>
                  </a:moveTo>
                  <a:cubicBezTo>
                    <a:pt x="0" y="28067"/>
                    <a:pt x="28067" y="0"/>
                    <a:pt x="62611" y="0"/>
                  </a:cubicBezTo>
                  <a:lnTo>
                    <a:pt x="10820908" y="0"/>
                  </a:lnTo>
                  <a:cubicBezTo>
                    <a:pt x="10855451" y="0"/>
                    <a:pt x="10883519" y="28067"/>
                    <a:pt x="10883519" y="62611"/>
                  </a:cubicBezTo>
                  <a:lnTo>
                    <a:pt x="10883519" y="601980"/>
                  </a:lnTo>
                  <a:cubicBezTo>
                    <a:pt x="10883519" y="636524"/>
                    <a:pt x="10855451" y="664591"/>
                    <a:pt x="10820908" y="664591"/>
                  </a:cubicBezTo>
                  <a:lnTo>
                    <a:pt x="62611" y="664591"/>
                  </a:lnTo>
                  <a:cubicBezTo>
                    <a:pt x="28067" y="664591"/>
                    <a:pt x="0" y="636524"/>
                    <a:pt x="0" y="601980"/>
                  </a:cubicBezTo>
                  <a:close/>
                </a:path>
              </a:pathLst>
            </a:custGeom>
            <a:solidFill>
              <a:srgbClr val="141519"/>
            </a:solidFill>
          </p:spPr>
        </p:sp>
      </p:grpSp>
      <p:sp>
        <p:nvSpPr>
          <p:cNvPr name="TextBox 30" id="30"/>
          <p:cNvSpPr txBox="true"/>
          <p:nvPr/>
        </p:nvSpPr>
        <p:spPr>
          <a:xfrm rot="0">
            <a:off x="4870399" y="4045725"/>
            <a:ext cx="132854" cy="287337"/>
          </a:xfrm>
          <a:prstGeom prst="rect">
            <a:avLst/>
          </a:prstGeom>
        </p:spPr>
        <p:txBody>
          <a:bodyPr anchor="t" rtlCol="false" tIns="0" lIns="0" bIns="0" rIns="0">
            <a:spAutoFit/>
          </a:bodyPr>
          <a:lstStyle/>
          <a:p>
            <a:pPr algn="l">
              <a:lnSpc>
                <a:spcPts val="1937"/>
              </a:lnSpc>
            </a:pPr>
            <a:r>
              <a:rPr lang="en-US" b="true" sz="1937" spc="-30">
                <a:solidFill>
                  <a:srgbClr val="FFFFFF"/>
                </a:solidFill>
                <a:latin typeface="Arial MT Pro Bold"/>
                <a:ea typeface="Arial MT Pro Bold"/>
                <a:cs typeface="Arial MT Pro Bold"/>
                <a:sym typeface="Arial MT Pro Bold"/>
              </a:rPr>
              <a:t>3</a:t>
            </a:r>
          </a:p>
        </p:txBody>
      </p:sp>
      <p:sp>
        <p:nvSpPr>
          <p:cNvPr name="TextBox 31" id="31"/>
          <p:cNvSpPr txBox="true"/>
          <p:nvPr/>
        </p:nvSpPr>
        <p:spPr>
          <a:xfrm rot="0">
            <a:off x="1079744" y="4505154"/>
            <a:ext cx="2500114" cy="288925"/>
          </a:xfrm>
          <a:prstGeom prst="rect">
            <a:avLst/>
          </a:prstGeom>
        </p:spPr>
        <p:txBody>
          <a:bodyPr anchor="t" rtlCol="false" tIns="0" lIns="0" bIns="0" rIns="0">
            <a:spAutoFit/>
          </a:bodyPr>
          <a:lstStyle/>
          <a:p>
            <a:pPr algn="l">
              <a:lnSpc>
                <a:spcPts val="2000"/>
              </a:lnSpc>
            </a:pPr>
            <a:r>
              <a:rPr lang="en-US" sz="1625">
                <a:solidFill>
                  <a:srgbClr val="141519"/>
                </a:solidFill>
                <a:latin typeface="Arial MT Pro"/>
                <a:ea typeface="Arial MT Pro"/>
                <a:cs typeface="Arial MT Pro"/>
                <a:sym typeface="Arial MT Pro"/>
              </a:rPr>
              <a:t>Real Time Energy Tracking</a:t>
            </a:r>
          </a:p>
        </p:txBody>
      </p:sp>
      <p:sp>
        <p:nvSpPr>
          <p:cNvPr name="TextBox 32" id="32"/>
          <p:cNvSpPr txBox="true"/>
          <p:nvPr/>
        </p:nvSpPr>
        <p:spPr>
          <a:xfrm rot="0">
            <a:off x="1079744" y="4832433"/>
            <a:ext cx="7830445" cy="222250"/>
          </a:xfrm>
          <a:prstGeom prst="rect">
            <a:avLst/>
          </a:prstGeom>
        </p:spPr>
        <p:txBody>
          <a:bodyPr anchor="t" rtlCol="false" tIns="0" lIns="0" bIns="0" rIns="0">
            <a:spAutoFit/>
          </a:bodyPr>
          <a:lstStyle/>
          <a:p>
            <a:pPr algn="l">
              <a:lnSpc>
                <a:spcPts val="1625"/>
              </a:lnSpc>
            </a:pPr>
            <a:r>
              <a:rPr lang="en-US" sz="1250">
                <a:solidFill>
                  <a:srgbClr val="141519"/>
                </a:solidFill>
                <a:latin typeface="Arial MT Pro"/>
                <a:ea typeface="Arial MT Pro"/>
                <a:cs typeface="Arial MT Pro"/>
                <a:sym typeface="Arial MT Pro"/>
              </a:rPr>
              <a:t>Provides continuous monitoring and logging of energy usage data from connected devices.</a:t>
            </a:r>
          </a:p>
        </p:txBody>
      </p:sp>
      <p:sp>
        <p:nvSpPr>
          <p:cNvPr name="TextBox 33" id="33"/>
          <p:cNvSpPr txBox="true"/>
          <p:nvPr/>
        </p:nvSpPr>
        <p:spPr>
          <a:xfrm rot="0">
            <a:off x="1079744" y="5101361"/>
            <a:ext cx="7830445" cy="822325"/>
          </a:xfrm>
          <a:prstGeom prst="rect">
            <a:avLst/>
          </a:prstGeom>
        </p:spPr>
        <p:txBody>
          <a:bodyPr anchor="t" rtlCol="false" tIns="0" lIns="0" bIns="0" rIns="0">
            <a:spAutoFit/>
          </a:bodyPr>
          <a:lstStyle/>
          <a:p>
            <a:pPr algn="l" marL="188516" indent="-94258" lvl="1">
              <a:lnSpc>
                <a:spcPts val="1625"/>
              </a:lnSpc>
              <a:buFont typeface="Arial"/>
              <a:buChar char="•"/>
            </a:pPr>
            <a:r>
              <a:rPr lang="en-US" sz="1250">
                <a:solidFill>
                  <a:srgbClr val="141519"/>
                </a:solidFill>
                <a:latin typeface="Arial MT Pro"/>
                <a:ea typeface="Arial MT Pro"/>
                <a:cs typeface="Arial MT Pro"/>
                <a:sym typeface="Arial MT Pro"/>
              </a:rPr>
              <a:t>UsageLog</a:t>
            </a:r>
          </a:p>
          <a:p>
            <a:pPr algn="l" marL="188516" indent="-94258" lvl="1">
              <a:lnSpc>
                <a:spcPts val="1625"/>
              </a:lnSpc>
              <a:buFont typeface="Arial"/>
              <a:buChar char="•"/>
            </a:pPr>
            <a:r>
              <a:rPr lang="en-US" sz="1250">
                <a:solidFill>
                  <a:srgbClr val="141519"/>
                </a:solidFill>
                <a:latin typeface="Arial MT Pro"/>
                <a:ea typeface="Arial MT Pro"/>
                <a:cs typeface="Arial MT Pro"/>
                <a:sym typeface="Arial MT Pro"/>
              </a:rPr>
              <a:t>EnergyTrackingController</a:t>
            </a:r>
          </a:p>
          <a:p>
            <a:pPr algn="l" marL="188516" indent="-94258" lvl="1">
              <a:lnSpc>
                <a:spcPts val="1625"/>
              </a:lnSpc>
              <a:buFont typeface="Arial"/>
              <a:buChar char="•"/>
            </a:pPr>
            <a:r>
              <a:rPr lang="en-US" sz="1250">
                <a:solidFill>
                  <a:srgbClr val="141519"/>
                </a:solidFill>
                <a:latin typeface="Arial MT Pro"/>
                <a:ea typeface="Arial MT Pro"/>
                <a:cs typeface="Arial MT Pro"/>
                <a:sym typeface="Arial MT Pro"/>
              </a:rPr>
              <a:t>EnergyTrackingService</a:t>
            </a:r>
          </a:p>
          <a:p>
            <a:pPr algn="l" marL="188516" indent="-94258" lvl="1">
              <a:lnSpc>
                <a:spcPts val="1625"/>
              </a:lnSpc>
              <a:buFont typeface="Arial"/>
              <a:buChar char="•"/>
            </a:pPr>
            <a:r>
              <a:rPr lang="en-US" sz="1250">
                <a:solidFill>
                  <a:srgbClr val="141519"/>
                </a:solidFill>
                <a:latin typeface="Arial MT Pro"/>
                <a:ea typeface="Arial MT Pro"/>
                <a:cs typeface="Arial MT Pro"/>
                <a:sym typeface="Arial MT Pro"/>
              </a:rPr>
              <a:t>UsageRepository</a:t>
            </a:r>
          </a:p>
        </p:txBody>
      </p:sp>
      <p:grpSp>
        <p:nvGrpSpPr>
          <p:cNvPr name="Group 34" id="34"/>
          <p:cNvGrpSpPr/>
          <p:nvPr/>
        </p:nvGrpSpPr>
        <p:grpSpPr>
          <a:xfrm rot="0">
            <a:off x="9183138" y="3928443"/>
            <a:ext cx="8219780" cy="2349846"/>
            <a:chOff x="0" y="0"/>
            <a:chExt cx="10959706" cy="3133128"/>
          </a:xfrm>
        </p:grpSpPr>
        <p:sp>
          <p:nvSpPr>
            <p:cNvPr name="Freeform 35" id="35"/>
            <p:cNvSpPr/>
            <p:nvPr/>
          </p:nvSpPr>
          <p:spPr>
            <a:xfrm flipH="false" flipV="false" rot="0">
              <a:off x="12700" y="12700"/>
              <a:ext cx="10934319" cy="3107817"/>
            </a:xfrm>
            <a:custGeom>
              <a:avLst/>
              <a:gdLst/>
              <a:ahLst/>
              <a:cxnLst/>
              <a:rect r="r" b="b" t="t" l="l"/>
              <a:pathLst>
                <a:path h="3107817" w="10934319">
                  <a:moveTo>
                    <a:pt x="0" y="93091"/>
                  </a:moveTo>
                  <a:cubicBezTo>
                    <a:pt x="0" y="41656"/>
                    <a:pt x="41910" y="0"/>
                    <a:pt x="93599" y="0"/>
                  </a:cubicBezTo>
                  <a:lnTo>
                    <a:pt x="10840720" y="0"/>
                  </a:lnTo>
                  <a:cubicBezTo>
                    <a:pt x="10892409" y="0"/>
                    <a:pt x="10934319" y="41656"/>
                    <a:pt x="10934319" y="93091"/>
                  </a:cubicBezTo>
                  <a:lnTo>
                    <a:pt x="10934319" y="3014726"/>
                  </a:lnTo>
                  <a:cubicBezTo>
                    <a:pt x="10934319" y="3066161"/>
                    <a:pt x="10892409" y="3107817"/>
                    <a:pt x="10840720" y="3107817"/>
                  </a:cubicBezTo>
                  <a:lnTo>
                    <a:pt x="93599" y="3107817"/>
                  </a:lnTo>
                  <a:cubicBezTo>
                    <a:pt x="41910" y="3107690"/>
                    <a:pt x="0" y="3066034"/>
                    <a:pt x="0" y="3014726"/>
                  </a:cubicBezTo>
                  <a:close/>
                </a:path>
              </a:pathLst>
            </a:custGeom>
            <a:solidFill>
              <a:srgbClr val="FFFFFF">
                <a:alpha val="90196"/>
              </a:srgbClr>
            </a:solidFill>
          </p:spPr>
        </p:sp>
        <p:sp>
          <p:nvSpPr>
            <p:cNvPr name="Freeform 36" id="36"/>
            <p:cNvSpPr/>
            <p:nvPr/>
          </p:nvSpPr>
          <p:spPr>
            <a:xfrm flipH="false" flipV="false" rot="0">
              <a:off x="0" y="0"/>
              <a:ext cx="10959719" cy="3133217"/>
            </a:xfrm>
            <a:custGeom>
              <a:avLst/>
              <a:gdLst/>
              <a:ahLst/>
              <a:cxnLst/>
              <a:rect r="r" b="b" t="t" l="l"/>
              <a:pathLst>
                <a:path h="3133217" w="10959719">
                  <a:moveTo>
                    <a:pt x="0" y="105791"/>
                  </a:moveTo>
                  <a:cubicBezTo>
                    <a:pt x="0" y="47244"/>
                    <a:pt x="47625" y="0"/>
                    <a:pt x="106299" y="0"/>
                  </a:cubicBezTo>
                  <a:lnTo>
                    <a:pt x="10853420" y="0"/>
                  </a:lnTo>
                  <a:lnTo>
                    <a:pt x="10853420" y="12700"/>
                  </a:lnTo>
                  <a:lnTo>
                    <a:pt x="10853420" y="0"/>
                  </a:lnTo>
                  <a:cubicBezTo>
                    <a:pt x="10912094" y="0"/>
                    <a:pt x="10959719" y="47244"/>
                    <a:pt x="10959719" y="105791"/>
                  </a:cubicBezTo>
                  <a:lnTo>
                    <a:pt x="10947019" y="105791"/>
                  </a:lnTo>
                  <a:lnTo>
                    <a:pt x="10959719" y="105791"/>
                  </a:lnTo>
                  <a:lnTo>
                    <a:pt x="10959719" y="3027426"/>
                  </a:lnTo>
                  <a:lnTo>
                    <a:pt x="10947019" y="3027426"/>
                  </a:lnTo>
                  <a:lnTo>
                    <a:pt x="10959719" y="3027426"/>
                  </a:lnTo>
                  <a:cubicBezTo>
                    <a:pt x="10959719" y="3085846"/>
                    <a:pt x="10912094" y="3133217"/>
                    <a:pt x="10853420" y="3133217"/>
                  </a:cubicBezTo>
                  <a:lnTo>
                    <a:pt x="10853420" y="3120517"/>
                  </a:lnTo>
                  <a:lnTo>
                    <a:pt x="10853420" y="3133217"/>
                  </a:lnTo>
                  <a:lnTo>
                    <a:pt x="106299" y="3133217"/>
                  </a:lnTo>
                  <a:lnTo>
                    <a:pt x="106299" y="3120517"/>
                  </a:lnTo>
                  <a:lnTo>
                    <a:pt x="106299" y="3133217"/>
                  </a:lnTo>
                  <a:cubicBezTo>
                    <a:pt x="47625" y="3133217"/>
                    <a:pt x="0" y="3085973"/>
                    <a:pt x="0" y="3027426"/>
                  </a:cubicBezTo>
                  <a:lnTo>
                    <a:pt x="0" y="105791"/>
                  </a:lnTo>
                  <a:lnTo>
                    <a:pt x="12700" y="105791"/>
                  </a:lnTo>
                  <a:lnTo>
                    <a:pt x="0" y="105791"/>
                  </a:lnTo>
                  <a:moveTo>
                    <a:pt x="25400" y="105791"/>
                  </a:moveTo>
                  <a:lnTo>
                    <a:pt x="25400" y="3027426"/>
                  </a:lnTo>
                  <a:lnTo>
                    <a:pt x="12700" y="3027426"/>
                  </a:lnTo>
                  <a:lnTo>
                    <a:pt x="25400" y="3027426"/>
                  </a:lnTo>
                  <a:cubicBezTo>
                    <a:pt x="25400" y="3071749"/>
                    <a:pt x="61595" y="3107817"/>
                    <a:pt x="106299" y="3107817"/>
                  </a:cubicBezTo>
                  <a:lnTo>
                    <a:pt x="10853420" y="3107817"/>
                  </a:lnTo>
                  <a:cubicBezTo>
                    <a:pt x="10898124" y="3107817"/>
                    <a:pt x="10934319" y="3071749"/>
                    <a:pt x="10934319" y="3027426"/>
                  </a:cubicBezTo>
                  <a:lnTo>
                    <a:pt x="10934319" y="105791"/>
                  </a:lnTo>
                  <a:cubicBezTo>
                    <a:pt x="10934319" y="61468"/>
                    <a:pt x="10898124" y="25400"/>
                    <a:pt x="10853420" y="25400"/>
                  </a:cubicBezTo>
                  <a:lnTo>
                    <a:pt x="106299" y="25400"/>
                  </a:lnTo>
                  <a:lnTo>
                    <a:pt x="106299" y="12700"/>
                  </a:lnTo>
                  <a:lnTo>
                    <a:pt x="106299" y="25400"/>
                  </a:lnTo>
                  <a:cubicBezTo>
                    <a:pt x="61595" y="25400"/>
                    <a:pt x="25400" y="61468"/>
                    <a:pt x="25400" y="105791"/>
                  </a:cubicBezTo>
                  <a:close/>
                </a:path>
              </a:pathLst>
            </a:custGeom>
            <a:solidFill>
              <a:srgbClr val="C8CACF"/>
            </a:solidFill>
          </p:spPr>
        </p:sp>
      </p:grpSp>
      <p:grpSp>
        <p:nvGrpSpPr>
          <p:cNvPr name="Group 37" id="37"/>
          <p:cNvGrpSpPr/>
          <p:nvPr/>
        </p:nvGrpSpPr>
        <p:grpSpPr>
          <a:xfrm rot="0">
            <a:off x="9211713" y="3957018"/>
            <a:ext cx="8162630" cy="498424"/>
            <a:chOff x="0" y="0"/>
            <a:chExt cx="10883506" cy="664566"/>
          </a:xfrm>
        </p:grpSpPr>
        <p:sp>
          <p:nvSpPr>
            <p:cNvPr name="Freeform 38" id="38"/>
            <p:cNvSpPr/>
            <p:nvPr/>
          </p:nvSpPr>
          <p:spPr>
            <a:xfrm flipH="false" flipV="false" rot="0">
              <a:off x="0" y="0"/>
              <a:ext cx="10883519" cy="664591"/>
            </a:xfrm>
            <a:custGeom>
              <a:avLst/>
              <a:gdLst/>
              <a:ahLst/>
              <a:cxnLst/>
              <a:rect r="r" b="b" t="t" l="l"/>
              <a:pathLst>
                <a:path h="664591" w="10883519">
                  <a:moveTo>
                    <a:pt x="0" y="62611"/>
                  </a:moveTo>
                  <a:cubicBezTo>
                    <a:pt x="0" y="28067"/>
                    <a:pt x="28067" y="0"/>
                    <a:pt x="62611" y="0"/>
                  </a:cubicBezTo>
                  <a:lnTo>
                    <a:pt x="10820908" y="0"/>
                  </a:lnTo>
                  <a:cubicBezTo>
                    <a:pt x="10855451" y="0"/>
                    <a:pt x="10883519" y="28067"/>
                    <a:pt x="10883519" y="62611"/>
                  </a:cubicBezTo>
                  <a:lnTo>
                    <a:pt x="10883519" y="601980"/>
                  </a:lnTo>
                  <a:cubicBezTo>
                    <a:pt x="10883519" y="636524"/>
                    <a:pt x="10855451" y="664591"/>
                    <a:pt x="10820908" y="664591"/>
                  </a:cubicBezTo>
                  <a:lnTo>
                    <a:pt x="62611" y="664591"/>
                  </a:lnTo>
                  <a:cubicBezTo>
                    <a:pt x="28067" y="664591"/>
                    <a:pt x="0" y="636524"/>
                    <a:pt x="0" y="601980"/>
                  </a:cubicBezTo>
                  <a:close/>
                </a:path>
              </a:pathLst>
            </a:custGeom>
            <a:solidFill>
              <a:srgbClr val="141519"/>
            </a:solidFill>
          </p:spPr>
        </p:sp>
      </p:grpSp>
      <p:sp>
        <p:nvSpPr>
          <p:cNvPr name="TextBox 39" id="39"/>
          <p:cNvSpPr txBox="true"/>
          <p:nvPr/>
        </p:nvSpPr>
        <p:spPr>
          <a:xfrm rot="0">
            <a:off x="13168465" y="4045725"/>
            <a:ext cx="132854" cy="287337"/>
          </a:xfrm>
          <a:prstGeom prst="rect">
            <a:avLst/>
          </a:prstGeom>
        </p:spPr>
        <p:txBody>
          <a:bodyPr anchor="t" rtlCol="false" tIns="0" lIns="0" bIns="0" rIns="0">
            <a:spAutoFit/>
          </a:bodyPr>
          <a:lstStyle/>
          <a:p>
            <a:pPr algn="l">
              <a:lnSpc>
                <a:spcPts val="1937"/>
              </a:lnSpc>
            </a:pPr>
            <a:r>
              <a:rPr lang="en-US" b="true" sz="1937" spc="-30">
                <a:solidFill>
                  <a:srgbClr val="FFFFFF"/>
                </a:solidFill>
                <a:latin typeface="Arial MT Pro Bold"/>
                <a:ea typeface="Arial MT Pro Bold"/>
                <a:cs typeface="Arial MT Pro Bold"/>
                <a:sym typeface="Arial MT Pro Bold"/>
              </a:rPr>
              <a:t>4</a:t>
            </a:r>
          </a:p>
        </p:txBody>
      </p:sp>
      <p:sp>
        <p:nvSpPr>
          <p:cNvPr name="TextBox 40" id="40"/>
          <p:cNvSpPr txBox="true"/>
          <p:nvPr/>
        </p:nvSpPr>
        <p:spPr>
          <a:xfrm rot="0">
            <a:off x="9377810" y="4505154"/>
            <a:ext cx="1892498" cy="288925"/>
          </a:xfrm>
          <a:prstGeom prst="rect">
            <a:avLst/>
          </a:prstGeom>
        </p:spPr>
        <p:txBody>
          <a:bodyPr anchor="t" rtlCol="false" tIns="0" lIns="0" bIns="0" rIns="0">
            <a:spAutoFit/>
          </a:bodyPr>
          <a:lstStyle/>
          <a:p>
            <a:pPr algn="l">
              <a:lnSpc>
                <a:spcPts val="2000"/>
              </a:lnSpc>
            </a:pPr>
            <a:r>
              <a:rPr lang="en-US" sz="1625">
                <a:solidFill>
                  <a:srgbClr val="141519"/>
                </a:solidFill>
                <a:latin typeface="Arial MT Pro"/>
                <a:ea typeface="Arial MT Pro"/>
                <a:cs typeface="Arial MT Pro"/>
                <a:sym typeface="Arial MT Pro"/>
              </a:rPr>
              <a:t>Analytics Dashboard</a:t>
            </a:r>
          </a:p>
        </p:txBody>
      </p:sp>
      <p:sp>
        <p:nvSpPr>
          <p:cNvPr name="TextBox 41" id="41"/>
          <p:cNvSpPr txBox="true"/>
          <p:nvPr/>
        </p:nvSpPr>
        <p:spPr>
          <a:xfrm rot="0">
            <a:off x="9377810" y="4832433"/>
            <a:ext cx="7830445" cy="222250"/>
          </a:xfrm>
          <a:prstGeom prst="rect">
            <a:avLst/>
          </a:prstGeom>
        </p:spPr>
        <p:txBody>
          <a:bodyPr anchor="t" rtlCol="false" tIns="0" lIns="0" bIns="0" rIns="0">
            <a:spAutoFit/>
          </a:bodyPr>
          <a:lstStyle/>
          <a:p>
            <a:pPr algn="l">
              <a:lnSpc>
                <a:spcPts val="1625"/>
              </a:lnSpc>
            </a:pPr>
            <a:r>
              <a:rPr lang="en-US" sz="1250">
                <a:solidFill>
                  <a:srgbClr val="141519"/>
                </a:solidFill>
                <a:latin typeface="Arial MT Pro"/>
                <a:ea typeface="Arial MT Pro"/>
                <a:cs typeface="Arial MT Pro"/>
                <a:sym typeface="Arial MT Pro"/>
              </a:rPr>
              <a:t>Presents energy consumption patterns and system performance through interactive visualizations.</a:t>
            </a:r>
          </a:p>
        </p:txBody>
      </p:sp>
      <p:sp>
        <p:nvSpPr>
          <p:cNvPr name="TextBox 42" id="42"/>
          <p:cNvSpPr txBox="true"/>
          <p:nvPr/>
        </p:nvSpPr>
        <p:spPr>
          <a:xfrm rot="0">
            <a:off x="9377810" y="5101361"/>
            <a:ext cx="7830445" cy="822325"/>
          </a:xfrm>
          <a:prstGeom prst="rect">
            <a:avLst/>
          </a:prstGeom>
        </p:spPr>
        <p:txBody>
          <a:bodyPr anchor="t" rtlCol="false" tIns="0" lIns="0" bIns="0" rIns="0">
            <a:spAutoFit/>
          </a:bodyPr>
          <a:lstStyle/>
          <a:p>
            <a:pPr algn="l" marL="188516" indent="-94258" lvl="1">
              <a:lnSpc>
                <a:spcPts val="1625"/>
              </a:lnSpc>
              <a:buFont typeface="Arial"/>
              <a:buChar char="•"/>
            </a:pPr>
            <a:r>
              <a:rPr lang="en-US" sz="1250">
                <a:solidFill>
                  <a:srgbClr val="141519"/>
                </a:solidFill>
                <a:latin typeface="Arial MT Pro"/>
                <a:ea typeface="Arial MT Pro"/>
                <a:cs typeface="Arial MT Pro"/>
                <a:sym typeface="Arial MT Pro"/>
              </a:rPr>
              <a:t>AnalyticsController</a:t>
            </a:r>
          </a:p>
          <a:p>
            <a:pPr algn="l" marL="188516" indent="-94258" lvl="1">
              <a:lnSpc>
                <a:spcPts val="1625"/>
              </a:lnSpc>
              <a:buFont typeface="Arial"/>
              <a:buChar char="•"/>
            </a:pPr>
            <a:r>
              <a:rPr lang="en-US" sz="1250">
                <a:solidFill>
                  <a:srgbClr val="141519"/>
                </a:solidFill>
                <a:latin typeface="Arial MT Pro"/>
                <a:ea typeface="Arial MT Pro"/>
                <a:cs typeface="Arial MT Pro"/>
                <a:sym typeface="Arial MT Pro"/>
              </a:rPr>
              <a:t>AnalyticsService</a:t>
            </a:r>
          </a:p>
          <a:p>
            <a:pPr algn="l" marL="188516" indent="-94258" lvl="1">
              <a:lnSpc>
                <a:spcPts val="1625"/>
              </a:lnSpc>
              <a:buFont typeface="Arial"/>
              <a:buChar char="•"/>
            </a:pPr>
            <a:r>
              <a:rPr lang="en-US" sz="1250">
                <a:solidFill>
                  <a:srgbClr val="141519"/>
                </a:solidFill>
                <a:latin typeface="Arial MT Pro"/>
                <a:ea typeface="Arial MT Pro"/>
                <a:cs typeface="Arial MT Pro"/>
                <a:sym typeface="Arial MT Pro"/>
              </a:rPr>
              <a:t>ChartGenerator</a:t>
            </a:r>
          </a:p>
          <a:p>
            <a:pPr algn="l" marL="188516" indent="-94258" lvl="1">
              <a:lnSpc>
                <a:spcPts val="1625"/>
              </a:lnSpc>
              <a:buFont typeface="Arial"/>
              <a:buChar char="•"/>
            </a:pPr>
            <a:r>
              <a:rPr lang="en-US" sz="1250">
                <a:solidFill>
                  <a:srgbClr val="141519"/>
                </a:solidFill>
                <a:latin typeface="Arial MT Pro"/>
                <a:ea typeface="Arial MT Pro"/>
                <a:cs typeface="Arial MT Pro"/>
                <a:sym typeface="Arial MT Pro"/>
              </a:rPr>
              <a:t>AnalyticsRepository</a:t>
            </a:r>
          </a:p>
        </p:txBody>
      </p:sp>
      <p:grpSp>
        <p:nvGrpSpPr>
          <p:cNvPr name="Group 43" id="43"/>
          <p:cNvGrpSpPr/>
          <p:nvPr/>
        </p:nvGrpSpPr>
        <p:grpSpPr>
          <a:xfrm rot="0">
            <a:off x="885082" y="6154664"/>
            <a:ext cx="8219780" cy="2594372"/>
            <a:chOff x="0" y="0"/>
            <a:chExt cx="10959706" cy="3459162"/>
          </a:xfrm>
        </p:grpSpPr>
        <p:sp>
          <p:nvSpPr>
            <p:cNvPr name="Freeform 44" id="44"/>
            <p:cNvSpPr/>
            <p:nvPr/>
          </p:nvSpPr>
          <p:spPr>
            <a:xfrm flipH="false" flipV="false" rot="0">
              <a:off x="12700" y="12700"/>
              <a:ext cx="10934192" cy="3433826"/>
            </a:xfrm>
            <a:custGeom>
              <a:avLst/>
              <a:gdLst/>
              <a:ahLst/>
              <a:cxnLst/>
              <a:rect r="r" b="b" t="t" l="l"/>
              <a:pathLst>
                <a:path h="3433826" w="10934192">
                  <a:moveTo>
                    <a:pt x="0" y="93091"/>
                  </a:moveTo>
                  <a:cubicBezTo>
                    <a:pt x="0" y="41656"/>
                    <a:pt x="41910" y="0"/>
                    <a:pt x="93472" y="0"/>
                  </a:cubicBezTo>
                  <a:lnTo>
                    <a:pt x="10840720" y="0"/>
                  </a:lnTo>
                  <a:cubicBezTo>
                    <a:pt x="10892409" y="0"/>
                    <a:pt x="10934192" y="41656"/>
                    <a:pt x="10934192" y="93091"/>
                  </a:cubicBezTo>
                  <a:lnTo>
                    <a:pt x="10934192" y="3340735"/>
                  </a:lnTo>
                  <a:cubicBezTo>
                    <a:pt x="10934192" y="3392170"/>
                    <a:pt x="10892282" y="3433826"/>
                    <a:pt x="10840720" y="3433826"/>
                  </a:cubicBezTo>
                  <a:lnTo>
                    <a:pt x="93472" y="3433826"/>
                  </a:lnTo>
                  <a:cubicBezTo>
                    <a:pt x="41783" y="3433826"/>
                    <a:pt x="0" y="3392170"/>
                    <a:pt x="0" y="3340735"/>
                  </a:cubicBezTo>
                  <a:close/>
                </a:path>
              </a:pathLst>
            </a:custGeom>
            <a:solidFill>
              <a:srgbClr val="FFFFFF">
                <a:alpha val="90196"/>
              </a:srgbClr>
            </a:solidFill>
          </p:spPr>
        </p:sp>
        <p:sp>
          <p:nvSpPr>
            <p:cNvPr name="Freeform 45" id="45"/>
            <p:cNvSpPr/>
            <p:nvPr/>
          </p:nvSpPr>
          <p:spPr>
            <a:xfrm flipH="false" flipV="false" rot="0">
              <a:off x="0" y="0"/>
              <a:ext cx="10959592" cy="3459226"/>
            </a:xfrm>
            <a:custGeom>
              <a:avLst/>
              <a:gdLst/>
              <a:ahLst/>
              <a:cxnLst/>
              <a:rect r="r" b="b" t="t" l="l"/>
              <a:pathLst>
                <a:path h="3459226" w="10959592">
                  <a:moveTo>
                    <a:pt x="0" y="105791"/>
                  </a:moveTo>
                  <a:cubicBezTo>
                    <a:pt x="0" y="47244"/>
                    <a:pt x="47625" y="0"/>
                    <a:pt x="106172" y="0"/>
                  </a:cubicBezTo>
                  <a:lnTo>
                    <a:pt x="10853420" y="0"/>
                  </a:lnTo>
                  <a:lnTo>
                    <a:pt x="10853420" y="12700"/>
                  </a:lnTo>
                  <a:lnTo>
                    <a:pt x="10853420" y="0"/>
                  </a:lnTo>
                  <a:cubicBezTo>
                    <a:pt x="10911967" y="0"/>
                    <a:pt x="10959592" y="47244"/>
                    <a:pt x="10959592" y="105791"/>
                  </a:cubicBezTo>
                  <a:lnTo>
                    <a:pt x="10946892" y="105791"/>
                  </a:lnTo>
                  <a:lnTo>
                    <a:pt x="10959592" y="105791"/>
                  </a:lnTo>
                  <a:lnTo>
                    <a:pt x="10959592" y="3353435"/>
                  </a:lnTo>
                  <a:lnTo>
                    <a:pt x="10946892" y="3353435"/>
                  </a:lnTo>
                  <a:lnTo>
                    <a:pt x="10959592" y="3353435"/>
                  </a:lnTo>
                  <a:cubicBezTo>
                    <a:pt x="10959592" y="3411855"/>
                    <a:pt x="10911967" y="3459226"/>
                    <a:pt x="10853420" y="3459226"/>
                  </a:cubicBezTo>
                  <a:lnTo>
                    <a:pt x="10853420" y="3446526"/>
                  </a:lnTo>
                  <a:lnTo>
                    <a:pt x="10853420" y="3459226"/>
                  </a:lnTo>
                  <a:lnTo>
                    <a:pt x="106172" y="3459226"/>
                  </a:lnTo>
                  <a:lnTo>
                    <a:pt x="106172" y="3446526"/>
                  </a:lnTo>
                  <a:lnTo>
                    <a:pt x="106172" y="3459226"/>
                  </a:lnTo>
                  <a:cubicBezTo>
                    <a:pt x="47625" y="3459226"/>
                    <a:pt x="0" y="3411982"/>
                    <a:pt x="0" y="3353435"/>
                  </a:cubicBezTo>
                  <a:lnTo>
                    <a:pt x="0" y="105791"/>
                  </a:lnTo>
                  <a:lnTo>
                    <a:pt x="12700" y="105791"/>
                  </a:lnTo>
                  <a:lnTo>
                    <a:pt x="0" y="105791"/>
                  </a:lnTo>
                  <a:moveTo>
                    <a:pt x="25400" y="105791"/>
                  </a:moveTo>
                  <a:lnTo>
                    <a:pt x="25400" y="3353435"/>
                  </a:lnTo>
                  <a:lnTo>
                    <a:pt x="12700" y="3353435"/>
                  </a:lnTo>
                  <a:lnTo>
                    <a:pt x="25400" y="3353435"/>
                  </a:lnTo>
                  <a:cubicBezTo>
                    <a:pt x="25400" y="3397758"/>
                    <a:pt x="61468" y="3433826"/>
                    <a:pt x="106172" y="3433826"/>
                  </a:cubicBezTo>
                  <a:lnTo>
                    <a:pt x="10853420" y="3433826"/>
                  </a:lnTo>
                  <a:cubicBezTo>
                    <a:pt x="10898124" y="3433826"/>
                    <a:pt x="10934192" y="3397758"/>
                    <a:pt x="10934192" y="3353435"/>
                  </a:cubicBezTo>
                  <a:lnTo>
                    <a:pt x="10934192" y="105791"/>
                  </a:lnTo>
                  <a:cubicBezTo>
                    <a:pt x="10934192" y="61468"/>
                    <a:pt x="10898124" y="25400"/>
                    <a:pt x="10853420" y="25400"/>
                  </a:cubicBezTo>
                  <a:lnTo>
                    <a:pt x="106172" y="25400"/>
                  </a:lnTo>
                  <a:lnTo>
                    <a:pt x="106172" y="12700"/>
                  </a:lnTo>
                  <a:lnTo>
                    <a:pt x="106172" y="25400"/>
                  </a:lnTo>
                  <a:cubicBezTo>
                    <a:pt x="61468" y="25400"/>
                    <a:pt x="25400" y="61468"/>
                    <a:pt x="25400" y="105791"/>
                  </a:cubicBezTo>
                  <a:close/>
                </a:path>
              </a:pathLst>
            </a:custGeom>
            <a:solidFill>
              <a:srgbClr val="C8CACF"/>
            </a:solidFill>
          </p:spPr>
        </p:sp>
      </p:grpSp>
      <p:grpSp>
        <p:nvGrpSpPr>
          <p:cNvPr name="Group 46" id="46"/>
          <p:cNvGrpSpPr/>
          <p:nvPr/>
        </p:nvGrpSpPr>
        <p:grpSpPr>
          <a:xfrm rot="0">
            <a:off x="913657" y="6183239"/>
            <a:ext cx="8162630" cy="498424"/>
            <a:chOff x="0" y="0"/>
            <a:chExt cx="10883506" cy="664566"/>
          </a:xfrm>
        </p:grpSpPr>
        <p:sp>
          <p:nvSpPr>
            <p:cNvPr name="Freeform 47" id="47"/>
            <p:cNvSpPr/>
            <p:nvPr/>
          </p:nvSpPr>
          <p:spPr>
            <a:xfrm flipH="false" flipV="false" rot="0">
              <a:off x="0" y="0"/>
              <a:ext cx="10883519" cy="664591"/>
            </a:xfrm>
            <a:custGeom>
              <a:avLst/>
              <a:gdLst/>
              <a:ahLst/>
              <a:cxnLst/>
              <a:rect r="r" b="b" t="t" l="l"/>
              <a:pathLst>
                <a:path h="664591" w="10883519">
                  <a:moveTo>
                    <a:pt x="0" y="62611"/>
                  </a:moveTo>
                  <a:cubicBezTo>
                    <a:pt x="0" y="28067"/>
                    <a:pt x="28067" y="0"/>
                    <a:pt x="62611" y="0"/>
                  </a:cubicBezTo>
                  <a:lnTo>
                    <a:pt x="10820908" y="0"/>
                  </a:lnTo>
                  <a:cubicBezTo>
                    <a:pt x="10855451" y="0"/>
                    <a:pt x="10883519" y="28067"/>
                    <a:pt x="10883519" y="62611"/>
                  </a:cubicBezTo>
                  <a:lnTo>
                    <a:pt x="10883519" y="601980"/>
                  </a:lnTo>
                  <a:cubicBezTo>
                    <a:pt x="10883519" y="636524"/>
                    <a:pt x="10855451" y="664591"/>
                    <a:pt x="10820908" y="664591"/>
                  </a:cubicBezTo>
                  <a:lnTo>
                    <a:pt x="62611" y="664591"/>
                  </a:lnTo>
                  <a:cubicBezTo>
                    <a:pt x="28067" y="664591"/>
                    <a:pt x="0" y="636524"/>
                    <a:pt x="0" y="601980"/>
                  </a:cubicBezTo>
                  <a:close/>
                </a:path>
              </a:pathLst>
            </a:custGeom>
            <a:solidFill>
              <a:srgbClr val="141519"/>
            </a:solidFill>
          </p:spPr>
        </p:sp>
      </p:grpSp>
      <p:sp>
        <p:nvSpPr>
          <p:cNvPr name="TextBox 48" id="48"/>
          <p:cNvSpPr txBox="true"/>
          <p:nvPr/>
        </p:nvSpPr>
        <p:spPr>
          <a:xfrm rot="0">
            <a:off x="4870399" y="6271936"/>
            <a:ext cx="132854" cy="287337"/>
          </a:xfrm>
          <a:prstGeom prst="rect">
            <a:avLst/>
          </a:prstGeom>
        </p:spPr>
        <p:txBody>
          <a:bodyPr anchor="t" rtlCol="false" tIns="0" lIns="0" bIns="0" rIns="0">
            <a:spAutoFit/>
          </a:bodyPr>
          <a:lstStyle/>
          <a:p>
            <a:pPr algn="l">
              <a:lnSpc>
                <a:spcPts val="1937"/>
              </a:lnSpc>
            </a:pPr>
            <a:r>
              <a:rPr lang="en-US" b="true" sz="1937" spc="-30">
                <a:solidFill>
                  <a:srgbClr val="FFFFFF"/>
                </a:solidFill>
                <a:latin typeface="Arial MT Pro Bold"/>
                <a:ea typeface="Arial MT Pro Bold"/>
                <a:cs typeface="Arial MT Pro Bold"/>
                <a:sym typeface="Arial MT Pro Bold"/>
              </a:rPr>
              <a:t>5</a:t>
            </a:r>
          </a:p>
        </p:txBody>
      </p:sp>
      <p:sp>
        <p:nvSpPr>
          <p:cNvPr name="TextBox 49" id="49"/>
          <p:cNvSpPr txBox="true"/>
          <p:nvPr/>
        </p:nvSpPr>
        <p:spPr>
          <a:xfrm rot="0">
            <a:off x="1079744" y="6731365"/>
            <a:ext cx="2523827" cy="288925"/>
          </a:xfrm>
          <a:prstGeom prst="rect">
            <a:avLst/>
          </a:prstGeom>
        </p:spPr>
        <p:txBody>
          <a:bodyPr anchor="t" rtlCol="false" tIns="0" lIns="0" bIns="0" rIns="0">
            <a:spAutoFit/>
          </a:bodyPr>
          <a:lstStyle/>
          <a:p>
            <a:pPr algn="l">
              <a:lnSpc>
                <a:spcPts val="2000"/>
              </a:lnSpc>
            </a:pPr>
            <a:r>
              <a:rPr lang="en-US" sz="1625">
                <a:solidFill>
                  <a:srgbClr val="141519"/>
                </a:solidFill>
                <a:latin typeface="Arial MT Pro"/>
                <a:ea typeface="Arial MT Pro"/>
                <a:cs typeface="Arial MT Pro"/>
                <a:sym typeface="Arial MT Pro"/>
              </a:rPr>
              <a:t>Scheduling and Automation</a:t>
            </a:r>
          </a:p>
        </p:txBody>
      </p:sp>
      <p:sp>
        <p:nvSpPr>
          <p:cNvPr name="TextBox 50" id="50"/>
          <p:cNvSpPr txBox="true"/>
          <p:nvPr/>
        </p:nvSpPr>
        <p:spPr>
          <a:xfrm rot="0">
            <a:off x="1079744" y="7058644"/>
            <a:ext cx="7830445" cy="222250"/>
          </a:xfrm>
          <a:prstGeom prst="rect">
            <a:avLst/>
          </a:prstGeom>
        </p:spPr>
        <p:txBody>
          <a:bodyPr anchor="t" rtlCol="false" tIns="0" lIns="0" bIns="0" rIns="0">
            <a:spAutoFit/>
          </a:bodyPr>
          <a:lstStyle/>
          <a:p>
            <a:pPr algn="l">
              <a:lnSpc>
                <a:spcPts val="1625"/>
              </a:lnSpc>
            </a:pPr>
            <a:r>
              <a:rPr lang="en-US" sz="1250">
                <a:solidFill>
                  <a:srgbClr val="141519"/>
                </a:solidFill>
                <a:latin typeface="Arial MT Pro"/>
                <a:ea typeface="Arial MT Pro"/>
                <a:cs typeface="Arial MT Pro"/>
                <a:sym typeface="Arial MT Pro"/>
              </a:rPr>
              <a:t>Enables users to set schedules and create automated rules for device operation to optimize energy use.</a:t>
            </a:r>
          </a:p>
        </p:txBody>
      </p:sp>
      <p:sp>
        <p:nvSpPr>
          <p:cNvPr name="TextBox 51" id="51"/>
          <p:cNvSpPr txBox="true"/>
          <p:nvPr/>
        </p:nvSpPr>
        <p:spPr>
          <a:xfrm rot="0">
            <a:off x="1079744" y="7327573"/>
            <a:ext cx="7830445" cy="1022350"/>
          </a:xfrm>
          <a:prstGeom prst="rect">
            <a:avLst/>
          </a:prstGeom>
        </p:spPr>
        <p:txBody>
          <a:bodyPr anchor="t" rtlCol="false" tIns="0" lIns="0" bIns="0" rIns="0">
            <a:spAutoFit/>
          </a:bodyPr>
          <a:lstStyle/>
          <a:p>
            <a:pPr algn="l" marL="188516" indent="-94258" lvl="1">
              <a:lnSpc>
                <a:spcPts val="1625"/>
              </a:lnSpc>
              <a:buFont typeface="Arial"/>
              <a:buChar char="•"/>
            </a:pPr>
            <a:r>
              <a:rPr lang="en-US" sz="1250">
                <a:solidFill>
                  <a:srgbClr val="141519"/>
                </a:solidFill>
                <a:latin typeface="Arial MT Pro"/>
                <a:ea typeface="Arial MT Pro"/>
                <a:cs typeface="Arial MT Pro"/>
                <a:sym typeface="Arial MT Pro"/>
              </a:rPr>
              <a:t>Schedule</a:t>
            </a:r>
          </a:p>
          <a:p>
            <a:pPr algn="l" marL="188516" indent="-94258" lvl="1">
              <a:lnSpc>
                <a:spcPts val="1625"/>
              </a:lnSpc>
              <a:buFont typeface="Arial"/>
              <a:buChar char="•"/>
            </a:pPr>
            <a:r>
              <a:rPr lang="en-US" sz="1250">
                <a:solidFill>
                  <a:srgbClr val="141519"/>
                </a:solidFill>
                <a:latin typeface="Arial MT Pro"/>
                <a:ea typeface="Arial MT Pro"/>
                <a:cs typeface="Arial MT Pro"/>
                <a:sym typeface="Arial MT Pro"/>
              </a:rPr>
              <a:t>SchedulerController</a:t>
            </a:r>
          </a:p>
          <a:p>
            <a:pPr algn="l" marL="188516" indent="-94258" lvl="1">
              <a:lnSpc>
                <a:spcPts val="1625"/>
              </a:lnSpc>
              <a:buFont typeface="Arial"/>
              <a:buChar char="•"/>
            </a:pPr>
            <a:r>
              <a:rPr lang="en-US" sz="1250">
                <a:solidFill>
                  <a:srgbClr val="141519"/>
                </a:solidFill>
                <a:latin typeface="Arial MT Pro"/>
                <a:ea typeface="Arial MT Pro"/>
                <a:cs typeface="Arial MT Pro"/>
                <a:sym typeface="Arial MT Pro"/>
              </a:rPr>
              <a:t>SchedulerService</a:t>
            </a:r>
          </a:p>
          <a:p>
            <a:pPr algn="l" marL="188516" indent="-94258" lvl="1">
              <a:lnSpc>
                <a:spcPts val="1625"/>
              </a:lnSpc>
              <a:buFont typeface="Arial"/>
              <a:buChar char="•"/>
            </a:pPr>
            <a:r>
              <a:rPr lang="en-US" sz="1250">
                <a:solidFill>
                  <a:srgbClr val="141519"/>
                </a:solidFill>
                <a:latin typeface="Arial MT Pro"/>
                <a:ea typeface="Arial MT Pro"/>
                <a:cs typeface="Arial MT Pro"/>
                <a:sym typeface="Arial MT Pro"/>
              </a:rPr>
              <a:t>NotificationService</a:t>
            </a:r>
          </a:p>
          <a:p>
            <a:pPr algn="l" marL="188516" indent="-94258" lvl="1">
              <a:lnSpc>
                <a:spcPts val="1625"/>
              </a:lnSpc>
              <a:buFont typeface="Arial"/>
              <a:buChar char="•"/>
            </a:pPr>
            <a:r>
              <a:rPr lang="en-US" sz="1250">
                <a:solidFill>
                  <a:srgbClr val="141519"/>
                </a:solidFill>
                <a:latin typeface="Arial MT Pro"/>
                <a:ea typeface="Arial MT Pro"/>
                <a:cs typeface="Arial MT Pro"/>
                <a:sym typeface="Arial MT Pro"/>
              </a:rPr>
              <a:t>SchedulerRepository</a:t>
            </a:r>
          </a:p>
        </p:txBody>
      </p:sp>
      <p:grpSp>
        <p:nvGrpSpPr>
          <p:cNvPr name="Group 52" id="52"/>
          <p:cNvGrpSpPr/>
          <p:nvPr/>
        </p:nvGrpSpPr>
        <p:grpSpPr>
          <a:xfrm rot="0">
            <a:off x="9183138" y="6154664"/>
            <a:ext cx="8219780" cy="2594372"/>
            <a:chOff x="0" y="0"/>
            <a:chExt cx="10959706" cy="3459162"/>
          </a:xfrm>
        </p:grpSpPr>
        <p:sp>
          <p:nvSpPr>
            <p:cNvPr name="Freeform 53" id="53"/>
            <p:cNvSpPr/>
            <p:nvPr/>
          </p:nvSpPr>
          <p:spPr>
            <a:xfrm flipH="false" flipV="false" rot="0">
              <a:off x="12700" y="12700"/>
              <a:ext cx="10934192" cy="3433826"/>
            </a:xfrm>
            <a:custGeom>
              <a:avLst/>
              <a:gdLst/>
              <a:ahLst/>
              <a:cxnLst/>
              <a:rect r="r" b="b" t="t" l="l"/>
              <a:pathLst>
                <a:path h="3433826" w="10934192">
                  <a:moveTo>
                    <a:pt x="0" y="93091"/>
                  </a:moveTo>
                  <a:cubicBezTo>
                    <a:pt x="0" y="41656"/>
                    <a:pt x="41910" y="0"/>
                    <a:pt x="93472" y="0"/>
                  </a:cubicBezTo>
                  <a:lnTo>
                    <a:pt x="10840720" y="0"/>
                  </a:lnTo>
                  <a:cubicBezTo>
                    <a:pt x="10892409" y="0"/>
                    <a:pt x="10934192" y="41656"/>
                    <a:pt x="10934192" y="93091"/>
                  </a:cubicBezTo>
                  <a:lnTo>
                    <a:pt x="10934192" y="3340735"/>
                  </a:lnTo>
                  <a:cubicBezTo>
                    <a:pt x="10934192" y="3392170"/>
                    <a:pt x="10892282" y="3433826"/>
                    <a:pt x="10840720" y="3433826"/>
                  </a:cubicBezTo>
                  <a:lnTo>
                    <a:pt x="93472" y="3433826"/>
                  </a:lnTo>
                  <a:cubicBezTo>
                    <a:pt x="41783" y="3433826"/>
                    <a:pt x="0" y="3392170"/>
                    <a:pt x="0" y="3340735"/>
                  </a:cubicBezTo>
                  <a:close/>
                </a:path>
              </a:pathLst>
            </a:custGeom>
            <a:solidFill>
              <a:srgbClr val="FFFFFF">
                <a:alpha val="90196"/>
              </a:srgbClr>
            </a:solidFill>
          </p:spPr>
        </p:sp>
        <p:sp>
          <p:nvSpPr>
            <p:cNvPr name="Freeform 54" id="54"/>
            <p:cNvSpPr/>
            <p:nvPr/>
          </p:nvSpPr>
          <p:spPr>
            <a:xfrm flipH="false" flipV="false" rot="0">
              <a:off x="0" y="0"/>
              <a:ext cx="10959592" cy="3459226"/>
            </a:xfrm>
            <a:custGeom>
              <a:avLst/>
              <a:gdLst/>
              <a:ahLst/>
              <a:cxnLst/>
              <a:rect r="r" b="b" t="t" l="l"/>
              <a:pathLst>
                <a:path h="3459226" w="10959592">
                  <a:moveTo>
                    <a:pt x="0" y="105791"/>
                  </a:moveTo>
                  <a:cubicBezTo>
                    <a:pt x="0" y="47244"/>
                    <a:pt x="47625" y="0"/>
                    <a:pt x="106172" y="0"/>
                  </a:cubicBezTo>
                  <a:lnTo>
                    <a:pt x="10853420" y="0"/>
                  </a:lnTo>
                  <a:lnTo>
                    <a:pt x="10853420" y="12700"/>
                  </a:lnTo>
                  <a:lnTo>
                    <a:pt x="10853420" y="0"/>
                  </a:lnTo>
                  <a:cubicBezTo>
                    <a:pt x="10911967" y="0"/>
                    <a:pt x="10959592" y="47244"/>
                    <a:pt x="10959592" y="105791"/>
                  </a:cubicBezTo>
                  <a:lnTo>
                    <a:pt x="10946892" y="105791"/>
                  </a:lnTo>
                  <a:lnTo>
                    <a:pt x="10959592" y="105791"/>
                  </a:lnTo>
                  <a:lnTo>
                    <a:pt x="10959592" y="3353435"/>
                  </a:lnTo>
                  <a:lnTo>
                    <a:pt x="10946892" y="3353435"/>
                  </a:lnTo>
                  <a:lnTo>
                    <a:pt x="10959592" y="3353435"/>
                  </a:lnTo>
                  <a:cubicBezTo>
                    <a:pt x="10959592" y="3411855"/>
                    <a:pt x="10911967" y="3459226"/>
                    <a:pt x="10853420" y="3459226"/>
                  </a:cubicBezTo>
                  <a:lnTo>
                    <a:pt x="10853420" y="3446526"/>
                  </a:lnTo>
                  <a:lnTo>
                    <a:pt x="10853420" y="3459226"/>
                  </a:lnTo>
                  <a:lnTo>
                    <a:pt x="106172" y="3459226"/>
                  </a:lnTo>
                  <a:lnTo>
                    <a:pt x="106172" y="3446526"/>
                  </a:lnTo>
                  <a:lnTo>
                    <a:pt x="106172" y="3459226"/>
                  </a:lnTo>
                  <a:cubicBezTo>
                    <a:pt x="47625" y="3459226"/>
                    <a:pt x="0" y="3411982"/>
                    <a:pt x="0" y="3353435"/>
                  </a:cubicBezTo>
                  <a:lnTo>
                    <a:pt x="0" y="105791"/>
                  </a:lnTo>
                  <a:lnTo>
                    <a:pt x="12700" y="105791"/>
                  </a:lnTo>
                  <a:lnTo>
                    <a:pt x="0" y="105791"/>
                  </a:lnTo>
                  <a:moveTo>
                    <a:pt x="25400" y="105791"/>
                  </a:moveTo>
                  <a:lnTo>
                    <a:pt x="25400" y="3353435"/>
                  </a:lnTo>
                  <a:lnTo>
                    <a:pt x="12700" y="3353435"/>
                  </a:lnTo>
                  <a:lnTo>
                    <a:pt x="25400" y="3353435"/>
                  </a:lnTo>
                  <a:cubicBezTo>
                    <a:pt x="25400" y="3397758"/>
                    <a:pt x="61468" y="3433826"/>
                    <a:pt x="106172" y="3433826"/>
                  </a:cubicBezTo>
                  <a:lnTo>
                    <a:pt x="10853420" y="3433826"/>
                  </a:lnTo>
                  <a:cubicBezTo>
                    <a:pt x="10898124" y="3433826"/>
                    <a:pt x="10934192" y="3397758"/>
                    <a:pt x="10934192" y="3353435"/>
                  </a:cubicBezTo>
                  <a:lnTo>
                    <a:pt x="10934192" y="105791"/>
                  </a:lnTo>
                  <a:cubicBezTo>
                    <a:pt x="10934192" y="61468"/>
                    <a:pt x="10898124" y="25400"/>
                    <a:pt x="10853420" y="25400"/>
                  </a:cubicBezTo>
                  <a:lnTo>
                    <a:pt x="106172" y="25400"/>
                  </a:lnTo>
                  <a:lnTo>
                    <a:pt x="106172" y="12700"/>
                  </a:lnTo>
                  <a:lnTo>
                    <a:pt x="106172" y="25400"/>
                  </a:lnTo>
                  <a:cubicBezTo>
                    <a:pt x="61468" y="25400"/>
                    <a:pt x="25400" y="61468"/>
                    <a:pt x="25400" y="105791"/>
                  </a:cubicBezTo>
                  <a:close/>
                </a:path>
              </a:pathLst>
            </a:custGeom>
            <a:solidFill>
              <a:srgbClr val="C8CACF"/>
            </a:solidFill>
          </p:spPr>
        </p:sp>
      </p:grpSp>
      <p:grpSp>
        <p:nvGrpSpPr>
          <p:cNvPr name="Group 55" id="55"/>
          <p:cNvGrpSpPr/>
          <p:nvPr/>
        </p:nvGrpSpPr>
        <p:grpSpPr>
          <a:xfrm rot="0">
            <a:off x="9211713" y="6183239"/>
            <a:ext cx="8162630" cy="498424"/>
            <a:chOff x="0" y="0"/>
            <a:chExt cx="10883506" cy="664566"/>
          </a:xfrm>
        </p:grpSpPr>
        <p:sp>
          <p:nvSpPr>
            <p:cNvPr name="Freeform 56" id="56"/>
            <p:cNvSpPr/>
            <p:nvPr/>
          </p:nvSpPr>
          <p:spPr>
            <a:xfrm flipH="false" flipV="false" rot="0">
              <a:off x="0" y="0"/>
              <a:ext cx="10883519" cy="664591"/>
            </a:xfrm>
            <a:custGeom>
              <a:avLst/>
              <a:gdLst/>
              <a:ahLst/>
              <a:cxnLst/>
              <a:rect r="r" b="b" t="t" l="l"/>
              <a:pathLst>
                <a:path h="664591" w="10883519">
                  <a:moveTo>
                    <a:pt x="0" y="62611"/>
                  </a:moveTo>
                  <a:cubicBezTo>
                    <a:pt x="0" y="28067"/>
                    <a:pt x="28067" y="0"/>
                    <a:pt x="62611" y="0"/>
                  </a:cubicBezTo>
                  <a:lnTo>
                    <a:pt x="10820908" y="0"/>
                  </a:lnTo>
                  <a:cubicBezTo>
                    <a:pt x="10855451" y="0"/>
                    <a:pt x="10883519" y="28067"/>
                    <a:pt x="10883519" y="62611"/>
                  </a:cubicBezTo>
                  <a:lnTo>
                    <a:pt x="10883519" y="601980"/>
                  </a:lnTo>
                  <a:cubicBezTo>
                    <a:pt x="10883519" y="636524"/>
                    <a:pt x="10855451" y="664591"/>
                    <a:pt x="10820908" y="664591"/>
                  </a:cubicBezTo>
                  <a:lnTo>
                    <a:pt x="62611" y="664591"/>
                  </a:lnTo>
                  <a:cubicBezTo>
                    <a:pt x="28067" y="664591"/>
                    <a:pt x="0" y="636524"/>
                    <a:pt x="0" y="601980"/>
                  </a:cubicBezTo>
                  <a:close/>
                </a:path>
              </a:pathLst>
            </a:custGeom>
            <a:solidFill>
              <a:srgbClr val="141519"/>
            </a:solidFill>
          </p:spPr>
        </p:sp>
      </p:grpSp>
      <p:sp>
        <p:nvSpPr>
          <p:cNvPr name="TextBox 57" id="57"/>
          <p:cNvSpPr txBox="true"/>
          <p:nvPr/>
        </p:nvSpPr>
        <p:spPr>
          <a:xfrm rot="0">
            <a:off x="13168465" y="6271936"/>
            <a:ext cx="132854" cy="287337"/>
          </a:xfrm>
          <a:prstGeom prst="rect">
            <a:avLst/>
          </a:prstGeom>
        </p:spPr>
        <p:txBody>
          <a:bodyPr anchor="t" rtlCol="false" tIns="0" lIns="0" bIns="0" rIns="0">
            <a:spAutoFit/>
          </a:bodyPr>
          <a:lstStyle/>
          <a:p>
            <a:pPr algn="l">
              <a:lnSpc>
                <a:spcPts val="1937"/>
              </a:lnSpc>
            </a:pPr>
            <a:r>
              <a:rPr lang="en-US" b="true" sz="1937" spc="-30">
                <a:solidFill>
                  <a:srgbClr val="FFFFFF"/>
                </a:solidFill>
                <a:latin typeface="Arial MT Pro Bold"/>
                <a:ea typeface="Arial MT Pro Bold"/>
                <a:cs typeface="Arial MT Pro Bold"/>
                <a:sym typeface="Arial MT Pro Bold"/>
              </a:rPr>
              <a:t>6</a:t>
            </a:r>
          </a:p>
        </p:txBody>
      </p:sp>
      <p:sp>
        <p:nvSpPr>
          <p:cNvPr name="TextBox 58" id="58"/>
          <p:cNvSpPr txBox="true"/>
          <p:nvPr/>
        </p:nvSpPr>
        <p:spPr>
          <a:xfrm rot="0">
            <a:off x="9377810" y="6731365"/>
            <a:ext cx="2362597" cy="288925"/>
          </a:xfrm>
          <a:prstGeom prst="rect">
            <a:avLst/>
          </a:prstGeom>
        </p:spPr>
        <p:txBody>
          <a:bodyPr anchor="t" rtlCol="false" tIns="0" lIns="0" bIns="0" rIns="0">
            <a:spAutoFit/>
          </a:bodyPr>
          <a:lstStyle/>
          <a:p>
            <a:pPr algn="l">
              <a:lnSpc>
                <a:spcPts val="2000"/>
              </a:lnSpc>
            </a:pPr>
            <a:r>
              <a:rPr lang="en-US" sz="1625">
                <a:solidFill>
                  <a:srgbClr val="141519"/>
                </a:solidFill>
                <a:latin typeface="Arial MT Pro"/>
                <a:ea typeface="Arial MT Pro"/>
                <a:cs typeface="Arial MT Pro"/>
                <a:sym typeface="Arial MT Pro"/>
              </a:rPr>
              <a:t>Recommendation System</a:t>
            </a:r>
          </a:p>
        </p:txBody>
      </p:sp>
      <p:sp>
        <p:nvSpPr>
          <p:cNvPr name="TextBox 59" id="59"/>
          <p:cNvSpPr txBox="true"/>
          <p:nvPr/>
        </p:nvSpPr>
        <p:spPr>
          <a:xfrm rot="0">
            <a:off x="9377810" y="7058644"/>
            <a:ext cx="7830445" cy="222250"/>
          </a:xfrm>
          <a:prstGeom prst="rect">
            <a:avLst/>
          </a:prstGeom>
        </p:spPr>
        <p:txBody>
          <a:bodyPr anchor="t" rtlCol="false" tIns="0" lIns="0" bIns="0" rIns="0">
            <a:spAutoFit/>
          </a:bodyPr>
          <a:lstStyle/>
          <a:p>
            <a:pPr algn="l">
              <a:lnSpc>
                <a:spcPts val="1625"/>
              </a:lnSpc>
            </a:pPr>
            <a:r>
              <a:rPr lang="en-US" sz="1250">
                <a:solidFill>
                  <a:srgbClr val="141519"/>
                </a:solidFill>
                <a:latin typeface="Arial MT Pro"/>
                <a:ea typeface="Arial MT Pro"/>
                <a:cs typeface="Arial MT Pro"/>
                <a:sym typeface="Arial MT Pro"/>
              </a:rPr>
              <a:t>Offers personalized suggestions for energy saving based on usage data and learned preferences.</a:t>
            </a:r>
          </a:p>
        </p:txBody>
      </p:sp>
      <p:sp>
        <p:nvSpPr>
          <p:cNvPr name="TextBox 60" id="60"/>
          <p:cNvSpPr txBox="true"/>
          <p:nvPr/>
        </p:nvSpPr>
        <p:spPr>
          <a:xfrm rot="0">
            <a:off x="9377810" y="7327573"/>
            <a:ext cx="7830445" cy="622300"/>
          </a:xfrm>
          <a:prstGeom prst="rect">
            <a:avLst/>
          </a:prstGeom>
        </p:spPr>
        <p:txBody>
          <a:bodyPr anchor="t" rtlCol="false" tIns="0" lIns="0" bIns="0" rIns="0">
            <a:spAutoFit/>
          </a:bodyPr>
          <a:lstStyle/>
          <a:p>
            <a:pPr algn="l" marL="188516" indent="-94258" lvl="1">
              <a:lnSpc>
                <a:spcPts val="1625"/>
              </a:lnSpc>
              <a:buFont typeface="Arial"/>
              <a:buChar char="•"/>
            </a:pPr>
            <a:r>
              <a:rPr lang="en-US" sz="1250">
                <a:solidFill>
                  <a:srgbClr val="141519"/>
                </a:solidFill>
                <a:latin typeface="Arial MT Pro"/>
                <a:ea typeface="Arial MT Pro"/>
                <a:cs typeface="Arial MT Pro"/>
                <a:sym typeface="Arial MT Pro"/>
              </a:rPr>
              <a:t>Recommendation</a:t>
            </a:r>
          </a:p>
          <a:p>
            <a:pPr algn="l" marL="188516" indent="-94258" lvl="1">
              <a:lnSpc>
                <a:spcPts val="1625"/>
              </a:lnSpc>
              <a:buFont typeface="Arial"/>
              <a:buChar char="•"/>
            </a:pPr>
            <a:r>
              <a:rPr lang="en-US" sz="1250">
                <a:solidFill>
                  <a:srgbClr val="141519"/>
                </a:solidFill>
                <a:latin typeface="Arial MT Pro"/>
                <a:ea typeface="Arial MT Pro"/>
                <a:cs typeface="Arial MT Pro"/>
                <a:sym typeface="Arial MT Pro"/>
              </a:rPr>
              <a:t>RecommendationController</a:t>
            </a:r>
          </a:p>
          <a:p>
            <a:pPr algn="l" marL="188516" indent="-94258" lvl="1">
              <a:lnSpc>
                <a:spcPts val="1625"/>
              </a:lnSpc>
              <a:buFont typeface="Arial"/>
              <a:buChar char="•"/>
            </a:pPr>
            <a:r>
              <a:rPr lang="en-US" sz="1250">
                <a:solidFill>
                  <a:srgbClr val="141519"/>
                </a:solidFill>
                <a:latin typeface="Arial MT Pro"/>
                <a:ea typeface="Arial MT Pro"/>
                <a:cs typeface="Arial MT Pro"/>
                <a:sym typeface="Arial MT Pro"/>
              </a:rPr>
              <a:t>RecommendationService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B6274">
                <a:alpha val="90196"/>
              </a:srgbClr>
            </a:solidFill>
          </p:spPr>
        </p:sp>
      </p:grpSp>
      <p:sp>
        <p:nvSpPr>
          <p:cNvPr name="TextBox 6" id="6"/>
          <p:cNvSpPr txBox="true"/>
          <p:nvPr/>
        </p:nvSpPr>
        <p:spPr>
          <a:xfrm rot="0">
            <a:off x="992238" y="1109958"/>
            <a:ext cx="14140061" cy="976312"/>
          </a:xfrm>
          <a:prstGeom prst="rect">
            <a:avLst/>
          </a:prstGeom>
        </p:spPr>
        <p:txBody>
          <a:bodyPr anchor="t" rtlCol="false" tIns="0" lIns="0" bIns="0" rIns="0">
            <a:spAutoFit/>
          </a:bodyPr>
          <a:lstStyle/>
          <a:p>
            <a:pPr algn="l">
              <a:lnSpc>
                <a:spcPts val="6937"/>
              </a:lnSpc>
            </a:pPr>
            <a:r>
              <a:rPr lang="en-US" b="true" sz="5562" spc="-233">
                <a:solidFill>
                  <a:srgbClr val="FFFFFF"/>
                </a:solidFill>
                <a:latin typeface="Arial MT Pro Bold"/>
                <a:ea typeface="Arial MT Pro Bold"/>
                <a:cs typeface="Arial MT Pro Bold"/>
                <a:sym typeface="Arial MT Pro Bold"/>
              </a:rPr>
              <a:t>Module 1: Authentication &amp; Role Management</a:t>
            </a:r>
          </a:p>
        </p:txBody>
      </p:sp>
      <p:sp>
        <p:nvSpPr>
          <p:cNvPr name="TextBox 7" id="7"/>
          <p:cNvSpPr txBox="true"/>
          <p:nvPr/>
        </p:nvSpPr>
        <p:spPr>
          <a:xfrm rot="0">
            <a:off x="992238" y="2137915"/>
            <a:ext cx="16303523" cy="1484312"/>
          </a:xfrm>
          <a:prstGeom prst="rect">
            <a:avLst/>
          </a:prstGeom>
        </p:spPr>
        <p:txBody>
          <a:bodyPr anchor="t" rtlCol="false" tIns="0" lIns="0" bIns="0" rIns="0">
            <a:spAutoFit/>
          </a:bodyPr>
          <a:lstStyle/>
          <a:p>
            <a:pPr algn="l">
              <a:lnSpc>
                <a:spcPts val="5562"/>
              </a:lnSpc>
            </a:pPr>
            <a:r>
              <a:rPr lang="en-US" b="true" sz="4437" spc="-71">
                <a:solidFill>
                  <a:srgbClr val="FFFFFF"/>
                </a:solidFill>
                <a:latin typeface="Arial MT Pro Bold"/>
                <a:ea typeface="Arial MT Pro Bold"/>
                <a:cs typeface="Arial MT Pro Bold"/>
                <a:sym typeface="Arial MT Pro Bold"/>
              </a:rPr>
              <a:t>Ensures secure system access by managing user authentication and roles.</a:t>
            </a:r>
          </a:p>
        </p:txBody>
      </p:sp>
      <p:sp>
        <p:nvSpPr>
          <p:cNvPr name="TextBox 8" id="8"/>
          <p:cNvSpPr txBox="true"/>
          <p:nvPr/>
        </p:nvSpPr>
        <p:spPr>
          <a:xfrm rot="0">
            <a:off x="992238" y="3942455"/>
            <a:ext cx="16303523" cy="471487"/>
          </a:xfrm>
          <a:prstGeom prst="rect">
            <a:avLst/>
          </a:prstGeom>
        </p:spPr>
        <p:txBody>
          <a:bodyPr anchor="t" rtlCol="false" tIns="0" lIns="0" bIns="0" rIns="0">
            <a:spAutoFit/>
          </a:bodyPr>
          <a:lstStyle/>
          <a:p>
            <a:pPr algn="l">
              <a:lnSpc>
                <a:spcPts val="3562"/>
              </a:lnSpc>
            </a:pPr>
            <a:r>
              <a:rPr lang="en-US" sz="2187">
                <a:solidFill>
                  <a:srgbClr val="141519"/>
                </a:solidFill>
                <a:latin typeface="Arial MT Pro"/>
                <a:ea typeface="Arial MT Pro"/>
                <a:cs typeface="Arial MT Pro"/>
                <a:sym typeface="Arial MT Pro"/>
              </a:rPr>
              <a:t>Here are the core classes and their responsibilities:</a:t>
            </a:r>
          </a:p>
        </p:txBody>
      </p:sp>
      <p:grpSp>
        <p:nvGrpSpPr>
          <p:cNvPr name="Group 9" id="9"/>
          <p:cNvGrpSpPr/>
          <p:nvPr/>
        </p:nvGrpSpPr>
        <p:grpSpPr>
          <a:xfrm rot="0">
            <a:off x="973188" y="4838852"/>
            <a:ext cx="5283546" cy="4223890"/>
            <a:chOff x="0" y="0"/>
            <a:chExt cx="7044728" cy="5631853"/>
          </a:xfrm>
        </p:grpSpPr>
        <p:sp>
          <p:nvSpPr>
            <p:cNvPr name="Freeform 10" id="10"/>
            <p:cNvSpPr/>
            <p:nvPr/>
          </p:nvSpPr>
          <p:spPr>
            <a:xfrm flipH="false" flipV="false" rot="0">
              <a:off x="25400" y="25400"/>
              <a:ext cx="6993889" cy="5581015"/>
            </a:xfrm>
            <a:custGeom>
              <a:avLst/>
              <a:gdLst/>
              <a:ahLst/>
              <a:cxnLst/>
              <a:rect r="r" b="b" t="t" l="l"/>
              <a:pathLst>
                <a:path h="5581015" w="6993889">
                  <a:moveTo>
                    <a:pt x="0" y="243840"/>
                  </a:moveTo>
                  <a:cubicBezTo>
                    <a:pt x="0" y="109220"/>
                    <a:pt x="109347" y="0"/>
                    <a:pt x="244221" y="0"/>
                  </a:cubicBezTo>
                  <a:lnTo>
                    <a:pt x="6749669" y="0"/>
                  </a:lnTo>
                  <a:cubicBezTo>
                    <a:pt x="6884543" y="0"/>
                    <a:pt x="6993889" y="109220"/>
                    <a:pt x="6993889" y="243840"/>
                  </a:cubicBezTo>
                  <a:lnTo>
                    <a:pt x="6993889" y="5337175"/>
                  </a:lnTo>
                  <a:cubicBezTo>
                    <a:pt x="6993889" y="5471795"/>
                    <a:pt x="6884543" y="5581015"/>
                    <a:pt x="6749669" y="5581015"/>
                  </a:cubicBezTo>
                  <a:lnTo>
                    <a:pt x="244221" y="5581015"/>
                  </a:lnTo>
                  <a:cubicBezTo>
                    <a:pt x="109347" y="5581015"/>
                    <a:pt x="0" y="5471795"/>
                    <a:pt x="0" y="5337175"/>
                  </a:cubicBezTo>
                  <a:close/>
                </a:path>
              </a:pathLst>
            </a:custGeom>
            <a:solidFill>
              <a:srgbClr val="FFFFFF">
                <a:alpha val="90196"/>
              </a:srgbClr>
            </a:solidFill>
          </p:spPr>
        </p:sp>
        <p:sp>
          <p:nvSpPr>
            <p:cNvPr name="Freeform 11" id="11"/>
            <p:cNvSpPr/>
            <p:nvPr/>
          </p:nvSpPr>
          <p:spPr>
            <a:xfrm flipH="false" flipV="false" rot="0">
              <a:off x="0" y="0"/>
              <a:ext cx="7044689" cy="5631815"/>
            </a:xfrm>
            <a:custGeom>
              <a:avLst/>
              <a:gdLst/>
              <a:ahLst/>
              <a:cxnLst/>
              <a:rect r="r" b="b" t="t" l="l"/>
              <a:pathLst>
                <a:path h="5631815" w="7044689">
                  <a:moveTo>
                    <a:pt x="0" y="269240"/>
                  </a:moveTo>
                  <a:cubicBezTo>
                    <a:pt x="0" y="120523"/>
                    <a:pt x="120777" y="0"/>
                    <a:pt x="269621" y="0"/>
                  </a:cubicBezTo>
                  <a:lnTo>
                    <a:pt x="6775069" y="0"/>
                  </a:lnTo>
                  <a:lnTo>
                    <a:pt x="6775069" y="25400"/>
                  </a:lnTo>
                  <a:lnTo>
                    <a:pt x="6775069" y="0"/>
                  </a:lnTo>
                  <a:cubicBezTo>
                    <a:pt x="6923912" y="0"/>
                    <a:pt x="7044689" y="120523"/>
                    <a:pt x="7044689" y="269240"/>
                  </a:cubicBezTo>
                  <a:lnTo>
                    <a:pt x="7019289" y="269240"/>
                  </a:lnTo>
                  <a:lnTo>
                    <a:pt x="7044689" y="269240"/>
                  </a:lnTo>
                  <a:lnTo>
                    <a:pt x="7044689" y="5362575"/>
                  </a:lnTo>
                  <a:lnTo>
                    <a:pt x="7019289" y="5362575"/>
                  </a:lnTo>
                  <a:lnTo>
                    <a:pt x="7044689" y="5362575"/>
                  </a:lnTo>
                  <a:cubicBezTo>
                    <a:pt x="7044689" y="5511292"/>
                    <a:pt x="6923912" y="5631815"/>
                    <a:pt x="6775069" y="5631815"/>
                  </a:cubicBezTo>
                  <a:lnTo>
                    <a:pt x="6775069" y="5606415"/>
                  </a:lnTo>
                  <a:lnTo>
                    <a:pt x="6775069" y="5631815"/>
                  </a:lnTo>
                  <a:lnTo>
                    <a:pt x="269621" y="5631815"/>
                  </a:lnTo>
                  <a:lnTo>
                    <a:pt x="269621" y="5606415"/>
                  </a:lnTo>
                  <a:lnTo>
                    <a:pt x="269621" y="5631815"/>
                  </a:lnTo>
                  <a:cubicBezTo>
                    <a:pt x="120777" y="5631815"/>
                    <a:pt x="0" y="5511419"/>
                    <a:pt x="0" y="5362575"/>
                  </a:cubicBezTo>
                  <a:lnTo>
                    <a:pt x="0" y="269240"/>
                  </a:lnTo>
                  <a:lnTo>
                    <a:pt x="25400" y="269240"/>
                  </a:lnTo>
                  <a:lnTo>
                    <a:pt x="0" y="269240"/>
                  </a:lnTo>
                  <a:moveTo>
                    <a:pt x="50800" y="269240"/>
                  </a:moveTo>
                  <a:lnTo>
                    <a:pt x="50800" y="5362575"/>
                  </a:lnTo>
                  <a:lnTo>
                    <a:pt x="25400" y="5362575"/>
                  </a:lnTo>
                  <a:lnTo>
                    <a:pt x="50800" y="5362575"/>
                  </a:lnTo>
                  <a:cubicBezTo>
                    <a:pt x="50800" y="5483225"/>
                    <a:pt x="148717" y="5581015"/>
                    <a:pt x="269621" y="5581015"/>
                  </a:cubicBezTo>
                  <a:lnTo>
                    <a:pt x="6775069" y="5581015"/>
                  </a:lnTo>
                  <a:cubicBezTo>
                    <a:pt x="6895973" y="5581015"/>
                    <a:pt x="6993889" y="5483225"/>
                    <a:pt x="6993889" y="5362575"/>
                  </a:cubicBezTo>
                  <a:lnTo>
                    <a:pt x="6993889" y="269240"/>
                  </a:lnTo>
                  <a:cubicBezTo>
                    <a:pt x="6993889" y="148590"/>
                    <a:pt x="6895973" y="50800"/>
                    <a:pt x="6775069" y="50800"/>
                  </a:cubicBezTo>
                  <a:lnTo>
                    <a:pt x="269621" y="50800"/>
                  </a:lnTo>
                  <a:lnTo>
                    <a:pt x="269621" y="25400"/>
                  </a:lnTo>
                  <a:lnTo>
                    <a:pt x="269621" y="50800"/>
                  </a:lnTo>
                  <a:cubicBezTo>
                    <a:pt x="148717" y="50800"/>
                    <a:pt x="50800" y="148590"/>
                    <a:pt x="50800" y="269240"/>
                  </a:cubicBezTo>
                  <a:close/>
                </a:path>
              </a:pathLst>
            </a:custGeom>
            <a:solidFill>
              <a:srgbClr val="C8CACF"/>
            </a:solidFill>
          </p:spPr>
        </p:sp>
      </p:grpSp>
      <p:grpSp>
        <p:nvGrpSpPr>
          <p:cNvPr name="Group 12" id="12"/>
          <p:cNvGrpSpPr/>
          <p:nvPr/>
        </p:nvGrpSpPr>
        <p:grpSpPr>
          <a:xfrm rot="0">
            <a:off x="954138" y="4857902"/>
            <a:ext cx="152400" cy="4185790"/>
            <a:chOff x="0" y="0"/>
            <a:chExt cx="203200" cy="5581053"/>
          </a:xfrm>
        </p:grpSpPr>
        <p:sp>
          <p:nvSpPr>
            <p:cNvPr name="Freeform 13" id="13"/>
            <p:cNvSpPr/>
            <p:nvPr/>
          </p:nvSpPr>
          <p:spPr>
            <a:xfrm flipH="false" flipV="false" rot="0">
              <a:off x="0" y="0"/>
              <a:ext cx="203200" cy="5581015"/>
            </a:xfrm>
            <a:custGeom>
              <a:avLst/>
              <a:gdLst/>
              <a:ahLst/>
              <a:cxnLst/>
              <a:rect r="r" b="b" t="t" l="l"/>
              <a:pathLst>
                <a:path h="5581015" w="203200">
                  <a:moveTo>
                    <a:pt x="0" y="101600"/>
                  </a:moveTo>
                  <a:cubicBezTo>
                    <a:pt x="0" y="45466"/>
                    <a:pt x="45466" y="0"/>
                    <a:pt x="101600" y="0"/>
                  </a:cubicBezTo>
                  <a:cubicBezTo>
                    <a:pt x="157734" y="0"/>
                    <a:pt x="203200" y="45466"/>
                    <a:pt x="203200" y="101600"/>
                  </a:cubicBezTo>
                  <a:lnTo>
                    <a:pt x="203200" y="5479415"/>
                  </a:lnTo>
                  <a:cubicBezTo>
                    <a:pt x="203200" y="5535549"/>
                    <a:pt x="157734" y="5581015"/>
                    <a:pt x="101600" y="5581015"/>
                  </a:cubicBezTo>
                  <a:cubicBezTo>
                    <a:pt x="45466" y="5581015"/>
                    <a:pt x="0" y="5535549"/>
                    <a:pt x="0" y="5479415"/>
                  </a:cubicBezTo>
                  <a:close/>
                </a:path>
              </a:pathLst>
            </a:custGeom>
            <a:solidFill>
              <a:srgbClr val="141519"/>
            </a:solidFill>
          </p:spPr>
        </p:sp>
      </p:grpSp>
      <p:sp>
        <p:nvSpPr>
          <p:cNvPr name="TextBox 14" id="14"/>
          <p:cNvSpPr txBox="true"/>
          <p:nvPr/>
        </p:nvSpPr>
        <p:spPr>
          <a:xfrm rot="0">
            <a:off x="1428159" y="5103314"/>
            <a:ext cx="3546078" cy="487362"/>
          </a:xfrm>
          <a:prstGeom prst="rect">
            <a:avLst/>
          </a:prstGeom>
        </p:spPr>
        <p:txBody>
          <a:bodyPr anchor="t" rtlCol="false" tIns="0" lIns="0" bIns="0" rIns="0">
            <a:spAutoFit/>
          </a:bodyPr>
          <a:lstStyle/>
          <a:p>
            <a:pPr algn="l">
              <a:lnSpc>
                <a:spcPts val="3437"/>
              </a:lnSpc>
            </a:pPr>
            <a:r>
              <a:rPr lang="en-US" sz="2750">
                <a:solidFill>
                  <a:srgbClr val="141519"/>
                </a:solidFill>
                <a:latin typeface="Arial MT Pro"/>
                <a:ea typeface="Arial MT Pro"/>
                <a:cs typeface="Arial MT Pro"/>
                <a:sym typeface="Arial MT Pro"/>
              </a:rPr>
              <a:t>🧑‍💻 UserAuthController</a:t>
            </a:r>
          </a:p>
        </p:txBody>
      </p:sp>
      <p:sp>
        <p:nvSpPr>
          <p:cNvPr name="TextBox 15" id="15"/>
          <p:cNvSpPr txBox="true"/>
          <p:nvPr/>
        </p:nvSpPr>
        <p:spPr>
          <a:xfrm rot="0">
            <a:off x="1428159" y="5659193"/>
            <a:ext cx="4487913" cy="2709862"/>
          </a:xfrm>
          <a:prstGeom prst="rect">
            <a:avLst/>
          </a:prstGeom>
        </p:spPr>
        <p:txBody>
          <a:bodyPr anchor="t" rtlCol="false" tIns="0" lIns="0" bIns="0" rIns="0">
            <a:spAutoFit/>
          </a:bodyPr>
          <a:lstStyle/>
          <a:p>
            <a:pPr algn="l" marL="329903" indent="-164951" lvl="1">
              <a:lnSpc>
                <a:spcPts val="3562"/>
              </a:lnSpc>
              <a:buFont typeface="Arial"/>
              <a:buChar char="•"/>
            </a:pPr>
            <a:r>
              <a:rPr lang="en-US" sz="2187">
                <a:solidFill>
                  <a:srgbClr val="141519"/>
                </a:solidFill>
                <a:latin typeface="Arial MT Pro"/>
                <a:ea typeface="Arial MT Pro"/>
                <a:cs typeface="Arial MT Pro"/>
                <a:sym typeface="Arial MT Pro"/>
              </a:rPr>
              <a:t>Handles login and registration requests</a:t>
            </a:r>
          </a:p>
          <a:p>
            <a:pPr algn="l" marL="329903" indent="-164951" lvl="1">
              <a:lnSpc>
                <a:spcPts val="3562"/>
              </a:lnSpc>
              <a:buFont typeface="Arial"/>
              <a:buChar char="•"/>
            </a:pPr>
            <a:r>
              <a:rPr lang="en-US" sz="2187">
                <a:solidFill>
                  <a:srgbClr val="141519"/>
                </a:solidFill>
                <a:latin typeface="Arial MT Pro"/>
                <a:ea typeface="Arial MT Pro"/>
                <a:cs typeface="Arial MT Pro"/>
                <a:sym typeface="Arial MT Pro"/>
              </a:rPr>
              <a:t>Receives user credentials from the frontend</a:t>
            </a:r>
          </a:p>
          <a:p>
            <a:pPr algn="l" marL="329903" indent="-164951" lvl="1">
              <a:lnSpc>
                <a:spcPts val="3562"/>
              </a:lnSpc>
              <a:buFont typeface="Arial"/>
              <a:buChar char="•"/>
            </a:pPr>
            <a:r>
              <a:rPr lang="en-US" sz="2187">
                <a:solidFill>
                  <a:srgbClr val="141519"/>
                </a:solidFill>
                <a:latin typeface="Arial MT Pro"/>
                <a:ea typeface="Arial MT Pro"/>
                <a:cs typeface="Arial MT Pro"/>
                <a:sym typeface="Arial MT Pro"/>
              </a:rPr>
              <a:t>Sends requests to the service layer</a:t>
            </a:r>
          </a:p>
        </p:txBody>
      </p:sp>
      <p:grpSp>
        <p:nvGrpSpPr>
          <p:cNvPr name="Group 16" id="16"/>
          <p:cNvGrpSpPr/>
          <p:nvPr/>
        </p:nvGrpSpPr>
        <p:grpSpPr>
          <a:xfrm rot="0">
            <a:off x="6502156" y="4838852"/>
            <a:ext cx="5283546" cy="4223890"/>
            <a:chOff x="0" y="0"/>
            <a:chExt cx="7044728" cy="5631853"/>
          </a:xfrm>
        </p:grpSpPr>
        <p:sp>
          <p:nvSpPr>
            <p:cNvPr name="Freeform 17" id="17"/>
            <p:cNvSpPr/>
            <p:nvPr/>
          </p:nvSpPr>
          <p:spPr>
            <a:xfrm flipH="false" flipV="false" rot="0">
              <a:off x="25400" y="25400"/>
              <a:ext cx="6993889" cy="5581015"/>
            </a:xfrm>
            <a:custGeom>
              <a:avLst/>
              <a:gdLst/>
              <a:ahLst/>
              <a:cxnLst/>
              <a:rect r="r" b="b" t="t" l="l"/>
              <a:pathLst>
                <a:path h="5581015" w="6993889">
                  <a:moveTo>
                    <a:pt x="0" y="243840"/>
                  </a:moveTo>
                  <a:cubicBezTo>
                    <a:pt x="0" y="109220"/>
                    <a:pt x="109347" y="0"/>
                    <a:pt x="244221" y="0"/>
                  </a:cubicBezTo>
                  <a:lnTo>
                    <a:pt x="6749669" y="0"/>
                  </a:lnTo>
                  <a:cubicBezTo>
                    <a:pt x="6884543" y="0"/>
                    <a:pt x="6993889" y="109220"/>
                    <a:pt x="6993889" y="243840"/>
                  </a:cubicBezTo>
                  <a:lnTo>
                    <a:pt x="6993889" y="5337175"/>
                  </a:lnTo>
                  <a:cubicBezTo>
                    <a:pt x="6993889" y="5471795"/>
                    <a:pt x="6884543" y="5581015"/>
                    <a:pt x="6749669" y="5581015"/>
                  </a:cubicBezTo>
                  <a:lnTo>
                    <a:pt x="244221" y="5581015"/>
                  </a:lnTo>
                  <a:cubicBezTo>
                    <a:pt x="109347" y="5581015"/>
                    <a:pt x="0" y="5471795"/>
                    <a:pt x="0" y="5337175"/>
                  </a:cubicBezTo>
                  <a:close/>
                </a:path>
              </a:pathLst>
            </a:custGeom>
            <a:solidFill>
              <a:srgbClr val="FFFFFF">
                <a:alpha val="90196"/>
              </a:srgbClr>
            </a:solidFill>
          </p:spPr>
        </p:sp>
        <p:sp>
          <p:nvSpPr>
            <p:cNvPr name="Freeform 18" id="18"/>
            <p:cNvSpPr/>
            <p:nvPr/>
          </p:nvSpPr>
          <p:spPr>
            <a:xfrm flipH="false" flipV="false" rot="0">
              <a:off x="0" y="0"/>
              <a:ext cx="7044689" cy="5631815"/>
            </a:xfrm>
            <a:custGeom>
              <a:avLst/>
              <a:gdLst/>
              <a:ahLst/>
              <a:cxnLst/>
              <a:rect r="r" b="b" t="t" l="l"/>
              <a:pathLst>
                <a:path h="5631815" w="7044689">
                  <a:moveTo>
                    <a:pt x="0" y="269240"/>
                  </a:moveTo>
                  <a:cubicBezTo>
                    <a:pt x="0" y="120523"/>
                    <a:pt x="120777" y="0"/>
                    <a:pt x="269621" y="0"/>
                  </a:cubicBezTo>
                  <a:lnTo>
                    <a:pt x="6775069" y="0"/>
                  </a:lnTo>
                  <a:lnTo>
                    <a:pt x="6775069" y="25400"/>
                  </a:lnTo>
                  <a:lnTo>
                    <a:pt x="6775069" y="0"/>
                  </a:lnTo>
                  <a:cubicBezTo>
                    <a:pt x="6923912" y="0"/>
                    <a:pt x="7044689" y="120523"/>
                    <a:pt x="7044689" y="269240"/>
                  </a:cubicBezTo>
                  <a:lnTo>
                    <a:pt x="7019289" y="269240"/>
                  </a:lnTo>
                  <a:lnTo>
                    <a:pt x="7044689" y="269240"/>
                  </a:lnTo>
                  <a:lnTo>
                    <a:pt x="7044689" y="5362575"/>
                  </a:lnTo>
                  <a:lnTo>
                    <a:pt x="7019289" y="5362575"/>
                  </a:lnTo>
                  <a:lnTo>
                    <a:pt x="7044689" y="5362575"/>
                  </a:lnTo>
                  <a:cubicBezTo>
                    <a:pt x="7044689" y="5511292"/>
                    <a:pt x="6923912" y="5631815"/>
                    <a:pt x="6775069" y="5631815"/>
                  </a:cubicBezTo>
                  <a:lnTo>
                    <a:pt x="6775069" y="5606415"/>
                  </a:lnTo>
                  <a:lnTo>
                    <a:pt x="6775069" y="5631815"/>
                  </a:lnTo>
                  <a:lnTo>
                    <a:pt x="269621" y="5631815"/>
                  </a:lnTo>
                  <a:lnTo>
                    <a:pt x="269621" y="5606415"/>
                  </a:lnTo>
                  <a:lnTo>
                    <a:pt x="269621" y="5631815"/>
                  </a:lnTo>
                  <a:cubicBezTo>
                    <a:pt x="120777" y="5631815"/>
                    <a:pt x="0" y="5511419"/>
                    <a:pt x="0" y="5362575"/>
                  </a:cubicBezTo>
                  <a:lnTo>
                    <a:pt x="0" y="269240"/>
                  </a:lnTo>
                  <a:lnTo>
                    <a:pt x="25400" y="269240"/>
                  </a:lnTo>
                  <a:lnTo>
                    <a:pt x="0" y="269240"/>
                  </a:lnTo>
                  <a:moveTo>
                    <a:pt x="50800" y="269240"/>
                  </a:moveTo>
                  <a:lnTo>
                    <a:pt x="50800" y="5362575"/>
                  </a:lnTo>
                  <a:lnTo>
                    <a:pt x="25400" y="5362575"/>
                  </a:lnTo>
                  <a:lnTo>
                    <a:pt x="50800" y="5362575"/>
                  </a:lnTo>
                  <a:cubicBezTo>
                    <a:pt x="50800" y="5483225"/>
                    <a:pt x="148717" y="5581015"/>
                    <a:pt x="269621" y="5581015"/>
                  </a:cubicBezTo>
                  <a:lnTo>
                    <a:pt x="6775069" y="5581015"/>
                  </a:lnTo>
                  <a:cubicBezTo>
                    <a:pt x="6895973" y="5581015"/>
                    <a:pt x="6993889" y="5483225"/>
                    <a:pt x="6993889" y="5362575"/>
                  </a:cubicBezTo>
                  <a:lnTo>
                    <a:pt x="6993889" y="269240"/>
                  </a:lnTo>
                  <a:cubicBezTo>
                    <a:pt x="6993889" y="148590"/>
                    <a:pt x="6895973" y="50800"/>
                    <a:pt x="6775069" y="50800"/>
                  </a:cubicBezTo>
                  <a:lnTo>
                    <a:pt x="269621" y="50800"/>
                  </a:lnTo>
                  <a:lnTo>
                    <a:pt x="269621" y="25400"/>
                  </a:lnTo>
                  <a:lnTo>
                    <a:pt x="269621" y="50800"/>
                  </a:lnTo>
                  <a:cubicBezTo>
                    <a:pt x="148717" y="50800"/>
                    <a:pt x="50800" y="148590"/>
                    <a:pt x="50800" y="269240"/>
                  </a:cubicBezTo>
                  <a:close/>
                </a:path>
              </a:pathLst>
            </a:custGeom>
            <a:solidFill>
              <a:srgbClr val="C8CACF"/>
            </a:solidFill>
          </p:spPr>
        </p:sp>
      </p:grpSp>
      <p:grpSp>
        <p:nvGrpSpPr>
          <p:cNvPr name="Group 19" id="19"/>
          <p:cNvGrpSpPr/>
          <p:nvPr/>
        </p:nvGrpSpPr>
        <p:grpSpPr>
          <a:xfrm rot="0">
            <a:off x="6483106" y="4857902"/>
            <a:ext cx="152400" cy="4185790"/>
            <a:chOff x="0" y="0"/>
            <a:chExt cx="203200" cy="5581053"/>
          </a:xfrm>
        </p:grpSpPr>
        <p:sp>
          <p:nvSpPr>
            <p:cNvPr name="Freeform 20" id="20"/>
            <p:cNvSpPr/>
            <p:nvPr/>
          </p:nvSpPr>
          <p:spPr>
            <a:xfrm flipH="false" flipV="false" rot="0">
              <a:off x="0" y="0"/>
              <a:ext cx="203200" cy="5581015"/>
            </a:xfrm>
            <a:custGeom>
              <a:avLst/>
              <a:gdLst/>
              <a:ahLst/>
              <a:cxnLst/>
              <a:rect r="r" b="b" t="t" l="l"/>
              <a:pathLst>
                <a:path h="5581015" w="203200">
                  <a:moveTo>
                    <a:pt x="0" y="101600"/>
                  </a:moveTo>
                  <a:cubicBezTo>
                    <a:pt x="0" y="45466"/>
                    <a:pt x="45466" y="0"/>
                    <a:pt x="101600" y="0"/>
                  </a:cubicBezTo>
                  <a:cubicBezTo>
                    <a:pt x="157734" y="0"/>
                    <a:pt x="203200" y="45466"/>
                    <a:pt x="203200" y="101600"/>
                  </a:cubicBezTo>
                  <a:lnTo>
                    <a:pt x="203200" y="5479415"/>
                  </a:lnTo>
                  <a:cubicBezTo>
                    <a:pt x="203200" y="5535549"/>
                    <a:pt x="157734" y="5581015"/>
                    <a:pt x="101600" y="5581015"/>
                  </a:cubicBezTo>
                  <a:cubicBezTo>
                    <a:pt x="45466" y="5581015"/>
                    <a:pt x="0" y="5535549"/>
                    <a:pt x="0" y="5479415"/>
                  </a:cubicBezTo>
                  <a:close/>
                </a:path>
              </a:pathLst>
            </a:custGeom>
            <a:solidFill>
              <a:srgbClr val="141519"/>
            </a:solidFill>
          </p:spPr>
        </p:sp>
      </p:grpSp>
      <p:sp>
        <p:nvSpPr>
          <p:cNvPr name="TextBox 21" id="21"/>
          <p:cNvSpPr txBox="true"/>
          <p:nvPr/>
        </p:nvSpPr>
        <p:spPr>
          <a:xfrm rot="0">
            <a:off x="6957117" y="5103314"/>
            <a:ext cx="2459534" cy="487362"/>
          </a:xfrm>
          <a:prstGeom prst="rect">
            <a:avLst/>
          </a:prstGeom>
        </p:spPr>
        <p:txBody>
          <a:bodyPr anchor="t" rtlCol="false" tIns="0" lIns="0" bIns="0" rIns="0">
            <a:spAutoFit/>
          </a:bodyPr>
          <a:lstStyle/>
          <a:p>
            <a:pPr algn="l">
              <a:lnSpc>
                <a:spcPts val="3437"/>
              </a:lnSpc>
            </a:pPr>
            <a:r>
              <a:rPr lang="en-US" sz="2750">
                <a:solidFill>
                  <a:srgbClr val="141519"/>
                </a:solidFill>
                <a:latin typeface="Arial MT Pro"/>
                <a:ea typeface="Arial MT Pro"/>
                <a:cs typeface="Arial MT Pro"/>
                <a:sym typeface="Arial MT Pro"/>
              </a:rPr>
              <a:t>⚙️ AuthService</a:t>
            </a:r>
          </a:p>
        </p:txBody>
      </p:sp>
      <p:sp>
        <p:nvSpPr>
          <p:cNvPr name="TextBox 22" id="22"/>
          <p:cNvSpPr txBox="true"/>
          <p:nvPr/>
        </p:nvSpPr>
        <p:spPr>
          <a:xfrm rot="0">
            <a:off x="6957117" y="5659193"/>
            <a:ext cx="4487913" cy="1814512"/>
          </a:xfrm>
          <a:prstGeom prst="rect">
            <a:avLst/>
          </a:prstGeom>
        </p:spPr>
        <p:txBody>
          <a:bodyPr anchor="t" rtlCol="false" tIns="0" lIns="0" bIns="0" rIns="0">
            <a:spAutoFit/>
          </a:bodyPr>
          <a:lstStyle/>
          <a:p>
            <a:pPr algn="l" marL="329903" indent="-164951" lvl="1">
              <a:lnSpc>
                <a:spcPts val="3562"/>
              </a:lnSpc>
              <a:buFont typeface="Arial"/>
              <a:buChar char="•"/>
            </a:pPr>
            <a:r>
              <a:rPr lang="en-US" sz="2187">
                <a:solidFill>
                  <a:srgbClr val="141519"/>
                </a:solidFill>
                <a:latin typeface="Arial MT Pro"/>
                <a:ea typeface="Arial MT Pro"/>
                <a:cs typeface="Arial MT Pro"/>
                <a:sym typeface="Arial MT Pro"/>
              </a:rPr>
              <a:t>Validates user credentials</a:t>
            </a:r>
          </a:p>
          <a:p>
            <a:pPr algn="l" marL="329903" indent="-164951" lvl="1">
              <a:lnSpc>
                <a:spcPts val="3562"/>
              </a:lnSpc>
              <a:buFont typeface="Arial"/>
              <a:buChar char="•"/>
            </a:pPr>
            <a:r>
              <a:rPr lang="en-US" sz="2187">
                <a:solidFill>
                  <a:srgbClr val="141519"/>
                </a:solidFill>
                <a:latin typeface="Arial MT Pro"/>
                <a:ea typeface="Arial MT Pro"/>
                <a:cs typeface="Arial MT Pro"/>
                <a:sym typeface="Arial MT Pro"/>
              </a:rPr>
              <a:t>Handles authentication logic</a:t>
            </a:r>
          </a:p>
          <a:p>
            <a:pPr algn="l" marL="329903" indent="-164951" lvl="1">
              <a:lnSpc>
                <a:spcPts val="3562"/>
              </a:lnSpc>
              <a:buFont typeface="Arial"/>
              <a:buChar char="•"/>
            </a:pPr>
            <a:r>
              <a:rPr lang="en-US" sz="2187">
                <a:solidFill>
                  <a:srgbClr val="141519"/>
                </a:solidFill>
                <a:latin typeface="Arial MT Pro"/>
                <a:ea typeface="Arial MT Pro"/>
                <a:cs typeface="Arial MT Pro"/>
                <a:sym typeface="Arial MT Pro"/>
              </a:rPr>
              <a:t>Manages role-based access control</a:t>
            </a:r>
          </a:p>
        </p:txBody>
      </p:sp>
      <p:grpSp>
        <p:nvGrpSpPr>
          <p:cNvPr name="Group 23" id="23"/>
          <p:cNvGrpSpPr/>
          <p:nvPr/>
        </p:nvGrpSpPr>
        <p:grpSpPr>
          <a:xfrm rot="0">
            <a:off x="12031113" y="4838852"/>
            <a:ext cx="5283546" cy="4223890"/>
            <a:chOff x="0" y="0"/>
            <a:chExt cx="7044728" cy="5631853"/>
          </a:xfrm>
        </p:grpSpPr>
        <p:sp>
          <p:nvSpPr>
            <p:cNvPr name="Freeform 24" id="24"/>
            <p:cNvSpPr/>
            <p:nvPr/>
          </p:nvSpPr>
          <p:spPr>
            <a:xfrm flipH="false" flipV="false" rot="0">
              <a:off x="25400" y="25400"/>
              <a:ext cx="6993889" cy="5581015"/>
            </a:xfrm>
            <a:custGeom>
              <a:avLst/>
              <a:gdLst/>
              <a:ahLst/>
              <a:cxnLst/>
              <a:rect r="r" b="b" t="t" l="l"/>
              <a:pathLst>
                <a:path h="5581015" w="6993889">
                  <a:moveTo>
                    <a:pt x="0" y="243840"/>
                  </a:moveTo>
                  <a:cubicBezTo>
                    <a:pt x="0" y="109220"/>
                    <a:pt x="109347" y="0"/>
                    <a:pt x="244221" y="0"/>
                  </a:cubicBezTo>
                  <a:lnTo>
                    <a:pt x="6749669" y="0"/>
                  </a:lnTo>
                  <a:cubicBezTo>
                    <a:pt x="6884543" y="0"/>
                    <a:pt x="6993889" y="109220"/>
                    <a:pt x="6993889" y="243840"/>
                  </a:cubicBezTo>
                  <a:lnTo>
                    <a:pt x="6993889" y="5337175"/>
                  </a:lnTo>
                  <a:cubicBezTo>
                    <a:pt x="6993889" y="5471795"/>
                    <a:pt x="6884543" y="5581015"/>
                    <a:pt x="6749669" y="5581015"/>
                  </a:cubicBezTo>
                  <a:lnTo>
                    <a:pt x="244221" y="5581015"/>
                  </a:lnTo>
                  <a:cubicBezTo>
                    <a:pt x="109347" y="5581015"/>
                    <a:pt x="0" y="5471795"/>
                    <a:pt x="0" y="5337175"/>
                  </a:cubicBezTo>
                  <a:close/>
                </a:path>
              </a:pathLst>
            </a:custGeom>
            <a:solidFill>
              <a:srgbClr val="FFFFFF">
                <a:alpha val="90196"/>
              </a:srgbClr>
            </a:solidFill>
          </p:spPr>
        </p:sp>
        <p:sp>
          <p:nvSpPr>
            <p:cNvPr name="Freeform 25" id="25"/>
            <p:cNvSpPr/>
            <p:nvPr/>
          </p:nvSpPr>
          <p:spPr>
            <a:xfrm flipH="false" flipV="false" rot="0">
              <a:off x="0" y="0"/>
              <a:ext cx="7044689" cy="5631815"/>
            </a:xfrm>
            <a:custGeom>
              <a:avLst/>
              <a:gdLst/>
              <a:ahLst/>
              <a:cxnLst/>
              <a:rect r="r" b="b" t="t" l="l"/>
              <a:pathLst>
                <a:path h="5631815" w="7044689">
                  <a:moveTo>
                    <a:pt x="0" y="269240"/>
                  </a:moveTo>
                  <a:cubicBezTo>
                    <a:pt x="0" y="120523"/>
                    <a:pt x="120777" y="0"/>
                    <a:pt x="269621" y="0"/>
                  </a:cubicBezTo>
                  <a:lnTo>
                    <a:pt x="6775069" y="0"/>
                  </a:lnTo>
                  <a:lnTo>
                    <a:pt x="6775069" y="25400"/>
                  </a:lnTo>
                  <a:lnTo>
                    <a:pt x="6775069" y="0"/>
                  </a:lnTo>
                  <a:cubicBezTo>
                    <a:pt x="6923912" y="0"/>
                    <a:pt x="7044689" y="120523"/>
                    <a:pt x="7044689" y="269240"/>
                  </a:cubicBezTo>
                  <a:lnTo>
                    <a:pt x="7019289" y="269240"/>
                  </a:lnTo>
                  <a:lnTo>
                    <a:pt x="7044689" y="269240"/>
                  </a:lnTo>
                  <a:lnTo>
                    <a:pt x="7044689" y="5362575"/>
                  </a:lnTo>
                  <a:lnTo>
                    <a:pt x="7019289" y="5362575"/>
                  </a:lnTo>
                  <a:lnTo>
                    <a:pt x="7044689" y="5362575"/>
                  </a:lnTo>
                  <a:cubicBezTo>
                    <a:pt x="7044689" y="5511292"/>
                    <a:pt x="6923912" y="5631815"/>
                    <a:pt x="6775069" y="5631815"/>
                  </a:cubicBezTo>
                  <a:lnTo>
                    <a:pt x="6775069" y="5606415"/>
                  </a:lnTo>
                  <a:lnTo>
                    <a:pt x="6775069" y="5631815"/>
                  </a:lnTo>
                  <a:lnTo>
                    <a:pt x="269621" y="5631815"/>
                  </a:lnTo>
                  <a:lnTo>
                    <a:pt x="269621" y="5606415"/>
                  </a:lnTo>
                  <a:lnTo>
                    <a:pt x="269621" y="5631815"/>
                  </a:lnTo>
                  <a:cubicBezTo>
                    <a:pt x="120777" y="5631815"/>
                    <a:pt x="0" y="5511419"/>
                    <a:pt x="0" y="5362575"/>
                  </a:cubicBezTo>
                  <a:lnTo>
                    <a:pt x="0" y="269240"/>
                  </a:lnTo>
                  <a:lnTo>
                    <a:pt x="25400" y="269240"/>
                  </a:lnTo>
                  <a:lnTo>
                    <a:pt x="0" y="269240"/>
                  </a:lnTo>
                  <a:moveTo>
                    <a:pt x="50800" y="269240"/>
                  </a:moveTo>
                  <a:lnTo>
                    <a:pt x="50800" y="5362575"/>
                  </a:lnTo>
                  <a:lnTo>
                    <a:pt x="25400" y="5362575"/>
                  </a:lnTo>
                  <a:lnTo>
                    <a:pt x="50800" y="5362575"/>
                  </a:lnTo>
                  <a:cubicBezTo>
                    <a:pt x="50800" y="5483225"/>
                    <a:pt x="148717" y="5581015"/>
                    <a:pt x="269621" y="5581015"/>
                  </a:cubicBezTo>
                  <a:lnTo>
                    <a:pt x="6775069" y="5581015"/>
                  </a:lnTo>
                  <a:cubicBezTo>
                    <a:pt x="6895973" y="5581015"/>
                    <a:pt x="6993889" y="5483225"/>
                    <a:pt x="6993889" y="5362575"/>
                  </a:cubicBezTo>
                  <a:lnTo>
                    <a:pt x="6993889" y="269240"/>
                  </a:lnTo>
                  <a:cubicBezTo>
                    <a:pt x="6993889" y="148590"/>
                    <a:pt x="6895973" y="50800"/>
                    <a:pt x="6775069" y="50800"/>
                  </a:cubicBezTo>
                  <a:lnTo>
                    <a:pt x="269621" y="50800"/>
                  </a:lnTo>
                  <a:lnTo>
                    <a:pt x="269621" y="25400"/>
                  </a:lnTo>
                  <a:lnTo>
                    <a:pt x="269621" y="50800"/>
                  </a:lnTo>
                  <a:cubicBezTo>
                    <a:pt x="148717" y="50800"/>
                    <a:pt x="50800" y="148590"/>
                    <a:pt x="50800" y="269240"/>
                  </a:cubicBezTo>
                  <a:close/>
                </a:path>
              </a:pathLst>
            </a:custGeom>
            <a:solidFill>
              <a:srgbClr val="C8CACF"/>
            </a:solidFill>
          </p:spPr>
        </p:sp>
      </p:grpSp>
      <p:grpSp>
        <p:nvGrpSpPr>
          <p:cNvPr name="Group 26" id="26"/>
          <p:cNvGrpSpPr/>
          <p:nvPr/>
        </p:nvGrpSpPr>
        <p:grpSpPr>
          <a:xfrm rot="0">
            <a:off x="12012063" y="4857902"/>
            <a:ext cx="152400" cy="4185790"/>
            <a:chOff x="0" y="0"/>
            <a:chExt cx="203200" cy="5581053"/>
          </a:xfrm>
        </p:grpSpPr>
        <p:sp>
          <p:nvSpPr>
            <p:cNvPr name="Freeform 27" id="27"/>
            <p:cNvSpPr/>
            <p:nvPr/>
          </p:nvSpPr>
          <p:spPr>
            <a:xfrm flipH="false" flipV="false" rot="0">
              <a:off x="0" y="0"/>
              <a:ext cx="203200" cy="5581015"/>
            </a:xfrm>
            <a:custGeom>
              <a:avLst/>
              <a:gdLst/>
              <a:ahLst/>
              <a:cxnLst/>
              <a:rect r="r" b="b" t="t" l="l"/>
              <a:pathLst>
                <a:path h="5581015" w="203200">
                  <a:moveTo>
                    <a:pt x="0" y="101600"/>
                  </a:moveTo>
                  <a:cubicBezTo>
                    <a:pt x="0" y="45466"/>
                    <a:pt x="45466" y="0"/>
                    <a:pt x="101600" y="0"/>
                  </a:cubicBezTo>
                  <a:cubicBezTo>
                    <a:pt x="157734" y="0"/>
                    <a:pt x="203200" y="45466"/>
                    <a:pt x="203200" y="101600"/>
                  </a:cubicBezTo>
                  <a:lnTo>
                    <a:pt x="203200" y="5479415"/>
                  </a:lnTo>
                  <a:cubicBezTo>
                    <a:pt x="203200" y="5535549"/>
                    <a:pt x="157734" y="5581015"/>
                    <a:pt x="101600" y="5581015"/>
                  </a:cubicBezTo>
                  <a:cubicBezTo>
                    <a:pt x="45466" y="5581015"/>
                    <a:pt x="0" y="5535549"/>
                    <a:pt x="0" y="5479415"/>
                  </a:cubicBezTo>
                  <a:close/>
                </a:path>
              </a:pathLst>
            </a:custGeom>
            <a:solidFill>
              <a:srgbClr val="141519"/>
            </a:solidFill>
          </p:spPr>
        </p:sp>
      </p:grpSp>
      <p:sp>
        <p:nvSpPr>
          <p:cNvPr name="TextBox 28" id="28"/>
          <p:cNvSpPr txBox="true"/>
          <p:nvPr/>
        </p:nvSpPr>
        <p:spPr>
          <a:xfrm rot="0">
            <a:off x="12486084" y="5103314"/>
            <a:ext cx="2983111" cy="487362"/>
          </a:xfrm>
          <a:prstGeom prst="rect">
            <a:avLst/>
          </a:prstGeom>
        </p:spPr>
        <p:txBody>
          <a:bodyPr anchor="t" rtlCol="false" tIns="0" lIns="0" bIns="0" rIns="0">
            <a:spAutoFit/>
          </a:bodyPr>
          <a:lstStyle/>
          <a:p>
            <a:pPr algn="l">
              <a:lnSpc>
                <a:spcPts val="3437"/>
              </a:lnSpc>
            </a:pPr>
            <a:r>
              <a:rPr lang="en-US" sz="2750">
                <a:solidFill>
                  <a:srgbClr val="141519"/>
                </a:solidFill>
                <a:latin typeface="Arial MT Pro"/>
                <a:ea typeface="Arial MT Pro"/>
                <a:cs typeface="Arial MT Pro"/>
                <a:sym typeface="Arial MT Pro"/>
              </a:rPr>
              <a:t>🗄️ UserRepository</a:t>
            </a:r>
          </a:p>
        </p:txBody>
      </p:sp>
      <p:sp>
        <p:nvSpPr>
          <p:cNvPr name="TextBox 29" id="29"/>
          <p:cNvSpPr txBox="true"/>
          <p:nvPr/>
        </p:nvSpPr>
        <p:spPr>
          <a:xfrm rot="0">
            <a:off x="12486084" y="5659193"/>
            <a:ext cx="4487913" cy="1814512"/>
          </a:xfrm>
          <a:prstGeom prst="rect">
            <a:avLst/>
          </a:prstGeom>
        </p:spPr>
        <p:txBody>
          <a:bodyPr anchor="t" rtlCol="false" tIns="0" lIns="0" bIns="0" rIns="0">
            <a:spAutoFit/>
          </a:bodyPr>
          <a:lstStyle/>
          <a:p>
            <a:pPr algn="l" marL="329903" indent="-164951" lvl="1">
              <a:lnSpc>
                <a:spcPts val="3562"/>
              </a:lnSpc>
              <a:buFont typeface="Arial"/>
              <a:buChar char="•"/>
            </a:pPr>
            <a:r>
              <a:rPr lang="en-US" sz="2187">
                <a:solidFill>
                  <a:srgbClr val="141519"/>
                </a:solidFill>
                <a:latin typeface="Arial MT Pro"/>
                <a:ea typeface="Arial MT Pro"/>
                <a:cs typeface="Arial MT Pro"/>
                <a:sym typeface="Arial MT Pro"/>
              </a:rPr>
              <a:t>Communicates with the database</a:t>
            </a:r>
          </a:p>
          <a:p>
            <a:pPr algn="l" marL="329903" indent="-164951" lvl="1">
              <a:lnSpc>
                <a:spcPts val="3562"/>
              </a:lnSpc>
              <a:buFont typeface="Arial"/>
              <a:buChar char="•"/>
            </a:pPr>
            <a:r>
              <a:rPr lang="en-US" sz="2187">
                <a:solidFill>
                  <a:srgbClr val="141519"/>
                </a:solidFill>
                <a:latin typeface="Arial MT Pro"/>
                <a:ea typeface="Arial MT Pro"/>
                <a:cs typeface="Arial MT Pro"/>
                <a:sym typeface="Arial MT Pro"/>
              </a:rPr>
              <a:t>Stores and retrieves user details</a:t>
            </a:r>
          </a:p>
          <a:p>
            <a:pPr algn="l" marL="329903" indent="-164951" lvl="1">
              <a:lnSpc>
                <a:spcPts val="3562"/>
              </a:lnSpc>
              <a:buFont typeface="Arial"/>
              <a:buChar char="•"/>
            </a:pPr>
            <a:r>
              <a:rPr lang="en-US" sz="2187">
                <a:solidFill>
                  <a:srgbClr val="141519"/>
                </a:solidFill>
                <a:latin typeface="Arial MT Pro"/>
                <a:ea typeface="Arial MT Pro"/>
                <a:cs typeface="Arial MT Pro"/>
                <a:sym typeface="Arial MT Pro"/>
              </a:rPr>
              <a:t>Supports authentication operations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41519">
                <a:alpha val="90196"/>
              </a:srgbClr>
            </a:solidFill>
          </p:spPr>
        </p:sp>
      </p:grpSp>
      <p:sp>
        <p:nvSpPr>
          <p:cNvPr name="TextBox 6" id="6"/>
          <p:cNvSpPr txBox="true"/>
          <p:nvPr/>
        </p:nvSpPr>
        <p:spPr>
          <a:xfrm rot="0">
            <a:off x="992238" y="775545"/>
            <a:ext cx="11504414" cy="976312"/>
          </a:xfrm>
          <a:prstGeom prst="rect">
            <a:avLst/>
          </a:prstGeom>
        </p:spPr>
        <p:txBody>
          <a:bodyPr anchor="t" rtlCol="false" tIns="0" lIns="0" bIns="0" rIns="0">
            <a:spAutoFit/>
          </a:bodyPr>
          <a:lstStyle/>
          <a:p>
            <a:pPr algn="l">
              <a:lnSpc>
                <a:spcPts val="6937"/>
              </a:lnSpc>
            </a:pPr>
            <a:r>
              <a:rPr lang="en-US" b="true" sz="5562" spc="-233">
                <a:solidFill>
                  <a:srgbClr val="FFFFFF"/>
                </a:solidFill>
                <a:latin typeface="Arial MT Pro Bold"/>
                <a:ea typeface="Arial MT Pro Bold"/>
                <a:cs typeface="Arial MT Pro Bold"/>
                <a:sym typeface="Arial MT Pro Bold"/>
              </a:rPr>
              <a:t>Module 2: Smart Device Management</a:t>
            </a:r>
          </a:p>
        </p:txBody>
      </p:sp>
      <p:sp>
        <p:nvSpPr>
          <p:cNvPr name="TextBox 7" id="7"/>
          <p:cNvSpPr txBox="true"/>
          <p:nvPr/>
        </p:nvSpPr>
        <p:spPr>
          <a:xfrm rot="0">
            <a:off x="992238" y="2219030"/>
            <a:ext cx="16303523" cy="919162"/>
          </a:xfrm>
          <a:prstGeom prst="rect">
            <a:avLst/>
          </a:prstGeom>
        </p:spPr>
        <p:txBody>
          <a:bodyPr anchor="t" rtlCol="false" tIns="0" lIns="0" bIns="0" rIns="0">
            <a:spAutoFit/>
          </a:bodyPr>
          <a:lstStyle/>
          <a:p>
            <a:pPr algn="l">
              <a:lnSpc>
                <a:spcPts val="3562"/>
              </a:lnSpc>
            </a:pPr>
            <a:r>
              <a:rPr lang="en-US" sz="2187">
                <a:solidFill>
                  <a:srgbClr val="FFFFFF"/>
                </a:solidFill>
                <a:latin typeface="Arial MT Pro"/>
                <a:ea typeface="Arial MT Pro"/>
                <a:cs typeface="Arial MT Pro"/>
                <a:sym typeface="Arial MT Pro"/>
              </a:rPr>
              <a:t>This module provides the essential framework for managing and controlling various smart home devices, ensuring seamless integration and user control within the system.</a:t>
            </a:r>
          </a:p>
        </p:txBody>
      </p:sp>
      <p:sp>
        <p:nvSpPr>
          <p:cNvPr name="TextBox 8" id="8"/>
          <p:cNvSpPr txBox="true"/>
          <p:nvPr/>
        </p:nvSpPr>
        <p:spPr>
          <a:xfrm rot="0">
            <a:off x="992238" y="3795417"/>
            <a:ext cx="1358305" cy="487362"/>
          </a:xfrm>
          <a:prstGeom prst="rect">
            <a:avLst/>
          </a:prstGeom>
        </p:spPr>
        <p:txBody>
          <a:bodyPr anchor="t" rtlCol="false" tIns="0" lIns="0" bIns="0" rIns="0">
            <a:spAutoFit/>
          </a:bodyPr>
          <a:lstStyle/>
          <a:p>
            <a:pPr algn="l">
              <a:lnSpc>
                <a:spcPts val="3437"/>
              </a:lnSpc>
            </a:pPr>
            <a:r>
              <a:rPr lang="en-US" b="true" sz="2750" spc="-44">
                <a:solidFill>
                  <a:srgbClr val="FFFFFF"/>
                </a:solidFill>
                <a:latin typeface="Arial MT Pro Bold"/>
                <a:ea typeface="Arial MT Pro Bold"/>
                <a:cs typeface="Arial MT Pro Bold"/>
                <a:sym typeface="Arial MT Pro Bold"/>
              </a:rPr>
              <a:t>Purpose</a:t>
            </a:r>
          </a:p>
        </p:txBody>
      </p:sp>
      <p:sp>
        <p:nvSpPr>
          <p:cNvPr name="TextBox 9" id="9"/>
          <p:cNvSpPr txBox="true"/>
          <p:nvPr/>
        </p:nvSpPr>
        <p:spPr>
          <a:xfrm rot="0">
            <a:off x="992238" y="4455166"/>
            <a:ext cx="7805890" cy="471487"/>
          </a:xfrm>
          <a:prstGeom prst="rect">
            <a:avLst/>
          </a:prstGeom>
        </p:spPr>
        <p:txBody>
          <a:bodyPr anchor="t" rtlCol="false" tIns="0" lIns="0" bIns="0" rIns="0">
            <a:spAutoFit/>
          </a:bodyPr>
          <a:lstStyle/>
          <a:p>
            <a:pPr algn="l" marL="329903" indent="-164951" lvl="1">
              <a:lnSpc>
                <a:spcPts val="3562"/>
              </a:lnSpc>
              <a:buFont typeface="Arial"/>
              <a:buChar char="•"/>
            </a:pPr>
            <a:r>
              <a:rPr lang="en-US" sz="2187">
                <a:solidFill>
                  <a:srgbClr val="FFFFFF"/>
                </a:solidFill>
                <a:latin typeface="Arial MT Pro"/>
                <a:ea typeface="Arial MT Pro"/>
                <a:cs typeface="Arial MT Pro"/>
                <a:sym typeface="Arial MT Pro"/>
              </a:rPr>
              <a:t>Manage all smart home devices</a:t>
            </a:r>
          </a:p>
        </p:txBody>
      </p:sp>
      <p:sp>
        <p:nvSpPr>
          <p:cNvPr name="TextBox 10" id="10"/>
          <p:cNvSpPr txBox="true"/>
          <p:nvPr/>
        </p:nvSpPr>
        <p:spPr>
          <a:xfrm rot="0">
            <a:off x="992238" y="5258991"/>
            <a:ext cx="2333724" cy="487362"/>
          </a:xfrm>
          <a:prstGeom prst="rect">
            <a:avLst/>
          </a:prstGeom>
        </p:spPr>
        <p:txBody>
          <a:bodyPr anchor="t" rtlCol="false" tIns="0" lIns="0" bIns="0" rIns="0">
            <a:spAutoFit/>
          </a:bodyPr>
          <a:lstStyle/>
          <a:p>
            <a:pPr algn="l">
              <a:lnSpc>
                <a:spcPts val="3437"/>
              </a:lnSpc>
            </a:pPr>
            <a:r>
              <a:rPr lang="en-US" b="true" sz="2750" spc="-44">
                <a:solidFill>
                  <a:srgbClr val="FFFFFF"/>
                </a:solidFill>
                <a:latin typeface="Arial MT Pro Bold"/>
                <a:ea typeface="Arial MT Pro Bold"/>
                <a:cs typeface="Arial MT Pro Bold"/>
                <a:sym typeface="Arial MT Pro Bold"/>
              </a:rPr>
              <a:t>Key Functions</a:t>
            </a:r>
          </a:p>
        </p:txBody>
      </p:sp>
      <p:sp>
        <p:nvSpPr>
          <p:cNvPr name="TextBox 11" id="11"/>
          <p:cNvSpPr txBox="true"/>
          <p:nvPr/>
        </p:nvSpPr>
        <p:spPr>
          <a:xfrm rot="0">
            <a:off x="992238" y="5918749"/>
            <a:ext cx="7805890" cy="2709862"/>
          </a:xfrm>
          <a:prstGeom prst="rect">
            <a:avLst/>
          </a:prstGeom>
        </p:spPr>
        <p:txBody>
          <a:bodyPr anchor="t" rtlCol="false" tIns="0" lIns="0" bIns="0" rIns="0">
            <a:spAutoFit/>
          </a:bodyPr>
          <a:lstStyle/>
          <a:p>
            <a:pPr algn="l" marL="329903" indent="-164951" lvl="1">
              <a:lnSpc>
                <a:spcPts val="3562"/>
              </a:lnSpc>
              <a:buFont typeface="Arial"/>
              <a:buChar char="•"/>
            </a:pPr>
            <a:r>
              <a:rPr lang="en-US" sz="2187">
                <a:solidFill>
                  <a:srgbClr val="FFFFFF"/>
                </a:solidFill>
                <a:latin typeface="Arial MT Pro"/>
                <a:ea typeface="Arial MT Pro"/>
                <a:cs typeface="Arial MT Pro"/>
                <a:sym typeface="Arial MT Pro"/>
              </a:rPr>
              <a:t>Allow users to control devices (ON/OFF)</a:t>
            </a:r>
          </a:p>
          <a:p>
            <a:pPr algn="l" marL="329903" indent="-164951" lvl="1">
              <a:lnSpc>
                <a:spcPts val="3562"/>
              </a:lnSpc>
              <a:buFont typeface="Arial"/>
              <a:buChar char="•"/>
            </a:pPr>
            <a:r>
              <a:rPr lang="en-US" sz="2187">
                <a:solidFill>
                  <a:srgbClr val="FFFFFF"/>
                </a:solidFill>
                <a:latin typeface="Arial MT Pro"/>
                <a:ea typeface="Arial MT Pro"/>
                <a:cs typeface="Arial MT Pro"/>
                <a:sym typeface="Arial MT Pro"/>
              </a:rPr>
              <a:t>Maintain real-time device status</a:t>
            </a:r>
          </a:p>
          <a:p>
            <a:pPr algn="l" marL="329903" indent="-164951" lvl="1">
              <a:lnSpc>
                <a:spcPts val="3562"/>
              </a:lnSpc>
              <a:buFont typeface="Arial"/>
              <a:buChar char="•"/>
            </a:pPr>
            <a:r>
              <a:rPr lang="en-US" sz="2187">
                <a:solidFill>
                  <a:srgbClr val="FFFFFF"/>
                </a:solidFill>
                <a:latin typeface="Arial MT Pro"/>
                <a:ea typeface="Arial MT Pro"/>
                <a:cs typeface="Arial MT Pro"/>
                <a:sym typeface="Arial MT Pro"/>
              </a:rPr>
              <a:t>Add, Update, and Delete devices</a:t>
            </a:r>
          </a:p>
          <a:p>
            <a:pPr algn="l" marL="329903" indent="-164951" lvl="1">
              <a:lnSpc>
                <a:spcPts val="3562"/>
              </a:lnSpc>
              <a:buFont typeface="Arial"/>
              <a:buChar char="•"/>
            </a:pPr>
            <a:r>
              <a:rPr lang="en-US" sz="2187">
                <a:solidFill>
                  <a:srgbClr val="FFFFFF"/>
                </a:solidFill>
                <a:latin typeface="Arial MT Pro"/>
                <a:ea typeface="Arial MT Pro"/>
                <a:cs typeface="Arial MT Pro"/>
                <a:sym typeface="Arial MT Pro"/>
              </a:rPr>
              <a:t>Fetch list of devices</a:t>
            </a:r>
          </a:p>
          <a:p>
            <a:pPr algn="l" marL="329903" indent="-164951" lvl="1">
              <a:lnSpc>
                <a:spcPts val="3562"/>
              </a:lnSpc>
              <a:buFont typeface="Arial"/>
              <a:buChar char="•"/>
            </a:pPr>
            <a:r>
              <a:rPr lang="en-US" sz="2187">
                <a:solidFill>
                  <a:srgbClr val="FFFFFF"/>
                </a:solidFill>
                <a:latin typeface="Arial MT Pro"/>
                <a:ea typeface="Arial MT Pro"/>
                <a:cs typeface="Arial MT Pro"/>
                <a:sym typeface="Arial MT Pro"/>
              </a:rPr>
              <a:t>Control device operations</a:t>
            </a:r>
          </a:p>
          <a:p>
            <a:pPr algn="l" marL="329903" indent="-164951" lvl="1">
              <a:lnSpc>
                <a:spcPts val="3562"/>
              </a:lnSpc>
              <a:buFont typeface="Arial"/>
              <a:buChar char="•"/>
            </a:pPr>
            <a:r>
              <a:rPr lang="en-US" sz="2187">
                <a:solidFill>
                  <a:srgbClr val="FFFFFF"/>
                </a:solidFill>
                <a:latin typeface="Arial MT Pro"/>
                <a:ea typeface="Arial MT Pro"/>
                <a:cs typeface="Arial MT Pro"/>
                <a:sym typeface="Arial MT Pro"/>
              </a:rPr>
              <a:t>Store and update device configurations</a:t>
            </a:r>
          </a:p>
        </p:txBody>
      </p:sp>
      <p:sp>
        <p:nvSpPr>
          <p:cNvPr name="TextBox 12" id="12"/>
          <p:cNvSpPr txBox="true"/>
          <p:nvPr/>
        </p:nvSpPr>
        <p:spPr>
          <a:xfrm rot="0">
            <a:off x="9499397" y="3795417"/>
            <a:ext cx="2943225" cy="487362"/>
          </a:xfrm>
          <a:prstGeom prst="rect">
            <a:avLst/>
          </a:prstGeom>
        </p:spPr>
        <p:txBody>
          <a:bodyPr anchor="t" rtlCol="false" tIns="0" lIns="0" bIns="0" rIns="0">
            <a:spAutoFit/>
          </a:bodyPr>
          <a:lstStyle/>
          <a:p>
            <a:pPr algn="l">
              <a:lnSpc>
                <a:spcPts val="3437"/>
              </a:lnSpc>
            </a:pPr>
            <a:r>
              <a:rPr lang="en-US" b="true" sz="2750" spc="-44">
                <a:solidFill>
                  <a:srgbClr val="FFFFFF"/>
                </a:solidFill>
                <a:latin typeface="Arial MT Pro Bold"/>
                <a:ea typeface="Arial MT Pro Bold"/>
                <a:cs typeface="Arial MT Pro Bold"/>
                <a:sym typeface="Arial MT Pro Bold"/>
              </a:rPr>
              <a:t>Main Components</a:t>
            </a:r>
          </a:p>
        </p:txBody>
      </p:sp>
      <p:sp>
        <p:nvSpPr>
          <p:cNvPr name="TextBox 13" id="13"/>
          <p:cNvSpPr txBox="true"/>
          <p:nvPr/>
        </p:nvSpPr>
        <p:spPr>
          <a:xfrm rot="0">
            <a:off x="9499397" y="4455166"/>
            <a:ext cx="7805890" cy="1814512"/>
          </a:xfrm>
          <a:prstGeom prst="rect">
            <a:avLst/>
          </a:prstGeom>
        </p:spPr>
        <p:txBody>
          <a:bodyPr anchor="t" rtlCol="false" tIns="0" lIns="0" bIns="0" rIns="0">
            <a:spAutoFit/>
          </a:bodyPr>
          <a:lstStyle/>
          <a:p>
            <a:pPr algn="l" marL="329903" indent="-164951" lvl="1">
              <a:lnSpc>
                <a:spcPts val="3562"/>
              </a:lnSpc>
              <a:buFont typeface="Arial"/>
              <a:buChar char="•"/>
            </a:pPr>
            <a:r>
              <a:rPr lang="en-US" sz="2187">
                <a:solidFill>
                  <a:srgbClr val="FFFFFF"/>
                </a:solidFill>
                <a:latin typeface="Arial MT Pro"/>
                <a:ea typeface="Arial MT Pro"/>
                <a:cs typeface="Arial MT Pro"/>
                <a:sym typeface="Arial MT Pro"/>
              </a:rPr>
              <a:t>DeviceController</a:t>
            </a:r>
          </a:p>
          <a:p>
            <a:pPr algn="l" marL="329903" indent="-164951" lvl="1">
              <a:lnSpc>
                <a:spcPts val="3562"/>
              </a:lnSpc>
              <a:buFont typeface="Arial"/>
              <a:buChar char="•"/>
            </a:pPr>
            <a:r>
              <a:rPr lang="en-US" sz="2187">
                <a:solidFill>
                  <a:srgbClr val="FFFFFF"/>
                </a:solidFill>
                <a:latin typeface="Arial MT Pro"/>
                <a:ea typeface="Arial MT Pro"/>
                <a:cs typeface="Arial MT Pro"/>
                <a:sym typeface="Arial MT Pro"/>
              </a:rPr>
              <a:t>DeviceService</a:t>
            </a:r>
          </a:p>
          <a:p>
            <a:pPr algn="l" marL="329903" indent="-164951" lvl="1">
              <a:lnSpc>
                <a:spcPts val="3562"/>
              </a:lnSpc>
              <a:buFont typeface="Arial"/>
              <a:buChar char="•"/>
            </a:pPr>
            <a:r>
              <a:rPr lang="en-US" sz="2187">
                <a:solidFill>
                  <a:srgbClr val="FFFFFF"/>
                </a:solidFill>
                <a:latin typeface="Arial MT Pro"/>
                <a:ea typeface="Arial MT Pro"/>
                <a:cs typeface="Arial MT Pro"/>
                <a:sym typeface="Arial MT Pro"/>
              </a:rPr>
              <a:t>DeviceRepository</a:t>
            </a:r>
          </a:p>
          <a:p>
            <a:pPr algn="l" marL="329903" indent="-164951" lvl="1">
              <a:lnSpc>
                <a:spcPts val="3562"/>
              </a:lnSpc>
              <a:buFont typeface="Arial"/>
              <a:buChar char="•"/>
            </a:pPr>
            <a:r>
              <a:rPr lang="en-US" sz="2187">
                <a:solidFill>
                  <a:srgbClr val="FFFFFF"/>
                </a:solidFill>
                <a:latin typeface="Arial MT Pro"/>
                <a:ea typeface="Arial MT Pro"/>
                <a:cs typeface="Arial MT Pro"/>
                <a:sym typeface="Arial MT Pro"/>
              </a:rPr>
              <a:t>Device (Model)</a:t>
            </a:r>
          </a:p>
        </p:txBody>
      </p:sp>
      <p:sp>
        <p:nvSpPr>
          <p:cNvPr name="TextBox 14" id="14"/>
          <p:cNvSpPr txBox="true"/>
          <p:nvPr/>
        </p:nvSpPr>
        <p:spPr>
          <a:xfrm rot="0">
            <a:off x="9499397" y="6619989"/>
            <a:ext cx="1299567" cy="487362"/>
          </a:xfrm>
          <a:prstGeom prst="rect">
            <a:avLst/>
          </a:prstGeom>
        </p:spPr>
        <p:txBody>
          <a:bodyPr anchor="t" rtlCol="false" tIns="0" lIns="0" bIns="0" rIns="0">
            <a:spAutoFit/>
          </a:bodyPr>
          <a:lstStyle/>
          <a:p>
            <a:pPr algn="l">
              <a:lnSpc>
                <a:spcPts val="3437"/>
              </a:lnSpc>
            </a:pPr>
            <a:r>
              <a:rPr lang="en-US" b="true" sz="2750" spc="-44">
                <a:solidFill>
                  <a:srgbClr val="FFFFFF"/>
                </a:solidFill>
                <a:latin typeface="Arial MT Pro Bold"/>
                <a:ea typeface="Arial MT Pro Bold"/>
                <a:cs typeface="Arial MT Pro Bold"/>
                <a:sym typeface="Arial MT Pro Bold"/>
              </a:rPr>
              <a:t>Outputs</a:t>
            </a:r>
          </a:p>
        </p:txBody>
      </p:sp>
      <p:sp>
        <p:nvSpPr>
          <p:cNvPr name="TextBox 15" id="15"/>
          <p:cNvSpPr txBox="true"/>
          <p:nvPr/>
        </p:nvSpPr>
        <p:spPr>
          <a:xfrm rot="0">
            <a:off x="9499397" y="7279738"/>
            <a:ext cx="7805890" cy="919162"/>
          </a:xfrm>
          <a:prstGeom prst="rect">
            <a:avLst/>
          </a:prstGeom>
        </p:spPr>
        <p:txBody>
          <a:bodyPr anchor="t" rtlCol="false" tIns="0" lIns="0" bIns="0" rIns="0">
            <a:spAutoFit/>
          </a:bodyPr>
          <a:lstStyle/>
          <a:p>
            <a:pPr algn="l" marL="329903" indent="-164951" lvl="1">
              <a:lnSpc>
                <a:spcPts val="3562"/>
              </a:lnSpc>
              <a:buFont typeface="Arial"/>
              <a:buChar char="•"/>
            </a:pPr>
            <a:r>
              <a:rPr lang="en-US" sz="2187">
                <a:solidFill>
                  <a:srgbClr val="FFFFFF"/>
                </a:solidFill>
                <a:latin typeface="Arial MT Pro"/>
                <a:ea typeface="Arial MT Pro"/>
                <a:cs typeface="Arial MT Pro"/>
                <a:sym typeface="Arial MT Pro"/>
              </a:rPr>
              <a:t>Real-time device status updates</a:t>
            </a:r>
          </a:p>
          <a:p>
            <a:pPr algn="l" marL="329903" indent="-164951" lvl="1">
              <a:lnSpc>
                <a:spcPts val="3562"/>
              </a:lnSpc>
              <a:buFont typeface="Arial"/>
              <a:buChar char="•"/>
            </a:pPr>
            <a:r>
              <a:rPr lang="en-US" sz="2187">
                <a:solidFill>
                  <a:srgbClr val="FFFFFF"/>
                </a:solidFill>
                <a:latin typeface="Arial MT Pro"/>
                <a:ea typeface="Arial MT Pro"/>
                <a:cs typeface="Arial MT Pro"/>
                <a:sym typeface="Arial MT Pro"/>
              </a:rPr>
              <a:t>Comprehensive device list for dashboards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41519">
                <a:alpha val="90196"/>
              </a:srgbClr>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4"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5"/>
              <a:stretch>
                <a:fillRect l="0" t="0" r="-1" b="0"/>
              </a:stretch>
            </a:blipFill>
          </p:spPr>
        </p:sp>
      </p:grpSp>
      <p:sp>
        <p:nvSpPr>
          <p:cNvPr name="TextBox 8" id="8"/>
          <p:cNvSpPr txBox="true"/>
          <p:nvPr/>
        </p:nvSpPr>
        <p:spPr>
          <a:xfrm rot="0">
            <a:off x="676570" y="688181"/>
            <a:ext cx="4581624" cy="430213"/>
          </a:xfrm>
          <a:prstGeom prst="rect">
            <a:avLst/>
          </a:prstGeom>
        </p:spPr>
        <p:txBody>
          <a:bodyPr anchor="t" rtlCol="false" tIns="0" lIns="0" bIns="0" rIns="0">
            <a:spAutoFit/>
          </a:bodyPr>
          <a:lstStyle/>
          <a:p>
            <a:pPr algn="l">
              <a:lnSpc>
                <a:spcPts val="3062"/>
              </a:lnSpc>
            </a:pPr>
            <a:r>
              <a:rPr lang="en-US" b="true" sz="2437" spc="-102">
                <a:solidFill>
                  <a:srgbClr val="FFFFFF"/>
                </a:solidFill>
                <a:latin typeface="Arial MT Pro Bold"/>
                <a:ea typeface="Arial MT Pro Bold"/>
                <a:cs typeface="Arial MT Pro Bold"/>
                <a:sym typeface="Arial MT Pro Bold"/>
              </a:rPr>
              <a:t>System Workflow &amp; Process Flow</a:t>
            </a:r>
          </a:p>
        </p:txBody>
      </p:sp>
      <p:sp>
        <p:nvSpPr>
          <p:cNvPr name="TextBox 9" id="9"/>
          <p:cNvSpPr txBox="true"/>
          <p:nvPr/>
        </p:nvSpPr>
        <p:spPr>
          <a:xfrm rot="0">
            <a:off x="676570" y="1230211"/>
            <a:ext cx="5684243" cy="171450"/>
          </a:xfrm>
          <a:prstGeom prst="rect">
            <a:avLst/>
          </a:prstGeom>
        </p:spPr>
        <p:txBody>
          <a:bodyPr anchor="t" rtlCol="false" tIns="0" lIns="0" bIns="0" rIns="0">
            <a:spAutoFit/>
          </a:bodyPr>
          <a:lstStyle/>
          <a:p>
            <a:pPr algn="l">
              <a:lnSpc>
                <a:spcPts val="1125"/>
              </a:lnSpc>
            </a:pPr>
            <a:r>
              <a:rPr lang="en-US" sz="937">
                <a:solidFill>
                  <a:srgbClr val="FFFFFF"/>
                </a:solidFill>
                <a:latin typeface="Arial MT Pro"/>
                <a:ea typeface="Arial MT Pro"/>
                <a:cs typeface="Arial MT Pro"/>
                <a:sym typeface="Arial MT Pro"/>
              </a:rPr>
              <a:t>This diagram illustrates the core interactions within the system, from user actions to automated suggestions.</a:t>
            </a:r>
          </a:p>
        </p:txBody>
      </p:sp>
      <p:grpSp>
        <p:nvGrpSpPr>
          <p:cNvPr name="Group 10" id="10"/>
          <p:cNvGrpSpPr/>
          <p:nvPr/>
        </p:nvGrpSpPr>
        <p:grpSpPr>
          <a:xfrm rot="0">
            <a:off x="676570" y="1466259"/>
            <a:ext cx="3400577" cy="4730201"/>
            <a:chOff x="0" y="0"/>
            <a:chExt cx="4534103" cy="6306934"/>
          </a:xfrm>
        </p:grpSpPr>
        <p:sp>
          <p:nvSpPr>
            <p:cNvPr name="Freeform 11" id="11" descr="preencoded.png"/>
            <p:cNvSpPr/>
            <p:nvPr/>
          </p:nvSpPr>
          <p:spPr>
            <a:xfrm flipH="false" flipV="false" rot="0">
              <a:off x="0" y="0"/>
              <a:ext cx="4534154" cy="6306947"/>
            </a:xfrm>
            <a:custGeom>
              <a:avLst/>
              <a:gdLst/>
              <a:ahLst/>
              <a:cxnLst/>
              <a:rect r="r" b="b" t="t" l="l"/>
              <a:pathLst>
                <a:path h="6306947" w="4534154">
                  <a:moveTo>
                    <a:pt x="0" y="0"/>
                  </a:moveTo>
                  <a:lnTo>
                    <a:pt x="4534154" y="0"/>
                  </a:lnTo>
                  <a:lnTo>
                    <a:pt x="4534154" y="6306947"/>
                  </a:lnTo>
                  <a:lnTo>
                    <a:pt x="0" y="6306947"/>
                  </a:lnTo>
                  <a:lnTo>
                    <a:pt x="0" y="0"/>
                  </a:lnTo>
                  <a:close/>
                </a:path>
              </a:pathLst>
            </a:custGeom>
            <a:blipFill>
              <a:blip r:embed="rId6"/>
              <a:stretch>
                <a:fillRect l="0" t="-41" r="1" b="-41"/>
              </a:stretch>
            </a:blipFill>
          </p:spPr>
        </p:sp>
      </p:grpSp>
      <p:grpSp>
        <p:nvGrpSpPr>
          <p:cNvPr name="Group 12" id="12"/>
          <p:cNvGrpSpPr/>
          <p:nvPr/>
        </p:nvGrpSpPr>
        <p:grpSpPr>
          <a:xfrm rot="0">
            <a:off x="676570" y="6258963"/>
            <a:ext cx="5644906" cy="502596"/>
            <a:chOff x="0" y="0"/>
            <a:chExt cx="7526541" cy="670128"/>
          </a:xfrm>
        </p:grpSpPr>
        <p:sp>
          <p:nvSpPr>
            <p:cNvPr name="Freeform 13" id="13" descr="preencoded.png"/>
            <p:cNvSpPr/>
            <p:nvPr/>
          </p:nvSpPr>
          <p:spPr>
            <a:xfrm flipH="false" flipV="false" rot="0">
              <a:off x="0" y="0"/>
              <a:ext cx="7526528" cy="670179"/>
            </a:xfrm>
            <a:custGeom>
              <a:avLst/>
              <a:gdLst/>
              <a:ahLst/>
              <a:cxnLst/>
              <a:rect r="r" b="b" t="t" l="l"/>
              <a:pathLst>
                <a:path h="670179" w="7526528">
                  <a:moveTo>
                    <a:pt x="0" y="0"/>
                  </a:moveTo>
                  <a:lnTo>
                    <a:pt x="7526528" y="0"/>
                  </a:lnTo>
                  <a:lnTo>
                    <a:pt x="7526528" y="670179"/>
                  </a:lnTo>
                  <a:lnTo>
                    <a:pt x="0" y="670179"/>
                  </a:lnTo>
                  <a:lnTo>
                    <a:pt x="0" y="0"/>
                  </a:lnTo>
                  <a:close/>
                </a:path>
              </a:pathLst>
            </a:custGeom>
            <a:blipFill>
              <a:blip r:embed="rId7"/>
              <a:stretch>
                <a:fillRect l="0" t="-191" r="0" b="-183"/>
              </a:stretch>
            </a:blipFill>
          </p:spPr>
        </p:sp>
      </p:grpSp>
      <p:sp>
        <p:nvSpPr>
          <p:cNvPr name="TextBox 14" id="14"/>
          <p:cNvSpPr txBox="true"/>
          <p:nvPr/>
        </p:nvSpPr>
        <p:spPr>
          <a:xfrm rot="0">
            <a:off x="802186" y="6788648"/>
            <a:ext cx="1570587" cy="200025"/>
          </a:xfrm>
          <a:prstGeom prst="rect">
            <a:avLst/>
          </a:prstGeom>
        </p:spPr>
        <p:txBody>
          <a:bodyPr anchor="t" rtlCol="false" tIns="0" lIns="0" bIns="0" rIns="0">
            <a:spAutoFit/>
          </a:bodyPr>
          <a:lstStyle/>
          <a:p>
            <a:pPr algn="l">
              <a:lnSpc>
                <a:spcPts val="1499"/>
              </a:lnSpc>
            </a:pPr>
            <a:r>
              <a:rPr lang="en-US" sz="1187">
                <a:solidFill>
                  <a:srgbClr val="FFFFFF"/>
                </a:solidFill>
                <a:latin typeface="Arial MT Pro"/>
                <a:ea typeface="Arial MT Pro"/>
                <a:cs typeface="Arial MT Pro"/>
                <a:sym typeface="Arial MT Pro"/>
              </a:rPr>
              <a:t>Step 1: User Login</a:t>
            </a:r>
          </a:p>
        </p:txBody>
      </p:sp>
      <p:sp>
        <p:nvSpPr>
          <p:cNvPr name="TextBox 15" id="15"/>
          <p:cNvSpPr txBox="true"/>
          <p:nvPr/>
        </p:nvSpPr>
        <p:spPr>
          <a:xfrm rot="0">
            <a:off x="802186" y="7018134"/>
            <a:ext cx="2170311" cy="171450"/>
          </a:xfrm>
          <a:prstGeom prst="rect">
            <a:avLst/>
          </a:prstGeom>
        </p:spPr>
        <p:txBody>
          <a:bodyPr anchor="t" rtlCol="false" tIns="0" lIns="0" bIns="0" rIns="0">
            <a:spAutoFit/>
          </a:bodyPr>
          <a:lstStyle/>
          <a:p>
            <a:pPr algn="l">
              <a:lnSpc>
                <a:spcPts val="1125"/>
              </a:lnSpc>
            </a:pPr>
            <a:r>
              <a:rPr lang="en-US" sz="937">
                <a:solidFill>
                  <a:srgbClr val="FFFFFF"/>
                </a:solidFill>
                <a:latin typeface="Arial MT Pro"/>
                <a:ea typeface="Arial MT Pro"/>
                <a:cs typeface="Arial MT Pro"/>
                <a:sym typeface="Arial MT Pro"/>
              </a:rPr>
              <a:t>User logs in (Module 1 validates access).</a:t>
            </a:r>
          </a:p>
        </p:txBody>
      </p:sp>
      <p:grpSp>
        <p:nvGrpSpPr>
          <p:cNvPr name="Group 16" id="16"/>
          <p:cNvGrpSpPr/>
          <p:nvPr/>
        </p:nvGrpSpPr>
        <p:grpSpPr>
          <a:xfrm rot="0">
            <a:off x="6321476" y="6258963"/>
            <a:ext cx="5644906" cy="502596"/>
            <a:chOff x="0" y="0"/>
            <a:chExt cx="7526541" cy="670128"/>
          </a:xfrm>
        </p:grpSpPr>
        <p:sp>
          <p:nvSpPr>
            <p:cNvPr name="Freeform 17" id="17" descr="preencoded.png"/>
            <p:cNvSpPr/>
            <p:nvPr/>
          </p:nvSpPr>
          <p:spPr>
            <a:xfrm flipH="false" flipV="false" rot="0">
              <a:off x="0" y="0"/>
              <a:ext cx="7526528" cy="670179"/>
            </a:xfrm>
            <a:custGeom>
              <a:avLst/>
              <a:gdLst/>
              <a:ahLst/>
              <a:cxnLst/>
              <a:rect r="r" b="b" t="t" l="l"/>
              <a:pathLst>
                <a:path h="670179" w="7526528">
                  <a:moveTo>
                    <a:pt x="0" y="0"/>
                  </a:moveTo>
                  <a:lnTo>
                    <a:pt x="7526528" y="0"/>
                  </a:lnTo>
                  <a:lnTo>
                    <a:pt x="7526528" y="670179"/>
                  </a:lnTo>
                  <a:lnTo>
                    <a:pt x="0" y="670179"/>
                  </a:lnTo>
                  <a:lnTo>
                    <a:pt x="0" y="0"/>
                  </a:lnTo>
                  <a:close/>
                </a:path>
              </a:pathLst>
            </a:custGeom>
            <a:blipFill>
              <a:blip r:embed="rId8"/>
              <a:stretch>
                <a:fillRect l="0" t="-191" r="0" b="-183"/>
              </a:stretch>
            </a:blipFill>
          </p:spPr>
        </p:sp>
      </p:grpSp>
      <p:sp>
        <p:nvSpPr>
          <p:cNvPr name="TextBox 18" id="18"/>
          <p:cNvSpPr txBox="true"/>
          <p:nvPr/>
        </p:nvSpPr>
        <p:spPr>
          <a:xfrm rot="0">
            <a:off x="6447082" y="6788648"/>
            <a:ext cx="1657798" cy="200025"/>
          </a:xfrm>
          <a:prstGeom prst="rect">
            <a:avLst/>
          </a:prstGeom>
        </p:spPr>
        <p:txBody>
          <a:bodyPr anchor="t" rtlCol="false" tIns="0" lIns="0" bIns="0" rIns="0">
            <a:spAutoFit/>
          </a:bodyPr>
          <a:lstStyle/>
          <a:p>
            <a:pPr algn="l">
              <a:lnSpc>
                <a:spcPts val="1499"/>
              </a:lnSpc>
            </a:pPr>
            <a:r>
              <a:rPr lang="en-US" sz="1187">
                <a:solidFill>
                  <a:srgbClr val="FFFFFF"/>
                </a:solidFill>
                <a:latin typeface="Arial MT Pro"/>
                <a:ea typeface="Arial MT Pro"/>
                <a:cs typeface="Arial MT Pro"/>
                <a:sym typeface="Arial MT Pro"/>
              </a:rPr>
              <a:t>Step 2: Device Control</a:t>
            </a:r>
          </a:p>
        </p:txBody>
      </p:sp>
      <p:sp>
        <p:nvSpPr>
          <p:cNvPr name="TextBox 19" id="19"/>
          <p:cNvSpPr txBox="true"/>
          <p:nvPr/>
        </p:nvSpPr>
        <p:spPr>
          <a:xfrm rot="0">
            <a:off x="6447082" y="7018134"/>
            <a:ext cx="2732881" cy="171450"/>
          </a:xfrm>
          <a:prstGeom prst="rect">
            <a:avLst/>
          </a:prstGeom>
        </p:spPr>
        <p:txBody>
          <a:bodyPr anchor="t" rtlCol="false" tIns="0" lIns="0" bIns="0" rIns="0">
            <a:spAutoFit/>
          </a:bodyPr>
          <a:lstStyle/>
          <a:p>
            <a:pPr algn="l">
              <a:lnSpc>
                <a:spcPts val="1125"/>
              </a:lnSpc>
            </a:pPr>
            <a:r>
              <a:rPr lang="en-US" sz="937">
                <a:solidFill>
                  <a:srgbClr val="FFFFFF"/>
                </a:solidFill>
                <a:latin typeface="Arial MT Pro"/>
                <a:ea typeface="Arial MT Pro"/>
                <a:cs typeface="Arial MT Pro"/>
                <a:sym typeface="Arial MT Pro"/>
              </a:rPr>
              <a:t>User turns ON a device (Module 2 executes action).</a:t>
            </a:r>
          </a:p>
        </p:txBody>
      </p:sp>
      <p:grpSp>
        <p:nvGrpSpPr>
          <p:cNvPr name="Group 20" id="20"/>
          <p:cNvGrpSpPr/>
          <p:nvPr/>
        </p:nvGrpSpPr>
        <p:grpSpPr>
          <a:xfrm rot="0">
            <a:off x="11966372" y="6258963"/>
            <a:ext cx="5645048" cy="502596"/>
            <a:chOff x="0" y="0"/>
            <a:chExt cx="7526731" cy="670128"/>
          </a:xfrm>
        </p:grpSpPr>
        <p:sp>
          <p:nvSpPr>
            <p:cNvPr name="Freeform 21" id="21" descr="preencoded.png"/>
            <p:cNvSpPr/>
            <p:nvPr/>
          </p:nvSpPr>
          <p:spPr>
            <a:xfrm flipH="false" flipV="false" rot="0">
              <a:off x="0" y="0"/>
              <a:ext cx="7526782" cy="670179"/>
            </a:xfrm>
            <a:custGeom>
              <a:avLst/>
              <a:gdLst/>
              <a:ahLst/>
              <a:cxnLst/>
              <a:rect r="r" b="b" t="t" l="l"/>
              <a:pathLst>
                <a:path h="670179" w="7526782">
                  <a:moveTo>
                    <a:pt x="0" y="0"/>
                  </a:moveTo>
                  <a:lnTo>
                    <a:pt x="7526782" y="0"/>
                  </a:lnTo>
                  <a:lnTo>
                    <a:pt x="7526782" y="670179"/>
                  </a:lnTo>
                  <a:lnTo>
                    <a:pt x="0" y="670179"/>
                  </a:lnTo>
                  <a:lnTo>
                    <a:pt x="0" y="0"/>
                  </a:lnTo>
                  <a:close/>
                </a:path>
              </a:pathLst>
            </a:custGeom>
            <a:blipFill>
              <a:blip r:embed="rId9"/>
              <a:stretch>
                <a:fillRect l="0" t="-193" r="0" b="-183"/>
              </a:stretch>
            </a:blipFill>
          </p:spPr>
        </p:sp>
      </p:grpSp>
      <p:sp>
        <p:nvSpPr>
          <p:cNvPr name="TextBox 22" id="22"/>
          <p:cNvSpPr txBox="true"/>
          <p:nvPr/>
        </p:nvSpPr>
        <p:spPr>
          <a:xfrm rot="0">
            <a:off x="12091988" y="6788648"/>
            <a:ext cx="1837134" cy="200025"/>
          </a:xfrm>
          <a:prstGeom prst="rect">
            <a:avLst/>
          </a:prstGeom>
        </p:spPr>
        <p:txBody>
          <a:bodyPr anchor="t" rtlCol="false" tIns="0" lIns="0" bIns="0" rIns="0">
            <a:spAutoFit/>
          </a:bodyPr>
          <a:lstStyle/>
          <a:p>
            <a:pPr algn="l">
              <a:lnSpc>
                <a:spcPts val="1499"/>
              </a:lnSpc>
            </a:pPr>
            <a:r>
              <a:rPr lang="en-US" sz="1187">
                <a:solidFill>
                  <a:srgbClr val="FFFFFF"/>
                </a:solidFill>
                <a:latin typeface="Arial MT Pro"/>
                <a:ea typeface="Arial MT Pro"/>
                <a:cs typeface="Arial MT Pro"/>
                <a:sym typeface="Arial MT Pro"/>
              </a:rPr>
              <a:t>Step 3: Usage Recording</a:t>
            </a:r>
          </a:p>
        </p:txBody>
      </p:sp>
      <p:sp>
        <p:nvSpPr>
          <p:cNvPr name="TextBox 23" id="23"/>
          <p:cNvSpPr txBox="true"/>
          <p:nvPr/>
        </p:nvSpPr>
        <p:spPr>
          <a:xfrm rot="0">
            <a:off x="12091988" y="7018134"/>
            <a:ext cx="1978521" cy="171450"/>
          </a:xfrm>
          <a:prstGeom prst="rect">
            <a:avLst/>
          </a:prstGeom>
        </p:spPr>
        <p:txBody>
          <a:bodyPr anchor="t" rtlCol="false" tIns="0" lIns="0" bIns="0" rIns="0">
            <a:spAutoFit/>
          </a:bodyPr>
          <a:lstStyle/>
          <a:p>
            <a:pPr algn="l">
              <a:lnSpc>
                <a:spcPts val="1125"/>
              </a:lnSpc>
            </a:pPr>
            <a:r>
              <a:rPr lang="en-US" sz="937">
                <a:solidFill>
                  <a:srgbClr val="FFFFFF"/>
                </a:solidFill>
                <a:latin typeface="Arial MT Pro"/>
                <a:ea typeface="Arial MT Pro"/>
                <a:cs typeface="Arial MT Pro"/>
                <a:sym typeface="Arial MT Pro"/>
              </a:rPr>
              <a:t>Device usage is recorded (Module 3).</a:t>
            </a:r>
          </a:p>
        </p:txBody>
      </p:sp>
      <p:grpSp>
        <p:nvGrpSpPr>
          <p:cNvPr name="Group 24" id="24"/>
          <p:cNvGrpSpPr/>
          <p:nvPr/>
        </p:nvGrpSpPr>
        <p:grpSpPr>
          <a:xfrm rot="0">
            <a:off x="676570" y="7317286"/>
            <a:ext cx="5644906" cy="502596"/>
            <a:chOff x="0" y="0"/>
            <a:chExt cx="7526541" cy="670128"/>
          </a:xfrm>
        </p:grpSpPr>
        <p:sp>
          <p:nvSpPr>
            <p:cNvPr name="Freeform 25" id="25" descr="preencoded.png"/>
            <p:cNvSpPr/>
            <p:nvPr/>
          </p:nvSpPr>
          <p:spPr>
            <a:xfrm flipH="false" flipV="false" rot="0">
              <a:off x="0" y="0"/>
              <a:ext cx="7526528" cy="670179"/>
            </a:xfrm>
            <a:custGeom>
              <a:avLst/>
              <a:gdLst/>
              <a:ahLst/>
              <a:cxnLst/>
              <a:rect r="r" b="b" t="t" l="l"/>
              <a:pathLst>
                <a:path h="670179" w="7526528">
                  <a:moveTo>
                    <a:pt x="0" y="0"/>
                  </a:moveTo>
                  <a:lnTo>
                    <a:pt x="7526528" y="0"/>
                  </a:lnTo>
                  <a:lnTo>
                    <a:pt x="7526528" y="670179"/>
                  </a:lnTo>
                  <a:lnTo>
                    <a:pt x="0" y="670179"/>
                  </a:lnTo>
                  <a:lnTo>
                    <a:pt x="0" y="0"/>
                  </a:lnTo>
                  <a:close/>
                </a:path>
              </a:pathLst>
            </a:custGeom>
            <a:blipFill>
              <a:blip r:embed="rId10"/>
              <a:stretch>
                <a:fillRect l="0" t="-191" r="0" b="-183"/>
              </a:stretch>
            </a:blipFill>
          </p:spPr>
        </p:sp>
      </p:grpSp>
      <p:sp>
        <p:nvSpPr>
          <p:cNvPr name="TextBox 26" id="26"/>
          <p:cNvSpPr txBox="true"/>
          <p:nvPr/>
        </p:nvSpPr>
        <p:spPr>
          <a:xfrm rot="0">
            <a:off x="802186" y="7846962"/>
            <a:ext cx="1603324" cy="200025"/>
          </a:xfrm>
          <a:prstGeom prst="rect">
            <a:avLst/>
          </a:prstGeom>
        </p:spPr>
        <p:txBody>
          <a:bodyPr anchor="t" rtlCol="false" tIns="0" lIns="0" bIns="0" rIns="0">
            <a:spAutoFit/>
          </a:bodyPr>
          <a:lstStyle/>
          <a:p>
            <a:pPr algn="l">
              <a:lnSpc>
                <a:spcPts val="1499"/>
              </a:lnSpc>
            </a:pPr>
            <a:r>
              <a:rPr lang="en-US" sz="1187">
                <a:solidFill>
                  <a:srgbClr val="FFFFFF"/>
                </a:solidFill>
                <a:latin typeface="Arial MT Pro"/>
                <a:ea typeface="Arial MT Pro"/>
                <a:cs typeface="Arial MT Pro"/>
                <a:sym typeface="Arial MT Pro"/>
              </a:rPr>
              <a:t>Step 4: Data Analysis</a:t>
            </a:r>
          </a:p>
        </p:txBody>
      </p:sp>
      <p:sp>
        <p:nvSpPr>
          <p:cNvPr name="TextBox 27" id="27"/>
          <p:cNvSpPr txBox="true"/>
          <p:nvPr/>
        </p:nvSpPr>
        <p:spPr>
          <a:xfrm rot="0">
            <a:off x="802186" y="8076457"/>
            <a:ext cx="1872754" cy="171450"/>
          </a:xfrm>
          <a:prstGeom prst="rect">
            <a:avLst/>
          </a:prstGeom>
        </p:spPr>
        <p:txBody>
          <a:bodyPr anchor="t" rtlCol="false" tIns="0" lIns="0" bIns="0" rIns="0">
            <a:spAutoFit/>
          </a:bodyPr>
          <a:lstStyle/>
          <a:p>
            <a:pPr algn="l">
              <a:lnSpc>
                <a:spcPts val="1125"/>
              </a:lnSpc>
            </a:pPr>
            <a:r>
              <a:rPr lang="en-US" sz="937">
                <a:solidFill>
                  <a:srgbClr val="FFFFFF"/>
                </a:solidFill>
                <a:latin typeface="Arial MT Pro"/>
                <a:ea typeface="Arial MT Pro"/>
                <a:cs typeface="Arial MT Pro"/>
                <a:sym typeface="Arial MT Pro"/>
              </a:rPr>
              <a:t>Usage data is analyzed (Module 4).</a:t>
            </a:r>
          </a:p>
        </p:txBody>
      </p:sp>
      <p:grpSp>
        <p:nvGrpSpPr>
          <p:cNvPr name="Group 28" id="28"/>
          <p:cNvGrpSpPr/>
          <p:nvPr/>
        </p:nvGrpSpPr>
        <p:grpSpPr>
          <a:xfrm rot="0">
            <a:off x="6321476" y="7317286"/>
            <a:ext cx="5644906" cy="502596"/>
            <a:chOff x="0" y="0"/>
            <a:chExt cx="7526541" cy="670128"/>
          </a:xfrm>
        </p:grpSpPr>
        <p:sp>
          <p:nvSpPr>
            <p:cNvPr name="Freeform 29" id="29" descr="preencoded.png"/>
            <p:cNvSpPr/>
            <p:nvPr/>
          </p:nvSpPr>
          <p:spPr>
            <a:xfrm flipH="false" flipV="false" rot="0">
              <a:off x="0" y="0"/>
              <a:ext cx="7526528" cy="670179"/>
            </a:xfrm>
            <a:custGeom>
              <a:avLst/>
              <a:gdLst/>
              <a:ahLst/>
              <a:cxnLst/>
              <a:rect r="r" b="b" t="t" l="l"/>
              <a:pathLst>
                <a:path h="670179" w="7526528">
                  <a:moveTo>
                    <a:pt x="0" y="0"/>
                  </a:moveTo>
                  <a:lnTo>
                    <a:pt x="7526528" y="0"/>
                  </a:lnTo>
                  <a:lnTo>
                    <a:pt x="7526528" y="670179"/>
                  </a:lnTo>
                  <a:lnTo>
                    <a:pt x="0" y="670179"/>
                  </a:lnTo>
                  <a:lnTo>
                    <a:pt x="0" y="0"/>
                  </a:lnTo>
                  <a:close/>
                </a:path>
              </a:pathLst>
            </a:custGeom>
            <a:blipFill>
              <a:blip r:embed="rId11"/>
              <a:stretch>
                <a:fillRect l="0" t="-191" r="0" b="-183"/>
              </a:stretch>
            </a:blipFill>
          </p:spPr>
        </p:sp>
      </p:grpSp>
      <p:sp>
        <p:nvSpPr>
          <p:cNvPr name="TextBox 30" id="30"/>
          <p:cNvSpPr txBox="true"/>
          <p:nvPr/>
        </p:nvSpPr>
        <p:spPr>
          <a:xfrm rot="0">
            <a:off x="6447082" y="7846962"/>
            <a:ext cx="2375745" cy="200025"/>
          </a:xfrm>
          <a:prstGeom prst="rect">
            <a:avLst/>
          </a:prstGeom>
        </p:spPr>
        <p:txBody>
          <a:bodyPr anchor="t" rtlCol="false" tIns="0" lIns="0" bIns="0" rIns="0">
            <a:spAutoFit/>
          </a:bodyPr>
          <a:lstStyle/>
          <a:p>
            <a:pPr algn="l">
              <a:lnSpc>
                <a:spcPts val="1499"/>
              </a:lnSpc>
            </a:pPr>
            <a:r>
              <a:rPr lang="en-US" sz="1187">
                <a:solidFill>
                  <a:srgbClr val="FFFFFF"/>
                </a:solidFill>
                <a:latin typeface="Arial MT Pro"/>
                <a:ea typeface="Arial MT Pro"/>
                <a:cs typeface="Arial MT Pro"/>
                <a:sym typeface="Arial MT Pro"/>
              </a:rPr>
              <a:t>Step 5: Automation/Suggestion</a:t>
            </a:r>
          </a:p>
        </p:txBody>
      </p:sp>
      <p:sp>
        <p:nvSpPr>
          <p:cNvPr name="TextBox 31" id="31"/>
          <p:cNvSpPr txBox="true"/>
          <p:nvPr/>
        </p:nvSpPr>
        <p:spPr>
          <a:xfrm rot="0">
            <a:off x="6447082" y="8076457"/>
            <a:ext cx="2885381" cy="171450"/>
          </a:xfrm>
          <a:prstGeom prst="rect">
            <a:avLst/>
          </a:prstGeom>
        </p:spPr>
        <p:txBody>
          <a:bodyPr anchor="t" rtlCol="false" tIns="0" lIns="0" bIns="0" rIns="0">
            <a:spAutoFit/>
          </a:bodyPr>
          <a:lstStyle/>
          <a:p>
            <a:pPr algn="l">
              <a:lnSpc>
                <a:spcPts val="1125"/>
              </a:lnSpc>
            </a:pPr>
            <a:r>
              <a:rPr lang="en-US" sz="937">
                <a:solidFill>
                  <a:srgbClr val="FFFFFF"/>
                </a:solidFill>
                <a:latin typeface="Arial MT Pro"/>
                <a:ea typeface="Arial MT Pro"/>
                <a:cs typeface="Arial MT Pro"/>
                <a:sym typeface="Arial MT Pro"/>
              </a:rPr>
              <a:t>Automation or suggestion is generated (Module 5 &amp; 6).</a:t>
            </a:r>
          </a:p>
        </p:txBody>
      </p:sp>
      <p:sp>
        <p:nvSpPr>
          <p:cNvPr name="TextBox 32" id="32"/>
          <p:cNvSpPr txBox="true"/>
          <p:nvPr/>
        </p:nvSpPr>
        <p:spPr>
          <a:xfrm rot="0">
            <a:off x="676570" y="8411470"/>
            <a:ext cx="2755900" cy="338138"/>
          </a:xfrm>
          <a:prstGeom prst="rect">
            <a:avLst/>
          </a:prstGeom>
        </p:spPr>
        <p:txBody>
          <a:bodyPr anchor="t" rtlCol="false" tIns="0" lIns="0" bIns="0" rIns="0">
            <a:spAutoFit/>
          </a:bodyPr>
          <a:lstStyle/>
          <a:p>
            <a:pPr algn="l">
              <a:lnSpc>
                <a:spcPts val="2437"/>
              </a:lnSpc>
            </a:pPr>
            <a:r>
              <a:rPr lang="en-US" b="true" sz="1937" spc="-81">
                <a:solidFill>
                  <a:srgbClr val="FFFFFF"/>
                </a:solidFill>
                <a:latin typeface="Arial MT Pro Bold"/>
                <a:ea typeface="Arial MT Pro Bold"/>
                <a:cs typeface="Arial MT Pro Bold"/>
                <a:sym typeface="Arial MT Pro Bold"/>
              </a:rPr>
              <a:t>Supporting System Roles</a:t>
            </a:r>
          </a:p>
        </p:txBody>
      </p:sp>
      <p:sp>
        <p:nvSpPr>
          <p:cNvPr name="TextBox 33" id="33"/>
          <p:cNvSpPr txBox="true"/>
          <p:nvPr/>
        </p:nvSpPr>
        <p:spPr>
          <a:xfrm rot="0">
            <a:off x="676570" y="8864803"/>
            <a:ext cx="1329134" cy="265112"/>
          </a:xfrm>
          <a:prstGeom prst="rect">
            <a:avLst/>
          </a:prstGeom>
        </p:spPr>
        <p:txBody>
          <a:bodyPr anchor="t" rtlCol="false" tIns="0" lIns="0" bIns="0" rIns="0">
            <a:spAutoFit/>
          </a:bodyPr>
          <a:lstStyle/>
          <a:p>
            <a:pPr algn="l">
              <a:lnSpc>
                <a:spcPts val="1812"/>
              </a:lnSpc>
            </a:pPr>
            <a:r>
              <a:rPr lang="en-US" sz="1437">
                <a:solidFill>
                  <a:srgbClr val="FFFFFF"/>
                </a:solidFill>
                <a:latin typeface="Arial MT Pro"/>
                <a:ea typeface="Arial MT Pro"/>
                <a:cs typeface="Arial MT Pro"/>
                <a:sym typeface="Arial MT Pro"/>
              </a:rPr>
              <a:t>User Action Hub</a:t>
            </a:r>
          </a:p>
        </p:txBody>
      </p:sp>
      <p:sp>
        <p:nvSpPr>
          <p:cNvPr name="TextBox 34" id="34"/>
          <p:cNvSpPr txBox="true"/>
          <p:nvPr/>
        </p:nvSpPr>
        <p:spPr>
          <a:xfrm rot="0">
            <a:off x="676570" y="9174956"/>
            <a:ext cx="4003777" cy="314325"/>
          </a:xfrm>
          <a:prstGeom prst="rect">
            <a:avLst/>
          </a:prstGeom>
        </p:spPr>
        <p:txBody>
          <a:bodyPr anchor="t" rtlCol="false" tIns="0" lIns="0" bIns="0" rIns="0">
            <a:spAutoFit/>
          </a:bodyPr>
          <a:lstStyle/>
          <a:p>
            <a:pPr algn="l" marL="141387" indent="-70693" lvl="1">
              <a:lnSpc>
                <a:spcPts val="1125"/>
              </a:lnSpc>
              <a:buFont typeface="Arial"/>
              <a:buChar char="•"/>
            </a:pPr>
            <a:r>
              <a:rPr lang="en-US" sz="937">
                <a:solidFill>
                  <a:srgbClr val="FFFFFF"/>
                </a:solidFill>
                <a:latin typeface="Arial MT Pro"/>
                <a:ea typeface="Arial MT Pro"/>
                <a:cs typeface="Arial MT Pro"/>
                <a:sym typeface="Arial MT Pro"/>
              </a:rPr>
              <a:t>All device operations start here.</a:t>
            </a:r>
          </a:p>
          <a:p>
            <a:pPr algn="l" marL="141387" indent="-70693" lvl="1">
              <a:lnSpc>
                <a:spcPts val="1125"/>
              </a:lnSpc>
              <a:buFont typeface="Arial"/>
              <a:buChar char="•"/>
            </a:pPr>
            <a:r>
              <a:rPr lang="en-US" sz="937">
                <a:solidFill>
                  <a:srgbClr val="FFFFFF"/>
                </a:solidFill>
                <a:latin typeface="Arial MT Pro"/>
                <a:ea typeface="Arial MT Pro"/>
                <a:cs typeface="Arial MT Pro"/>
                <a:sym typeface="Arial MT Pro"/>
              </a:rPr>
              <a:t>Direct interaction with appliances.</a:t>
            </a:r>
          </a:p>
        </p:txBody>
      </p:sp>
      <p:sp>
        <p:nvSpPr>
          <p:cNvPr name="TextBox 35" id="35"/>
          <p:cNvSpPr txBox="true"/>
          <p:nvPr/>
        </p:nvSpPr>
        <p:spPr>
          <a:xfrm rot="0">
            <a:off x="4996453" y="8864803"/>
            <a:ext cx="1643856" cy="265112"/>
          </a:xfrm>
          <a:prstGeom prst="rect">
            <a:avLst/>
          </a:prstGeom>
        </p:spPr>
        <p:txBody>
          <a:bodyPr anchor="t" rtlCol="false" tIns="0" lIns="0" bIns="0" rIns="0">
            <a:spAutoFit/>
          </a:bodyPr>
          <a:lstStyle/>
          <a:p>
            <a:pPr algn="l">
              <a:lnSpc>
                <a:spcPts val="1812"/>
              </a:lnSpc>
            </a:pPr>
            <a:r>
              <a:rPr lang="en-US" sz="1437">
                <a:solidFill>
                  <a:srgbClr val="FFFFFF"/>
                </a:solidFill>
                <a:latin typeface="Arial MT Pro"/>
                <a:ea typeface="Arial MT Pro"/>
                <a:cs typeface="Arial MT Pro"/>
                <a:sym typeface="Arial MT Pro"/>
              </a:rPr>
              <a:t>Energy Data Source</a:t>
            </a:r>
          </a:p>
        </p:txBody>
      </p:sp>
      <p:sp>
        <p:nvSpPr>
          <p:cNvPr name="TextBox 36" id="36"/>
          <p:cNvSpPr txBox="true"/>
          <p:nvPr/>
        </p:nvSpPr>
        <p:spPr>
          <a:xfrm rot="0">
            <a:off x="4996453" y="9174956"/>
            <a:ext cx="4003777" cy="314325"/>
          </a:xfrm>
          <a:prstGeom prst="rect">
            <a:avLst/>
          </a:prstGeom>
        </p:spPr>
        <p:txBody>
          <a:bodyPr anchor="t" rtlCol="false" tIns="0" lIns="0" bIns="0" rIns="0">
            <a:spAutoFit/>
          </a:bodyPr>
          <a:lstStyle/>
          <a:p>
            <a:pPr algn="l" marL="141387" indent="-70693" lvl="1">
              <a:lnSpc>
                <a:spcPts val="1125"/>
              </a:lnSpc>
              <a:buFont typeface="Arial"/>
              <a:buChar char="•"/>
            </a:pPr>
            <a:r>
              <a:rPr lang="en-US" sz="937">
                <a:solidFill>
                  <a:srgbClr val="FFFFFF"/>
                </a:solidFill>
                <a:latin typeface="Arial MT Pro"/>
                <a:ea typeface="Arial MT Pro"/>
                <a:cs typeface="Arial MT Pro"/>
                <a:sym typeface="Arial MT Pro"/>
              </a:rPr>
              <a:t>Generates device-level usage data.</a:t>
            </a:r>
          </a:p>
          <a:p>
            <a:pPr algn="l" marL="141387" indent="-70693" lvl="1">
              <a:lnSpc>
                <a:spcPts val="1125"/>
              </a:lnSpc>
              <a:buFont typeface="Arial"/>
              <a:buChar char="•"/>
            </a:pPr>
            <a:r>
              <a:rPr lang="en-US" sz="937">
                <a:solidFill>
                  <a:srgbClr val="FFFFFF"/>
                </a:solidFill>
                <a:latin typeface="Arial MT Pro"/>
                <a:ea typeface="Arial MT Pro"/>
                <a:cs typeface="Arial MT Pro"/>
                <a:sym typeface="Arial MT Pro"/>
              </a:rPr>
              <a:t>Foundation for energy tracking.</a:t>
            </a:r>
          </a:p>
        </p:txBody>
      </p:sp>
      <p:sp>
        <p:nvSpPr>
          <p:cNvPr name="TextBox 37" id="37"/>
          <p:cNvSpPr txBox="true"/>
          <p:nvPr/>
        </p:nvSpPr>
        <p:spPr>
          <a:xfrm rot="0">
            <a:off x="9316345" y="8864803"/>
            <a:ext cx="1603276" cy="265112"/>
          </a:xfrm>
          <a:prstGeom prst="rect">
            <a:avLst/>
          </a:prstGeom>
        </p:spPr>
        <p:txBody>
          <a:bodyPr anchor="t" rtlCol="false" tIns="0" lIns="0" bIns="0" rIns="0">
            <a:spAutoFit/>
          </a:bodyPr>
          <a:lstStyle/>
          <a:p>
            <a:pPr algn="l">
              <a:lnSpc>
                <a:spcPts val="1812"/>
              </a:lnSpc>
            </a:pPr>
            <a:r>
              <a:rPr lang="en-US" sz="1437">
                <a:solidFill>
                  <a:srgbClr val="FFFFFF"/>
                </a:solidFill>
                <a:latin typeface="Arial MT Pro"/>
                <a:ea typeface="Arial MT Pro"/>
                <a:cs typeface="Arial MT Pro"/>
                <a:sym typeface="Arial MT Pro"/>
              </a:rPr>
              <a:t>Automation Enabler</a:t>
            </a:r>
          </a:p>
        </p:txBody>
      </p:sp>
      <p:sp>
        <p:nvSpPr>
          <p:cNvPr name="TextBox 38" id="38"/>
          <p:cNvSpPr txBox="true"/>
          <p:nvPr/>
        </p:nvSpPr>
        <p:spPr>
          <a:xfrm rot="0">
            <a:off x="9316345" y="9174956"/>
            <a:ext cx="4003777" cy="314325"/>
          </a:xfrm>
          <a:prstGeom prst="rect">
            <a:avLst/>
          </a:prstGeom>
        </p:spPr>
        <p:txBody>
          <a:bodyPr anchor="t" rtlCol="false" tIns="0" lIns="0" bIns="0" rIns="0">
            <a:spAutoFit/>
          </a:bodyPr>
          <a:lstStyle/>
          <a:p>
            <a:pPr algn="l" marL="141387" indent="-70693" lvl="1">
              <a:lnSpc>
                <a:spcPts val="1125"/>
              </a:lnSpc>
              <a:buFont typeface="Arial"/>
              <a:buChar char="•"/>
            </a:pPr>
            <a:r>
              <a:rPr lang="en-US" sz="937">
                <a:solidFill>
                  <a:srgbClr val="FFFFFF"/>
                </a:solidFill>
                <a:latin typeface="Arial MT Pro"/>
                <a:ea typeface="Arial MT Pro"/>
                <a:cs typeface="Arial MT Pro"/>
                <a:sym typeface="Arial MT Pro"/>
              </a:rPr>
              <a:t>Device state enables scheduling.</a:t>
            </a:r>
          </a:p>
          <a:p>
            <a:pPr algn="l" marL="141387" indent="-70693" lvl="1">
              <a:lnSpc>
                <a:spcPts val="1125"/>
              </a:lnSpc>
              <a:buFont typeface="Arial"/>
              <a:buChar char="•"/>
            </a:pPr>
            <a:r>
              <a:rPr lang="en-US" sz="937">
                <a:solidFill>
                  <a:srgbClr val="FFFFFF"/>
                </a:solidFill>
                <a:latin typeface="Arial MT Pro"/>
                <a:ea typeface="Arial MT Pro"/>
                <a:cs typeface="Arial MT Pro"/>
                <a:sym typeface="Arial MT Pro"/>
              </a:rPr>
              <a:t>Supports automatic ON/OFF.</a:t>
            </a:r>
          </a:p>
        </p:txBody>
      </p:sp>
      <p:sp>
        <p:nvSpPr>
          <p:cNvPr name="TextBox 39" id="39"/>
          <p:cNvSpPr txBox="true"/>
          <p:nvPr/>
        </p:nvSpPr>
        <p:spPr>
          <a:xfrm rot="0">
            <a:off x="13636228" y="8864803"/>
            <a:ext cx="1237456" cy="265112"/>
          </a:xfrm>
          <a:prstGeom prst="rect">
            <a:avLst/>
          </a:prstGeom>
        </p:spPr>
        <p:txBody>
          <a:bodyPr anchor="t" rtlCol="false" tIns="0" lIns="0" bIns="0" rIns="0">
            <a:spAutoFit/>
          </a:bodyPr>
          <a:lstStyle/>
          <a:p>
            <a:pPr algn="l">
              <a:lnSpc>
                <a:spcPts val="1812"/>
              </a:lnSpc>
            </a:pPr>
            <a:r>
              <a:rPr lang="en-US" sz="1437">
                <a:solidFill>
                  <a:srgbClr val="FFFFFF"/>
                </a:solidFill>
                <a:latin typeface="Arial MT Pro"/>
                <a:ea typeface="Arial MT Pro"/>
                <a:cs typeface="Arial MT Pro"/>
                <a:sym typeface="Arial MT Pro"/>
              </a:rPr>
              <a:t>Decision Driver</a:t>
            </a:r>
          </a:p>
        </p:txBody>
      </p:sp>
      <p:sp>
        <p:nvSpPr>
          <p:cNvPr name="TextBox 40" id="40"/>
          <p:cNvSpPr txBox="true"/>
          <p:nvPr/>
        </p:nvSpPr>
        <p:spPr>
          <a:xfrm rot="0">
            <a:off x="13636228" y="9174956"/>
            <a:ext cx="4003777" cy="314325"/>
          </a:xfrm>
          <a:prstGeom prst="rect">
            <a:avLst/>
          </a:prstGeom>
        </p:spPr>
        <p:txBody>
          <a:bodyPr anchor="t" rtlCol="false" tIns="0" lIns="0" bIns="0" rIns="0">
            <a:spAutoFit/>
          </a:bodyPr>
          <a:lstStyle/>
          <a:p>
            <a:pPr algn="l" marL="141387" indent="-70693" lvl="1">
              <a:lnSpc>
                <a:spcPts val="1125"/>
              </a:lnSpc>
              <a:buFont typeface="Arial"/>
              <a:buChar char="•"/>
            </a:pPr>
            <a:r>
              <a:rPr lang="en-US" sz="937">
                <a:solidFill>
                  <a:srgbClr val="FFFFFF"/>
                </a:solidFill>
                <a:latin typeface="Arial MT Pro"/>
                <a:ea typeface="Arial MT Pro"/>
                <a:cs typeface="Arial MT Pro"/>
                <a:sym typeface="Arial MT Pro"/>
              </a:rPr>
              <a:t>Usage data feeds analytics.</a:t>
            </a:r>
          </a:p>
          <a:p>
            <a:pPr algn="l" marL="141387" indent="-70693" lvl="1">
              <a:lnSpc>
                <a:spcPts val="1125"/>
              </a:lnSpc>
              <a:buFont typeface="Arial"/>
              <a:buChar char="•"/>
            </a:pPr>
            <a:r>
              <a:rPr lang="en-US" sz="937">
                <a:solidFill>
                  <a:srgbClr val="FFFFFF"/>
                </a:solidFill>
                <a:latin typeface="Arial MT Pro"/>
                <a:ea typeface="Arial MT Pro"/>
                <a:cs typeface="Arial MT Pro"/>
                <a:sym typeface="Arial MT Pro"/>
              </a:rPr>
              <a:t>Enables smart recommendations.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41519">
                <a:alpha val="90196"/>
              </a:srgbClr>
            </a:solidFill>
          </p:spPr>
        </p:sp>
      </p:grpSp>
      <p:sp>
        <p:nvSpPr>
          <p:cNvPr name="TextBox 6" id="6"/>
          <p:cNvSpPr txBox="true"/>
          <p:nvPr/>
        </p:nvSpPr>
        <p:spPr>
          <a:xfrm rot="0">
            <a:off x="602752" y="1095823"/>
            <a:ext cx="7705824" cy="582612"/>
          </a:xfrm>
          <a:prstGeom prst="rect">
            <a:avLst/>
          </a:prstGeom>
        </p:spPr>
        <p:txBody>
          <a:bodyPr anchor="t" rtlCol="false" tIns="0" lIns="0" bIns="0" rIns="0">
            <a:spAutoFit/>
          </a:bodyPr>
          <a:lstStyle/>
          <a:p>
            <a:pPr algn="l">
              <a:lnSpc>
                <a:spcPts val="4187"/>
              </a:lnSpc>
            </a:pPr>
            <a:r>
              <a:rPr lang="en-US" b="true" sz="3375" spc="-141">
                <a:solidFill>
                  <a:srgbClr val="FFFFFF"/>
                </a:solidFill>
                <a:latin typeface="Arial MT Pro Bold"/>
                <a:ea typeface="Arial MT Pro Bold"/>
                <a:cs typeface="Arial MT Pro Bold"/>
                <a:sym typeface="Arial MT Pro Bold"/>
              </a:rPr>
              <a:t>Module 2: Class Diagrams &amp; Architecture</a:t>
            </a:r>
          </a:p>
        </p:txBody>
      </p:sp>
      <p:sp>
        <p:nvSpPr>
          <p:cNvPr name="TextBox 7" id="7"/>
          <p:cNvSpPr txBox="true"/>
          <p:nvPr/>
        </p:nvSpPr>
        <p:spPr>
          <a:xfrm rot="0">
            <a:off x="602752" y="1914373"/>
            <a:ext cx="921345" cy="358775"/>
          </a:xfrm>
          <a:prstGeom prst="rect">
            <a:avLst/>
          </a:prstGeom>
        </p:spPr>
        <p:txBody>
          <a:bodyPr anchor="t" rtlCol="false" tIns="0" lIns="0" bIns="0" rIns="0">
            <a:spAutoFit/>
          </a:bodyPr>
          <a:lstStyle/>
          <a:p>
            <a:pPr algn="l">
              <a:lnSpc>
                <a:spcPts val="2500"/>
              </a:lnSpc>
            </a:pPr>
            <a:r>
              <a:rPr lang="en-US" b="true" sz="2000" spc="-32">
                <a:solidFill>
                  <a:srgbClr val="FFFFFF"/>
                </a:solidFill>
                <a:latin typeface="Arial MT Pro Bold"/>
                <a:ea typeface="Arial MT Pro Bold"/>
                <a:cs typeface="Arial MT Pro Bold"/>
                <a:sym typeface="Arial MT Pro Bold"/>
              </a:rPr>
              <a:t>DEVICE</a:t>
            </a:r>
          </a:p>
        </p:txBody>
      </p:sp>
      <p:grpSp>
        <p:nvGrpSpPr>
          <p:cNvPr name="Group 8" id="8"/>
          <p:cNvGrpSpPr/>
          <p:nvPr/>
        </p:nvGrpSpPr>
        <p:grpSpPr>
          <a:xfrm rot="0">
            <a:off x="602752" y="2412054"/>
            <a:ext cx="3950341" cy="2899019"/>
            <a:chOff x="0" y="0"/>
            <a:chExt cx="5267122" cy="3865359"/>
          </a:xfrm>
        </p:grpSpPr>
        <p:sp>
          <p:nvSpPr>
            <p:cNvPr name="Freeform 9" id="9" descr="preencoded.png"/>
            <p:cNvSpPr/>
            <p:nvPr/>
          </p:nvSpPr>
          <p:spPr>
            <a:xfrm flipH="false" flipV="false" rot="0">
              <a:off x="0" y="0"/>
              <a:ext cx="5267071" cy="3865372"/>
            </a:xfrm>
            <a:custGeom>
              <a:avLst/>
              <a:gdLst/>
              <a:ahLst/>
              <a:cxnLst/>
              <a:rect r="r" b="b" t="t" l="l"/>
              <a:pathLst>
                <a:path h="3865372" w="5267071">
                  <a:moveTo>
                    <a:pt x="0" y="0"/>
                  </a:moveTo>
                  <a:lnTo>
                    <a:pt x="5267071" y="0"/>
                  </a:lnTo>
                  <a:lnTo>
                    <a:pt x="5267071" y="3865372"/>
                  </a:lnTo>
                  <a:lnTo>
                    <a:pt x="0" y="3865372"/>
                  </a:lnTo>
                  <a:lnTo>
                    <a:pt x="0" y="0"/>
                  </a:lnTo>
                  <a:close/>
                </a:path>
              </a:pathLst>
            </a:custGeom>
            <a:blipFill>
              <a:blip r:embed="rId4"/>
              <a:stretch>
                <a:fillRect l="-91" t="0" r="-92" b="0"/>
              </a:stretch>
            </a:blipFill>
          </p:spPr>
        </p:sp>
      </p:grpSp>
      <p:sp>
        <p:nvSpPr>
          <p:cNvPr name="TextBox 10" id="10"/>
          <p:cNvSpPr txBox="true"/>
          <p:nvPr/>
        </p:nvSpPr>
        <p:spPr>
          <a:xfrm rot="0">
            <a:off x="602752" y="5390559"/>
            <a:ext cx="8331251" cy="233362"/>
          </a:xfrm>
          <a:prstGeom prst="rect">
            <a:avLst/>
          </a:prstGeom>
        </p:spPr>
        <p:txBody>
          <a:bodyPr anchor="t" rtlCol="false" tIns="0" lIns="0" bIns="0" rIns="0">
            <a:spAutoFit/>
          </a:bodyPr>
          <a:lstStyle/>
          <a:p>
            <a:pPr algn="l">
              <a:lnSpc>
                <a:spcPts val="1687"/>
              </a:lnSpc>
            </a:pPr>
            <a:r>
              <a:rPr lang="en-US" sz="1312">
                <a:solidFill>
                  <a:srgbClr val="FFFFFF"/>
                </a:solidFill>
                <a:latin typeface="Arial MT Pro"/>
                <a:ea typeface="Arial MT Pro"/>
                <a:cs typeface="Arial MT Pro"/>
                <a:sym typeface="Arial MT Pro"/>
              </a:rPr>
              <a:t>Represents the physical or virtual smart home device, encapsulating its state and core functionalities.</a:t>
            </a:r>
          </a:p>
        </p:txBody>
      </p:sp>
      <p:sp>
        <p:nvSpPr>
          <p:cNvPr name="TextBox 11" id="11"/>
          <p:cNvSpPr txBox="true"/>
          <p:nvPr/>
        </p:nvSpPr>
        <p:spPr>
          <a:xfrm rot="0">
            <a:off x="9363523" y="1914373"/>
            <a:ext cx="2644478" cy="358775"/>
          </a:xfrm>
          <a:prstGeom prst="rect">
            <a:avLst/>
          </a:prstGeom>
        </p:spPr>
        <p:txBody>
          <a:bodyPr anchor="t" rtlCol="false" tIns="0" lIns="0" bIns="0" rIns="0">
            <a:spAutoFit/>
          </a:bodyPr>
          <a:lstStyle/>
          <a:p>
            <a:pPr algn="l">
              <a:lnSpc>
                <a:spcPts val="2500"/>
              </a:lnSpc>
            </a:pPr>
            <a:r>
              <a:rPr lang="en-US" b="true" sz="2000" spc="-32">
                <a:solidFill>
                  <a:srgbClr val="FFFFFF"/>
                </a:solidFill>
                <a:latin typeface="Arial MT Pro Bold"/>
                <a:ea typeface="Arial MT Pro Bold"/>
                <a:cs typeface="Arial MT Pro Bold"/>
                <a:sym typeface="Arial MT Pro Bold"/>
              </a:rPr>
              <a:t>DEVICECONTROLLER</a:t>
            </a:r>
          </a:p>
        </p:txBody>
      </p:sp>
      <p:grpSp>
        <p:nvGrpSpPr>
          <p:cNvPr name="Group 12" id="12"/>
          <p:cNvGrpSpPr/>
          <p:nvPr/>
        </p:nvGrpSpPr>
        <p:grpSpPr>
          <a:xfrm rot="0">
            <a:off x="9363523" y="2412054"/>
            <a:ext cx="3110808" cy="2191645"/>
            <a:chOff x="0" y="0"/>
            <a:chExt cx="4147744" cy="2922194"/>
          </a:xfrm>
        </p:grpSpPr>
        <p:sp>
          <p:nvSpPr>
            <p:cNvPr name="Freeform 13" id="13" descr="preencoded.png"/>
            <p:cNvSpPr/>
            <p:nvPr/>
          </p:nvSpPr>
          <p:spPr>
            <a:xfrm flipH="false" flipV="false" rot="0">
              <a:off x="0" y="0"/>
              <a:ext cx="4147693" cy="2922143"/>
            </a:xfrm>
            <a:custGeom>
              <a:avLst/>
              <a:gdLst/>
              <a:ahLst/>
              <a:cxnLst/>
              <a:rect r="r" b="b" t="t" l="l"/>
              <a:pathLst>
                <a:path h="2922143" w="4147693">
                  <a:moveTo>
                    <a:pt x="0" y="0"/>
                  </a:moveTo>
                  <a:lnTo>
                    <a:pt x="4147693" y="0"/>
                  </a:lnTo>
                  <a:lnTo>
                    <a:pt x="4147693" y="2922143"/>
                  </a:lnTo>
                  <a:lnTo>
                    <a:pt x="0" y="2922143"/>
                  </a:lnTo>
                  <a:lnTo>
                    <a:pt x="0" y="0"/>
                  </a:lnTo>
                  <a:close/>
                </a:path>
              </a:pathLst>
            </a:custGeom>
            <a:blipFill>
              <a:blip r:embed="rId5"/>
              <a:stretch>
                <a:fillRect l="-82" t="0" r="-83" b="-1"/>
              </a:stretch>
            </a:blipFill>
          </p:spPr>
        </p:sp>
      </p:grpSp>
      <p:sp>
        <p:nvSpPr>
          <p:cNvPr name="TextBox 14" id="14"/>
          <p:cNvSpPr txBox="true"/>
          <p:nvPr/>
        </p:nvSpPr>
        <p:spPr>
          <a:xfrm rot="0">
            <a:off x="9363523" y="4683176"/>
            <a:ext cx="8331251" cy="233362"/>
          </a:xfrm>
          <a:prstGeom prst="rect">
            <a:avLst/>
          </a:prstGeom>
        </p:spPr>
        <p:txBody>
          <a:bodyPr anchor="t" rtlCol="false" tIns="0" lIns="0" bIns="0" rIns="0">
            <a:spAutoFit/>
          </a:bodyPr>
          <a:lstStyle/>
          <a:p>
            <a:pPr algn="l">
              <a:lnSpc>
                <a:spcPts val="1687"/>
              </a:lnSpc>
            </a:pPr>
            <a:r>
              <a:rPr lang="en-US" sz="1312">
                <a:solidFill>
                  <a:srgbClr val="FFFFFF"/>
                </a:solidFill>
                <a:latin typeface="Arial MT Pro"/>
                <a:ea typeface="Arial MT Pro"/>
                <a:cs typeface="Arial MT Pro"/>
                <a:sym typeface="Arial MT Pro"/>
              </a:rPr>
              <a:t>Handles requests to interact with devices, translating user commands into device-specific actions.</a:t>
            </a:r>
          </a:p>
        </p:txBody>
      </p:sp>
      <p:sp>
        <p:nvSpPr>
          <p:cNvPr name="TextBox 15" id="15"/>
          <p:cNvSpPr txBox="true"/>
          <p:nvPr/>
        </p:nvSpPr>
        <p:spPr>
          <a:xfrm rot="0">
            <a:off x="602752" y="5908919"/>
            <a:ext cx="2546152" cy="358775"/>
          </a:xfrm>
          <a:prstGeom prst="rect">
            <a:avLst/>
          </a:prstGeom>
        </p:spPr>
        <p:txBody>
          <a:bodyPr anchor="t" rtlCol="false" tIns="0" lIns="0" bIns="0" rIns="0">
            <a:spAutoFit/>
          </a:bodyPr>
          <a:lstStyle/>
          <a:p>
            <a:pPr algn="l">
              <a:lnSpc>
                <a:spcPts val="2500"/>
              </a:lnSpc>
            </a:pPr>
            <a:r>
              <a:rPr lang="en-US" b="true" sz="2000" spc="-32">
                <a:solidFill>
                  <a:srgbClr val="FFFFFF"/>
                </a:solidFill>
                <a:latin typeface="Arial MT Pro Bold"/>
                <a:ea typeface="Arial MT Pro Bold"/>
                <a:cs typeface="Arial MT Pro Bold"/>
                <a:sym typeface="Arial MT Pro Bold"/>
              </a:rPr>
              <a:t>DEVICEREPOSITORY</a:t>
            </a:r>
          </a:p>
        </p:txBody>
      </p:sp>
      <p:grpSp>
        <p:nvGrpSpPr>
          <p:cNvPr name="Group 16" id="16"/>
          <p:cNvGrpSpPr/>
          <p:nvPr/>
        </p:nvGrpSpPr>
        <p:grpSpPr>
          <a:xfrm rot="0">
            <a:off x="602752" y="6406601"/>
            <a:ext cx="2992336" cy="2275284"/>
            <a:chOff x="0" y="0"/>
            <a:chExt cx="3989781" cy="3033712"/>
          </a:xfrm>
        </p:grpSpPr>
        <p:sp>
          <p:nvSpPr>
            <p:cNvPr name="Freeform 17" id="17" descr="preencoded.png"/>
            <p:cNvSpPr/>
            <p:nvPr/>
          </p:nvSpPr>
          <p:spPr>
            <a:xfrm flipH="false" flipV="false" rot="0">
              <a:off x="0" y="0"/>
              <a:ext cx="3989832" cy="3033776"/>
            </a:xfrm>
            <a:custGeom>
              <a:avLst/>
              <a:gdLst/>
              <a:ahLst/>
              <a:cxnLst/>
              <a:rect r="r" b="b" t="t" l="l"/>
              <a:pathLst>
                <a:path h="3033776" w="3989832">
                  <a:moveTo>
                    <a:pt x="0" y="0"/>
                  </a:moveTo>
                  <a:lnTo>
                    <a:pt x="3989832" y="0"/>
                  </a:lnTo>
                  <a:lnTo>
                    <a:pt x="3989832" y="3033776"/>
                  </a:lnTo>
                  <a:lnTo>
                    <a:pt x="0" y="3033776"/>
                  </a:lnTo>
                  <a:lnTo>
                    <a:pt x="0" y="0"/>
                  </a:lnTo>
                  <a:close/>
                </a:path>
              </a:pathLst>
            </a:custGeom>
            <a:blipFill>
              <a:blip r:embed="rId6"/>
              <a:stretch>
                <a:fillRect l="0" t="-51" r="1" b="-48"/>
              </a:stretch>
            </a:blipFill>
          </p:spPr>
        </p:sp>
      </p:grpSp>
      <p:sp>
        <p:nvSpPr>
          <p:cNvPr name="TextBox 18" id="18"/>
          <p:cNvSpPr txBox="true"/>
          <p:nvPr/>
        </p:nvSpPr>
        <p:spPr>
          <a:xfrm rot="0">
            <a:off x="602752" y="8761362"/>
            <a:ext cx="8331251" cy="233362"/>
          </a:xfrm>
          <a:prstGeom prst="rect">
            <a:avLst/>
          </a:prstGeom>
        </p:spPr>
        <p:txBody>
          <a:bodyPr anchor="t" rtlCol="false" tIns="0" lIns="0" bIns="0" rIns="0">
            <a:spAutoFit/>
          </a:bodyPr>
          <a:lstStyle/>
          <a:p>
            <a:pPr algn="l">
              <a:lnSpc>
                <a:spcPts val="1687"/>
              </a:lnSpc>
            </a:pPr>
            <a:r>
              <a:rPr lang="en-US" sz="1312">
                <a:solidFill>
                  <a:srgbClr val="FFFFFF"/>
                </a:solidFill>
                <a:latin typeface="Arial MT Pro"/>
                <a:ea typeface="Arial MT Pro"/>
                <a:cs typeface="Arial MT Pro"/>
                <a:sym typeface="Arial MT Pro"/>
              </a:rPr>
              <a:t>Manages the storage, retrieval, and persistence of device data within the system's database.</a:t>
            </a:r>
          </a:p>
        </p:txBody>
      </p:sp>
      <p:sp>
        <p:nvSpPr>
          <p:cNvPr name="TextBox 19" id="19"/>
          <p:cNvSpPr txBox="true"/>
          <p:nvPr/>
        </p:nvSpPr>
        <p:spPr>
          <a:xfrm rot="0">
            <a:off x="9363523" y="5908919"/>
            <a:ext cx="2007890" cy="358775"/>
          </a:xfrm>
          <a:prstGeom prst="rect">
            <a:avLst/>
          </a:prstGeom>
        </p:spPr>
        <p:txBody>
          <a:bodyPr anchor="t" rtlCol="false" tIns="0" lIns="0" bIns="0" rIns="0">
            <a:spAutoFit/>
          </a:bodyPr>
          <a:lstStyle/>
          <a:p>
            <a:pPr algn="l">
              <a:lnSpc>
                <a:spcPts val="2500"/>
              </a:lnSpc>
            </a:pPr>
            <a:r>
              <a:rPr lang="en-US" b="true" sz="2000" spc="-32">
                <a:solidFill>
                  <a:srgbClr val="FFFFFF"/>
                </a:solidFill>
                <a:latin typeface="Arial MT Pro Bold"/>
                <a:ea typeface="Arial MT Pro Bold"/>
                <a:cs typeface="Arial MT Pro Bold"/>
                <a:sym typeface="Arial MT Pro Bold"/>
              </a:rPr>
              <a:t>DEVICESERVICE</a:t>
            </a:r>
          </a:p>
        </p:txBody>
      </p:sp>
      <p:grpSp>
        <p:nvGrpSpPr>
          <p:cNvPr name="Group 20" id="20"/>
          <p:cNvGrpSpPr/>
          <p:nvPr/>
        </p:nvGrpSpPr>
        <p:grpSpPr>
          <a:xfrm rot="0">
            <a:off x="9363523" y="6406601"/>
            <a:ext cx="4144118" cy="2231384"/>
            <a:chOff x="0" y="0"/>
            <a:chExt cx="5525491" cy="2975178"/>
          </a:xfrm>
        </p:grpSpPr>
        <p:sp>
          <p:nvSpPr>
            <p:cNvPr name="Freeform 21" id="21" descr="preencoded.png"/>
            <p:cNvSpPr/>
            <p:nvPr/>
          </p:nvSpPr>
          <p:spPr>
            <a:xfrm flipH="false" flipV="false" rot="0">
              <a:off x="0" y="0"/>
              <a:ext cx="5525516" cy="2975229"/>
            </a:xfrm>
            <a:custGeom>
              <a:avLst/>
              <a:gdLst/>
              <a:ahLst/>
              <a:cxnLst/>
              <a:rect r="r" b="b" t="t" l="l"/>
              <a:pathLst>
                <a:path h="2975229" w="5525516">
                  <a:moveTo>
                    <a:pt x="0" y="0"/>
                  </a:moveTo>
                  <a:lnTo>
                    <a:pt x="5525516" y="0"/>
                  </a:lnTo>
                  <a:lnTo>
                    <a:pt x="5525516" y="2975229"/>
                  </a:lnTo>
                  <a:lnTo>
                    <a:pt x="0" y="2975229"/>
                  </a:lnTo>
                  <a:lnTo>
                    <a:pt x="0" y="0"/>
                  </a:lnTo>
                  <a:close/>
                </a:path>
              </a:pathLst>
            </a:custGeom>
            <a:blipFill>
              <a:blip r:embed="rId7"/>
              <a:stretch>
                <a:fillRect l="-47" t="0" r="-47" b="1"/>
              </a:stretch>
            </a:blipFill>
          </p:spPr>
        </p:sp>
      </p:grpSp>
      <p:sp>
        <p:nvSpPr>
          <p:cNvPr name="TextBox 22" id="22"/>
          <p:cNvSpPr txBox="true"/>
          <p:nvPr/>
        </p:nvSpPr>
        <p:spPr>
          <a:xfrm rot="0">
            <a:off x="9363523" y="8717461"/>
            <a:ext cx="8331251" cy="233362"/>
          </a:xfrm>
          <a:prstGeom prst="rect">
            <a:avLst/>
          </a:prstGeom>
        </p:spPr>
        <p:txBody>
          <a:bodyPr anchor="t" rtlCol="false" tIns="0" lIns="0" bIns="0" rIns="0">
            <a:spAutoFit/>
          </a:bodyPr>
          <a:lstStyle/>
          <a:p>
            <a:pPr algn="l">
              <a:lnSpc>
                <a:spcPts val="1687"/>
              </a:lnSpc>
            </a:pPr>
            <a:r>
              <a:rPr lang="en-US" sz="1312">
                <a:solidFill>
                  <a:srgbClr val="FFFFFF"/>
                </a:solidFill>
                <a:latin typeface="Arial MT Pro"/>
                <a:ea typeface="Arial MT Pro"/>
                <a:cs typeface="Arial MT Pro"/>
                <a:sym typeface="Arial MT Pro"/>
              </a:rPr>
              <a:t>Orchestrates business logic related to devices, coordinating between the controller and repository layers.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41519">
                <a:alpha val="90196"/>
              </a:srgbClr>
            </a:solidFill>
          </p:spPr>
        </p:sp>
      </p:grpSp>
      <p:sp>
        <p:nvSpPr>
          <p:cNvPr name="TextBox 6" id="6"/>
          <p:cNvSpPr txBox="true"/>
          <p:nvPr/>
        </p:nvSpPr>
        <p:spPr>
          <a:xfrm rot="0">
            <a:off x="992238" y="1092994"/>
            <a:ext cx="13170198" cy="976312"/>
          </a:xfrm>
          <a:prstGeom prst="rect">
            <a:avLst/>
          </a:prstGeom>
        </p:spPr>
        <p:txBody>
          <a:bodyPr anchor="t" rtlCol="false" tIns="0" lIns="0" bIns="0" rIns="0">
            <a:spAutoFit/>
          </a:bodyPr>
          <a:lstStyle/>
          <a:p>
            <a:pPr algn="l">
              <a:lnSpc>
                <a:spcPts val="6937"/>
              </a:lnSpc>
            </a:pPr>
            <a:r>
              <a:rPr lang="en-US" b="true" sz="5562" spc="-233">
                <a:solidFill>
                  <a:srgbClr val="FFFFFF"/>
                </a:solidFill>
                <a:latin typeface="Arial MT Pro Bold"/>
                <a:ea typeface="Arial MT Pro Bold"/>
                <a:cs typeface="Arial MT Pro Bold"/>
                <a:sym typeface="Arial MT Pro Bold"/>
              </a:rPr>
              <a:t>Module 2: Class Activity Flow &amp; Interaction</a:t>
            </a:r>
          </a:p>
        </p:txBody>
      </p:sp>
      <p:sp>
        <p:nvSpPr>
          <p:cNvPr name="TextBox 7" id="7"/>
          <p:cNvSpPr txBox="true"/>
          <p:nvPr/>
        </p:nvSpPr>
        <p:spPr>
          <a:xfrm rot="0">
            <a:off x="992238" y="2536479"/>
            <a:ext cx="308967" cy="471487"/>
          </a:xfrm>
          <a:prstGeom prst="rect">
            <a:avLst/>
          </a:prstGeom>
        </p:spPr>
        <p:txBody>
          <a:bodyPr anchor="t" rtlCol="false" tIns="0" lIns="0" bIns="0" rIns="0">
            <a:spAutoFit/>
          </a:bodyPr>
          <a:lstStyle/>
          <a:p>
            <a:pPr algn="l">
              <a:lnSpc>
                <a:spcPts val="3562"/>
              </a:lnSpc>
            </a:pPr>
            <a:r>
              <a:rPr lang="en-US" sz="2187">
                <a:solidFill>
                  <a:srgbClr val="FFFFFF"/>
                </a:solidFill>
                <a:latin typeface="Arial MT Pro"/>
                <a:ea typeface="Arial MT Pro"/>
                <a:cs typeface="Arial MT Pro"/>
                <a:sym typeface="Arial MT Pro"/>
              </a:rPr>
              <a:t>01</a:t>
            </a:r>
          </a:p>
        </p:txBody>
      </p:sp>
      <p:grpSp>
        <p:nvGrpSpPr>
          <p:cNvPr name="Group 8" id="8"/>
          <p:cNvGrpSpPr/>
          <p:nvPr/>
        </p:nvGrpSpPr>
        <p:grpSpPr>
          <a:xfrm rot="0">
            <a:off x="992238" y="3123162"/>
            <a:ext cx="5245446" cy="38100"/>
            <a:chOff x="0" y="0"/>
            <a:chExt cx="6993928" cy="50800"/>
          </a:xfrm>
        </p:grpSpPr>
        <p:sp>
          <p:nvSpPr>
            <p:cNvPr name="Freeform 9" id="9"/>
            <p:cNvSpPr/>
            <p:nvPr/>
          </p:nvSpPr>
          <p:spPr>
            <a:xfrm flipH="false" flipV="false" rot="0">
              <a:off x="0" y="0"/>
              <a:ext cx="6993890" cy="50800"/>
            </a:xfrm>
            <a:custGeom>
              <a:avLst/>
              <a:gdLst/>
              <a:ahLst/>
              <a:cxnLst/>
              <a:rect r="r" b="b" t="t" l="l"/>
              <a:pathLst>
                <a:path h="50800" w="6993890">
                  <a:moveTo>
                    <a:pt x="0" y="0"/>
                  </a:moveTo>
                  <a:lnTo>
                    <a:pt x="6993890" y="0"/>
                  </a:lnTo>
                  <a:lnTo>
                    <a:pt x="6993890" y="50800"/>
                  </a:lnTo>
                  <a:lnTo>
                    <a:pt x="0" y="50800"/>
                  </a:lnTo>
                  <a:close/>
                </a:path>
              </a:pathLst>
            </a:custGeom>
            <a:solidFill>
              <a:srgbClr val="27DDDF"/>
            </a:solidFill>
          </p:spPr>
        </p:sp>
      </p:grpSp>
      <p:sp>
        <p:nvSpPr>
          <p:cNvPr name="TextBox 10" id="10"/>
          <p:cNvSpPr txBox="true"/>
          <p:nvPr/>
        </p:nvSpPr>
        <p:spPr>
          <a:xfrm rot="0">
            <a:off x="992238" y="3264846"/>
            <a:ext cx="5245446" cy="915987"/>
          </a:xfrm>
          <a:prstGeom prst="rect">
            <a:avLst/>
          </a:prstGeom>
        </p:spPr>
        <p:txBody>
          <a:bodyPr anchor="t" rtlCol="false" tIns="0" lIns="0" bIns="0" rIns="0">
            <a:spAutoFit/>
          </a:bodyPr>
          <a:lstStyle/>
          <a:p>
            <a:pPr algn="l">
              <a:lnSpc>
                <a:spcPts val="3437"/>
              </a:lnSpc>
            </a:pPr>
            <a:r>
              <a:rPr lang="en-US" b="true" sz="2750" spc="-44">
                <a:solidFill>
                  <a:srgbClr val="FFFFFF"/>
                </a:solidFill>
                <a:latin typeface="Arial MT Pro Bold"/>
                <a:ea typeface="Arial MT Pro Bold"/>
                <a:cs typeface="Arial MT Pro Bold"/>
                <a:sym typeface="Arial MT Pro Bold"/>
              </a:rPr>
              <a:t>User Interaction &amp; Controller Layer</a:t>
            </a:r>
          </a:p>
        </p:txBody>
      </p:sp>
      <p:sp>
        <p:nvSpPr>
          <p:cNvPr name="TextBox 11" id="11"/>
          <p:cNvSpPr txBox="true"/>
          <p:nvPr/>
        </p:nvSpPr>
        <p:spPr>
          <a:xfrm rot="0">
            <a:off x="992238" y="4254103"/>
            <a:ext cx="5245446" cy="1366837"/>
          </a:xfrm>
          <a:prstGeom prst="rect">
            <a:avLst/>
          </a:prstGeom>
        </p:spPr>
        <p:txBody>
          <a:bodyPr anchor="t" rtlCol="false" tIns="0" lIns="0" bIns="0" rIns="0">
            <a:spAutoFit/>
          </a:bodyPr>
          <a:lstStyle/>
          <a:p>
            <a:pPr algn="l">
              <a:lnSpc>
                <a:spcPts val="3562"/>
              </a:lnSpc>
            </a:pPr>
            <a:r>
              <a:rPr lang="en-US" sz="2187">
                <a:solidFill>
                  <a:srgbClr val="FFFFFF"/>
                </a:solidFill>
                <a:latin typeface="Arial MT Pro"/>
                <a:ea typeface="Arial MT Pro"/>
                <a:cs typeface="Arial MT Pro"/>
                <a:sym typeface="Arial MT Pro"/>
              </a:rPr>
              <a:t>The authenticated user selects a smart device and requests an action (ON/OFF or configuration change).</a:t>
            </a:r>
          </a:p>
        </p:txBody>
      </p:sp>
      <p:sp>
        <p:nvSpPr>
          <p:cNvPr name="TextBox 12" id="12"/>
          <p:cNvSpPr txBox="true"/>
          <p:nvPr/>
        </p:nvSpPr>
        <p:spPr>
          <a:xfrm rot="0">
            <a:off x="992238" y="5785094"/>
            <a:ext cx="5245446" cy="2709862"/>
          </a:xfrm>
          <a:prstGeom prst="rect">
            <a:avLst/>
          </a:prstGeom>
        </p:spPr>
        <p:txBody>
          <a:bodyPr anchor="t" rtlCol="false" tIns="0" lIns="0" bIns="0" rIns="0">
            <a:spAutoFit/>
          </a:bodyPr>
          <a:lstStyle/>
          <a:p>
            <a:pPr algn="l" marL="329903" indent="-164951" lvl="1">
              <a:lnSpc>
                <a:spcPts val="3562"/>
              </a:lnSpc>
              <a:buFont typeface="Arial"/>
              <a:buChar char="•"/>
            </a:pPr>
            <a:r>
              <a:rPr lang="en-US" sz="2187">
                <a:solidFill>
                  <a:srgbClr val="FFFFFF"/>
                </a:solidFill>
                <a:latin typeface="Arial MT Pro"/>
                <a:ea typeface="Arial MT Pro"/>
                <a:cs typeface="Arial MT Pro"/>
                <a:sym typeface="Arial MT Pro"/>
              </a:rPr>
              <a:t>The DeviceController accepts the request.</a:t>
            </a:r>
          </a:p>
          <a:p>
            <a:pPr algn="l" marL="329903" indent="-164951" lvl="1">
              <a:lnSpc>
                <a:spcPts val="3562"/>
              </a:lnSpc>
              <a:buFont typeface="Arial"/>
              <a:buChar char="•"/>
            </a:pPr>
            <a:r>
              <a:rPr lang="en-US" sz="2187">
                <a:solidFill>
                  <a:srgbClr val="FFFFFF"/>
                </a:solidFill>
                <a:latin typeface="Arial MT Pro"/>
                <a:ea typeface="Arial MT Pro"/>
                <a:cs typeface="Arial MT Pro"/>
                <a:sym typeface="Arial MT Pro"/>
              </a:rPr>
              <a:t>It validates the user session (from Module 1).</a:t>
            </a:r>
          </a:p>
          <a:p>
            <a:pPr algn="l" marL="329903" indent="-164951" lvl="1">
              <a:lnSpc>
                <a:spcPts val="3562"/>
              </a:lnSpc>
              <a:buFont typeface="Arial"/>
              <a:buChar char="•"/>
            </a:pPr>
            <a:r>
              <a:rPr lang="en-US" sz="2187">
                <a:solidFill>
                  <a:srgbClr val="FFFFFF"/>
                </a:solidFill>
                <a:latin typeface="Arial MT Pro"/>
                <a:ea typeface="Arial MT Pro"/>
                <a:cs typeface="Arial MT Pro"/>
                <a:sym typeface="Arial MT Pro"/>
              </a:rPr>
              <a:t>Forwards the request to the service layer.</a:t>
            </a:r>
          </a:p>
        </p:txBody>
      </p:sp>
      <p:sp>
        <p:nvSpPr>
          <p:cNvPr name="TextBox 13" id="13"/>
          <p:cNvSpPr txBox="true"/>
          <p:nvPr/>
        </p:nvSpPr>
        <p:spPr>
          <a:xfrm rot="0">
            <a:off x="6521206" y="2536479"/>
            <a:ext cx="308967" cy="471487"/>
          </a:xfrm>
          <a:prstGeom prst="rect">
            <a:avLst/>
          </a:prstGeom>
        </p:spPr>
        <p:txBody>
          <a:bodyPr anchor="t" rtlCol="false" tIns="0" lIns="0" bIns="0" rIns="0">
            <a:spAutoFit/>
          </a:bodyPr>
          <a:lstStyle/>
          <a:p>
            <a:pPr algn="l">
              <a:lnSpc>
                <a:spcPts val="3562"/>
              </a:lnSpc>
            </a:pPr>
            <a:r>
              <a:rPr lang="en-US" sz="2187">
                <a:solidFill>
                  <a:srgbClr val="FFFFFF"/>
                </a:solidFill>
                <a:latin typeface="Arial MT Pro"/>
                <a:ea typeface="Arial MT Pro"/>
                <a:cs typeface="Arial MT Pro"/>
                <a:sym typeface="Arial MT Pro"/>
              </a:rPr>
              <a:t>02</a:t>
            </a:r>
          </a:p>
        </p:txBody>
      </p:sp>
      <p:grpSp>
        <p:nvGrpSpPr>
          <p:cNvPr name="Group 14" id="14"/>
          <p:cNvGrpSpPr/>
          <p:nvPr/>
        </p:nvGrpSpPr>
        <p:grpSpPr>
          <a:xfrm rot="0">
            <a:off x="6521206" y="3123162"/>
            <a:ext cx="5245446" cy="38100"/>
            <a:chOff x="0" y="0"/>
            <a:chExt cx="6993928" cy="50800"/>
          </a:xfrm>
        </p:grpSpPr>
        <p:sp>
          <p:nvSpPr>
            <p:cNvPr name="Freeform 15" id="15"/>
            <p:cNvSpPr/>
            <p:nvPr/>
          </p:nvSpPr>
          <p:spPr>
            <a:xfrm flipH="false" flipV="false" rot="0">
              <a:off x="0" y="0"/>
              <a:ext cx="6993890" cy="50800"/>
            </a:xfrm>
            <a:custGeom>
              <a:avLst/>
              <a:gdLst/>
              <a:ahLst/>
              <a:cxnLst/>
              <a:rect r="r" b="b" t="t" l="l"/>
              <a:pathLst>
                <a:path h="50800" w="6993890">
                  <a:moveTo>
                    <a:pt x="0" y="0"/>
                  </a:moveTo>
                  <a:lnTo>
                    <a:pt x="6993890" y="0"/>
                  </a:lnTo>
                  <a:lnTo>
                    <a:pt x="6993890" y="50800"/>
                  </a:lnTo>
                  <a:lnTo>
                    <a:pt x="0" y="50800"/>
                  </a:lnTo>
                  <a:close/>
                </a:path>
              </a:pathLst>
            </a:custGeom>
            <a:solidFill>
              <a:srgbClr val="27DDDF"/>
            </a:solidFill>
          </p:spPr>
        </p:sp>
      </p:grpSp>
      <p:sp>
        <p:nvSpPr>
          <p:cNvPr name="TextBox 16" id="16"/>
          <p:cNvSpPr txBox="true"/>
          <p:nvPr/>
        </p:nvSpPr>
        <p:spPr>
          <a:xfrm rot="0">
            <a:off x="6521206" y="3264846"/>
            <a:ext cx="2198886" cy="487362"/>
          </a:xfrm>
          <a:prstGeom prst="rect">
            <a:avLst/>
          </a:prstGeom>
        </p:spPr>
        <p:txBody>
          <a:bodyPr anchor="t" rtlCol="false" tIns="0" lIns="0" bIns="0" rIns="0">
            <a:spAutoFit/>
          </a:bodyPr>
          <a:lstStyle/>
          <a:p>
            <a:pPr algn="l">
              <a:lnSpc>
                <a:spcPts val="3437"/>
              </a:lnSpc>
            </a:pPr>
            <a:r>
              <a:rPr lang="en-US" b="true" sz="2750" spc="-44">
                <a:solidFill>
                  <a:srgbClr val="FFFFFF"/>
                </a:solidFill>
                <a:latin typeface="Arial MT Pro Bold"/>
                <a:ea typeface="Arial MT Pro Bold"/>
                <a:cs typeface="Arial MT Pro Bold"/>
                <a:sym typeface="Arial MT Pro Bold"/>
              </a:rPr>
              <a:t>Service Layer</a:t>
            </a:r>
          </a:p>
        </p:txBody>
      </p:sp>
      <p:sp>
        <p:nvSpPr>
          <p:cNvPr name="TextBox 17" id="17"/>
          <p:cNvSpPr txBox="true"/>
          <p:nvPr/>
        </p:nvSpPr>
        <p:spPr>
          <a:xfrm rot="0">
            <a:off x="6521206" y="3811191"/>
            <a:ext cx="5245446" cy="919162"/>
          </a:xfrm>
          <a:prstGeom prst="rect">
            <a:avLst/>
          </a:prstGeom>
        </p:spPr>
        <p:txBody>
          <a:bodyPr anchor="t" rtlCol="false" tIns="0" lIns="0" bIns="0" rIns="0">
            <a:spAutoFit/>
          </a:bodyPr>
          <a:lstStyle/>
          <a:p>
            <a:pPr algn="l">
              <a:lnSpc>
                <a:spcPts val="3562"/>
              </a:lnSpc>
            </a:pPr>
            <a:r>
              <a:rPr lang="en-US" sz="2187">
                <a:solidFill>
                  <a:srgbClr val="FFFFFF"/>
                </a:solidFill>
                <a:latin typeface="Arial MT Pro"/>
                <a:ea typeface="Arial MT Pro"/>
                <a:cs typeface="Arial MT Pro"/>
                <a:sym typeface="Arial MT Pro"/>
              </a:rPr>
              <a:t>The DeviceService orchestrates business logic:</a:t>
            </a:r>
          </a:p>
        </p:txBody>
      </p:sp>
      <p:sp>
        <p:nvSpPr>
          <p:cNvPr name="TextBox 18" id="18"/>
          <p:cNvSpPr txBox="true"/>
          <p:nvPr/>
        </p:nvSpPr>
        <p:spPr>
          <a:xfrm rot="0">
            <a:off x="6521206" y="4888554"/>
            <a:ext cx="5245446" cy="1366837"/>
          </a:xfrm>
          <a:prstGeom prst="rect">
            <a:avLst/>
          </a:prstGeom>
        </p:spPr>
        <p:txBody>
          <a:bodyPr anchor="t" rtlCol="false" tIns="0" lIns="0" bIns="0" rIns="0">
            <a:spAutoFit/>
          </a:bodyPr>
          <a:lstStyle/>
          <a:p>
            <a:pPr algn="l" marL="329903" indent="-164951" lvl="1">
              <a:lnSpc>
                <a:spcPts val="3562"/>
              </a:lnSpc>
              <a:buFont typeface="Arial"/>
              <a:buChar char="•"/>
            </a:pPr>
            <a:r>
              <a:rPr lang="en-US" sz="2187">
                <a:solidFill>
                  <a:srgbClr val="FFFFFF"/>
                </a:solidFill>
                <a:latin typeface="Arial MT Pro"/>
                <a:ea typeface="Arial MT Pro"/>
                <a:cs typeface="Arial MT Pro"/>
                <a:sym typeface="Arial MT Pro"/>
              </a:rPr>
              <a:t>Applies relevant business rules.</a:t>
            </a:r>
          </a:p>
          <a:p>
            <a:pPr algn="l" marL="329903" indent="-164951" lvl="1">
              <a:lnSpc>
                <a:spcPts val="3562"/>
              </a:lnSpc>
              <a:buFont typeface="Arial"/>
              <a:buChar char="•"/>
            </a:pPr>
            <a:r>
              <a:rPr lang="en-US" sz="2187">
                <a:solidFill>
                  <a:srgbClr val="FFFFFF"/>
                </a:solidFill>
                <a:latin typeface="Arial MT Pro"/>
                <a:ea typeface="Arial MT Pro"/>
                <a:cs typeface="Arial MT Pro"/>
                <a:sym typeface="Arial MT Pro"/>
              </a:rPr>
              <a:t>Updates the device's operational state.</a:t>
            </a:r>
          </a:p>
          <a:p>
            <a:pPr algn="l" marL="329903" indent="-164951" lvl="1">
              <a:lnSpc>
                <a:spcPts val="3562"/>
              </a:lnSpc>
              <a:buFont typeface="Arial"/>
              <a:buChar char="•"/>
            </a:pPr>
            <a:r>
              <a:rPr lang="en-US" sz="2187">
                <a:solidFill>
                  <a:srgbClr val="FFFFFF"/>
                </a:solidFill>
                <a:latin typeface="Arial MT Pro"/>
                <a:ea typeface="Arial MT Pro"/>
                <a:cs typeface="Arial MT Pro"/>
                <a:sym typeface="Arial MT Pro"/>
              </a:rPr>
              <a:t>Calculates the impact on power usage.</a:t>
            </a:r>
          </a:p>
        </p:txBody>
      </p:sp>
      <p:sp>
        <p:nvSpPr>
          <p:cNvPr name="TextBox 19" id="19"/>
          <p:cNvSpPr txBox="true"/>
          <p:nvPr/>
        </p:nvSpPr>
        <p:spPr>
          <a:xfrm rot="0">
            <a:off x="12050163" y="2536479"/>
            <a:ext cx="308967" cy="471487"/>
          </a:xfrm>
          <a:prstGeom prst="rect">
            <a:avLst/>
          </a:prstGeom>
        </p:spPr>
        <p:txBody>
          <a:bodyPr anchor="t" rtlCol="false" tIns="0" lIns="0" bIns="0" rIns="0">
            <a:spAutoFit/>
          </a:bodyPr>
          <a:lstStyle/>
          <a:p>
            <a:pPr algn="l">
              <a:lnSpc>
                <a:spcPts val="3562"/>
              </a:lnSpc>
            </a:pPr>
            <a:r>
              <a:rPr lang="en-US" sz="2187">
                <a:solidFill>
                  <a:srgbClr val="FFFFFF"/>
                </a:solidFill>
                <a:latin typeface="Arial MT Pro"/>
                <a:ea typeface="Arial MT Pro"/>
                <a:cs typeface="Arial MT Pro"/>
                <a:sym typeface="Arial MT Pro"/>
              </a:rPr>
              <a:t>03</a:t>
            </a:r>
          </a:p>
        </p:txBody>
      </p:sp>
      <p:grpSp>
        <p:nvGrpSpPr>
          <p:cNvPr name="Group 20" id="20"/>
          <p:cNvGrpSpPr/>
          <p:nvPr/>
        </p:nvGrpSpPr>
        <p:grpSpPr>
          <a:xfrm rot="0">
            <a:off x="12050163" y="3123162"/>
            <a:ext cx="5245446" cy="38100"/>
            <a:chOff x="0" y="0"/>
            <a:chExt cx="6993928" cy="50800"/>
          </a:xfrm>
        </p:grpSpPr>
        <p:sp>
          <p:nvSpPr>
            <p:cNvPr name="Freeform 21" id="21"/>
            <p:cNvSpPr/>
            <p:nvPr/>
          </p:nvSpPr>
          <p:spPr>
            <a:xfrm flipH="false" flipV="false" rot="0">
              <a:off x="0" y="0"/>
              <a:ext cx="6993890" cy="50800"/>
            </a:xfrm>
            <a:custGeom>
              <a:avLst/>
              <a:gdLst/>
              <a:ahLst/>
              <a:cxnLst/>
              <a:rect r="r" b="b" t="t" l="l"/>
              <a:pathLst>
                <a:path h="50800" w="6993890">
                  <a:moveTo>
                    <a:pt x="0" y="0"/>
                  </a:moveTo>
                  <a:lnTo>
                    <a:pt x="6993890" y="0"/>
                  </a:lnTo>
                  <a:lnTo>
                    <a:pt x="6993890" y="50800"/>
                  </a:lnTo>
                  <a:lnTo>
                    <a:pt x="0" y="50800"/>
                  </a:lnTo>
                  <a:close/>
                </a:path>
              </a:pathLst>
            </a:custGeom>
            <a:solidFill>
              <a:srgbClr val="27DDDF"/>
            </a:solidFill>
          </p:spPr>
        </p:sp>
      </p:grpSp>
      <p:sp>
        <p:nvSpPr>
          <p:cNvPr name="TextBox 22" id="22"/>
          <p:cNvSpPr txBox="true"/>
          <p:nvPr/>
        </p:nvSpPr>
        <p:spPr>
          <a:xfrm rot="0">
            <a:off x="12050163" y="3264846"/>
            <a:ext cx="4817566" cy="487362"/>
          </a:xfrm>
          <a:prstGeom prst="rect">
            <a:avLst/>
          </a:prstGeom>
        </p:spPr>
        <p:txBody>
          <a:bodyPr anchor="t" rtlCol="false" tIns="0" lIns="0" bIns="0" rIns="0">
            <a:spAutoFit/>
          </a:bodyPr>
          <a:lstStyle/>
          <a:p>
            <a:pPr algn="l">
              <a:lnSpc>
                <a:spcPts val="3437"/>
              </a:lnSpc>
            </a:pPr>
            <a:r>
              <a:rPr lang="en-US" b="true" sz="2750" spc="-44">
                <a:solidFill>
                  <a:srgbClr val="FFFFFF"/>
                </a:solidFill>
                <a:latin typeface="Arial MT Pro Bold"/>
                <a:ea typeface="Arial MT Pro Bold"/>
                <a:cs typeface="Arial MT Pro Bold"/>
                <a:sym typeface="Arial MT Pro Bold"/>
              </a:rPr>
              <a:t>Repository Layer &amp; Response</a:t>
            </a:r>
          </a:p>
        </p:txBody>
      </p:sp>
      <p:sp>
        <p:nvSpPr>
          <p:cNvPr name="TextBox 23" id="23"/>
          <p:cNvSpPr txBox="true"/>
          <p:nvPr/>
        </p:nvSpPr>
        <p:spPr>
          <a:xfrm rot="0">
            <a:off x="12050163" y="3811191"/>
            <a:ext cx="5245446" cy="919162"/>
          </a:xfrm>
          <a:prstGeom prst="rect">
            <a:avLst/>
          </a:prstGeom>
        </p:spPr>
        <p:txBody>
          <a:bodyPr anchor="t" rtlCol="false" tIns="0" lIns="0" bIns="0" rIns="0">
            <a:spAutoFit/>
          </a:bodyPr>
          <a:lstStyle/>
          <a:p>
            <a:pPr algn="l">
              <a:lnSpc>
                <a:spcPts val="3562"/>
              </a:lnSpc>
            </a:pPr>
            <a:r>
              <a:rPr lang="en-US" sz="2187">
                <a:solidFill>
                  <a:srgbClr val="FFFFFF"/>
                </a:solidFill>
                <a:latin typeface="Arial MT Pro"/>
                <a:ea typeface="Arial MT Pro"/>
                <a:cs typeface="Arial MT Pro"/>
                <a:sym typeface="Arial MT Pro"/>
              </a:rPr>
              <a:t>The DeviceRepository manages data persistence:</a:t>
            </a:r>
          </a:p>
        </p:txBody>
      </p:sp>
      <p:sp>
        <p:nvSpPr>
          <p:cNvPr name="TextBox 24" id="24"/>
          <p:cNvSpPr txBox="true"/>
          <p:nvPr/>
        </p:nvSpPr>
        <p:spPr>
          <a:xfrm rot="0">
            <a:off x="12050163" y="4888554"/>
            <a:ext cx="5245446" cy="1366837"/>
          </a:xfrm>
          <a:prstGeom prst="rect">
            <a:avLst/>
          </a:prstGeom>
        </p:spPr>
        <p:txBody>
          <a:bodyPr anchor="t" rtlCol="false" tIns="0" lIns="0" bIns="0" rIns="0">
            <a:spAutoFit/>
          </a:bodyPr>
          <a:lstStyle/>
          <a:p>
            <a:pPr algn="l" marL="329903" indent="-164951" lvl="1">
              <a:lnSpc>
                <a:spcPts val="3562"/>
              </a:lnSpc>
              <a:buFont typeface="Arial"/>
              <a:buChar char="•"/>
            </a:pPr>
            <a:r>
              <a:rPr lang="en-US" sz="2187">
                <a:solidFill>
                  <a:srgbClr val="FFFFFF"/>
                </a:solidFill>
                <a:latin typeface="Arial MT Pro"/>
                <a:ea typeface="Arial MT Pro"/>
                <a:cs typeface="Arial MT Pro"/>
                <a:sym typeface="Arial MT Pro"/>
              </a:rPr>
              <a:t>Stores the updated device state.</a:t>
            </a:r>
          </a:p>
          <a:p>
            <a:pPr algn="l" marL="329903" indent="-164951" lvl="1">
              <a:lnSpc>
                <a:spcPts val="3562"/>
              </a:lnSpc>
              <a:buFont typeface="Arial"/>
              <a:buChar char="•"/>
            </a:pPr>
            <a:r>
              <a:rPr lang="en-US" sz="2187">
                <a:solidFill>
                  <a:srgbClr val="FFFFFF"/>
                </a:solidFill>
                <a:latin typeface="Arial MT Pro"/>
                <a:ea typeface="Arial MT Pro"/>
                <a:cs typeface="Arial MT Pro"/>
                <a:sym typeface="Arial MT Pro"/>
              </a:rPr>
              <a:t>Persists the configuration in the database.</a:t>
            </a:r>
          </a:p>
        </p:txBody>
      </p:sp>
      <p:sp>
        <p:nvSpPr>
          <p:cNvPr name="TextBox 25" id="25"/>
          <p:cNvSpPr txBox="true"/>
          <p:nvPr/>
        </p:nvSpPr>
        <p:spPr>
          <a:xfrm rot="0">
            <a:off x="12050163" y="6419631"/>
            <a:ext cx="5245446" cy="1366837"/>
          </a:xfrm>
          <a:prstGeom prst="rect">
            <a:avLst/>
          </a:prstGeom>
        </p:spPr>
        <p:txBody>
          <a:bodyPr anchor="t" rtlCol="false" tIns="0" lIns="0" bIns="0" rIns="0">
            <a:spAutoFit/>
          </a:bodyPr>
          <a:lstStyle/>
          <a:p>
            <a:pPr algn="l">
              <a:lnSpc>
                <a:spcPts val="3562"/>
              </a:lnSpc>
            </a:pPr>
            <a:r>
              <a:rPr lang="en-US" sz="2187">
                <a:solidFill>
                  <a:srgbClr val="FFFFFF"/>
                </a:solidFill>
                <a:latin typeface="Arial MT Pro"/>
                <a:ea typeface="Arial MT Pro"/>
                <a:cs typeface="Arial MT Pro"/>
                <a:sym typeface="Arial MT Pro"/>
              </a:rPr>
              <a:t>Finally, the updated device status is sent to the dashboard, providing the user with real-time feedback.</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41519">
                <a:alpha val="90196"/>
              </a:srgbClr>
            </a:solidFill>
          </p:spPr>
        </p:sp>
      </p:grpSp>
      <p:sp>
        <p:nvSpPr>
          <p:cNvPr name="TextBox 6" id="6"/>
          <p:cNvSpPr txBox="true"/>
          <p:nvPr/>
        </p:nvSpPr>
        <p:spPr>
          <a:xfrm rot="0">
            <a:off x="992238" y="902941"/>
            <a:ext cx="10358835" cy="882650"/>
          </a:xfrm>
          <a:prstGeom prst="rect">
            <a:avLst/>
          </a:prstGeom>
        </p:spPr>
        <p:txBody>
          <a:bodyPr anchor="t" rtlCol="false" tIns="0" lIns="0" bIns="0" rIns="0">
            <a:spAutoFit/>
          </a:bodyPr>
          <a:lstStyle/>
          <a:p>
            <a:pPr algn="l">
              <a:lnSpc>
                <a:spcPts val="6250"/>
              </a:lnSpc>
            </a:pPr>
            <a:r>
              <a:rPr lang="en-US" b="true" sz="5000" spc="-210">
                <a:solidFill>
                  <a:srgbClr val="FFFFFF"/>
                </a:solidFill>
                <a:latin typeface="Arial MT Pro Bold"/>
                <a:ea typeface="Arial MT Pro Bold"/>
                <a:cs typeface="Arial MT Pro Bold"/>
                <a:sym typeface="Arial MT Pro Bold"/>
              </a:rPr>
              <a:t>Module 3: Real Time Energy Tracking</a:t>
            </a:r>
          </a:p>
        </p:txBody>
      </p:sp>
      <p:sp>
        <p:nvSpPr>
          <p:cNvPr name="TextBox 7" id="7"/>
          <p:cNvSpPr txBox="true"/>
          <p:nvPr/>
        </p:nvSpPr>
        <p:spPr>
          <a:xfrm rot="0">
            <a:off x="992238" y="2270369"/>
            <a:ext cx="7840561" cy="1552575"/>
          </a:xfrm>
          <a:prstGeom prst="rect">
            <a:avLst/>
          </a:prstGeom>
        </p:spPr>
        <p:txBody>
          <a:bodyPr anchor="t" rtlCol="false" tIns="0" lIns="0" bIns="0" rIns="0">
            <a:spAutoFit/>
          </a:bodyPr>
          <a:lstStyle/>
          <a:p>
            <a:pPr algn="l">
              <a:lnSpc>
                <a:spcPts val="3000"/>
              </a:lnSpc>
            </a:pPr>
            <a:r>
              <a:rPr lang="en-US" sz="2000">
                <a:solidFill>
                  <a:srgbClr val="FFFFFF"/>
                </a:solidFill>
                <a:latin typeface="Arial MT Pro"/>
                <a:ea typeface="Arial MT Pro"/>
                <a:cs typeface="Arial MT Pro"/>
                <a:sym typeface="Arial MT Pro"/>
              </a:rPr>
              <a:t>This module is designed to provide comprehensive, real-time visibility into energy consumption across all integrated smart devices. It continuously collects data, processes it, and presents it through an intuitive dashboard.</a:t>
            </a:r>
          </a:p>
        </p:txBody>
      </p:sp>
      <p:sp>
        <p:nvSpPr>
          <p:cNvPr name="TextBox 8" id="8"/>
          <p:cNvSpPr txBox="true"/>
          <p:nvPr/>
        </p:nvSpPr>
        <p:spPr>
          <a:xfrm rot="0">
            <a:off x="992238" y="4028332"/>
            <a:ext cx="7840561" cy="409575"/>
          </a:xfrm>
          <a:prstGeom prst="rect">
            <a:avLst/>
          </a:prstGeom>
        </p:spPr>
        <p:txBody>
          <a:bodyPr anchor="t" rtlCol="false" tIns="0" lIns="0" bIns="0" rIns="0">
            <a:spAutoFit/>
          </a:bodyPr>
          <a:lstStyle/>
          <a:p>
            <a:pPr algn="l">
              <a:lnSpc>
                <a:spcPts val="3000"/>
              </a:lnSpc>
            </a:pPr>
            <a:r>
              <a:rPr lang="en-US" sz="2000">
                <a:solidFill>
                  <a:srgbClr val="FFFFFF"/>
                </a:solidFill>
                <a:latin typeface="Arial MT Pro"/>
                <a:ea typeface="Arial MT Pro"/>
                <a:cs typeface="Arial MT Pro"/>
                <a:sym typeface="Arial MT Pro"/>
              </a:rPr>
              <a:t>Key functionalities include:</a:t>
            </a:r>
          </a:p>
        </p:txBody>
      </p:sp>
      <p:sp>
        <p:nvSpPr>
          <p:cNvPr name="TextBox 9" id="9"/>
          <p:cNvSpPr txBox="true"/>
          <p:nvPr/>
        </p:nvSpPr>
        <p:spPr>
          <a:xfrm rot="0">
            <a:off x="992238" y="4622749"/>
            <a:ext cx="7840561" cy="3076575"/>
          </a:xfrm>
          <a:prstGeom prst="rect">
            <a:avLst/>
          </a:prstGeom>
        </p:spPr>
        <p:txBody>
          <a:bodyPr anchor="t" rtlCol="false" tIns="0" lIns="0" bIns="0" rIns="0">
            <a:spAutoFit/>
          </a:bodyPr>
          <a:lstStyle/>
          <a:p>
            <a:pPr algn="l" marL="301625" indent="-150813" lvl="1">
              <a:lnSpc>
                <a:spcPts val="3000"/>
              </a:lnSpc>
              <a:buFont typeface="Arial"/>
              <a:buChar char="•"/>
            </a:pPr>
            <a:r>
              <a:rPr lang="en-US" sz="2000">
                <a:solidFill>
                  <a:srgbClr val="FFFFFF"/>
                </a:solidFill>
                <a:latin typeface="Arial MT Pro"/>
                <a:ea typeface="Arial MT Pro"/>
                <a:cs typeface="Arial MT Pro"/>
                <a:sym typeface="Arial MT Pro"/>
              </a:rPr>
              <a:t>Live Data Feed: Continuous aggregation of energy usage from devices.</a:t>
            </a:r>
          </a:p>
          <a:p>
            <a:pPr algn="l" marL="301625" indent="-150813" lvl="1">
              <a:lnSpc>
                <a:spcPts val="3000"/>
              </a:lnSpc>
              <a:buFont typeface="Arial"/>
              <a:buChar char="•"/>
            </a:pPr>
            <a:r>
              <a:rPr lang="en-US" sz="2000">
                <a:solidFill>
                  <a:srgbClr val="FFFFFF"/>
                </a:solidFill>
                <a:latin typeface="Arial MT Pro"/>
                <a:ea typeface="Arial MT Pro"/>
                <a:cs typeface="Arial MT Pro"/>
                <a:sym typeface="Arial MT Pro"/>
              </a:rPr>
              <a:t>Usage Visualization: Interactive charts and graphs to identify consumption patterns.</a:t>
            </a:r>
          </a:p>
          <a:p>
            <a:pPr algn="l" marL="301625" indent="-150813" lvl="1">
              <a:lnSpc>
                <a:spcPts val="3000"/>
              </a:lnSpc>
              <a:buFont typeface="Arial"/>
              <a:buChar char="•"/>
            </a:pPr>
            <a:r>
              <a:rPr lang="en-US" sz="2000">
                <a:solidFill>
                  <a:srgbClr val="FFFFFF"/>
                </a:solidFill>
                <a:latin typeface="Arial MT Pro"/>
                <a:ea typeface="Arial MT Pro"/>
                <a:cs typeface="Arial MT Pro"/>
                <a:sym typeface="Arial MT Pro"/>
              </a:rPr>
              <a:t>Anomaly Detection: Alerts for unusual spikes or drops in energy, indicating potential issues or optimizations.</a:t>
            </a:r>
          </a:p>
          <a:p>
            <a:pPr algn="l" marL="301625" indent="-150813" lvl="1">
              <a:lnSpc>
                <a:spcPts val="3000"/>
              </a:lnSpc>
              <a:buFont typeface="Arial"/>
              <a:buChar char="•"/>
            </a:pPr>
            <a:r>
              <a:rPr lang="en-US" sz="2000">
                <a:solidFill>
                  <a:srgbClr val="FFFFFF"/>
                </a:solidFill>
                <a:latin typeface="Arial MT Pro"/>
                <a:ea typeface="Arial MT Pro"/>
                <a:cs typeface="Arial MT Pro"/>
                <a:sym typeface="Arial MT Pro"/>
              </a:rPr>
              <a:t>Performance Metrics: Calculation of energy efficiency and cost savings based on device operation.</a:t>
            </a:r>
          </a:p>
        </p:txBody>
      </p:sp>
      <p:sp>
        <p:nvSpPr>
          <p:cNvPr name="TextBox 10" id="10"/>
          <p:cNvSpPr txBox="true"/>
          <p:nvPr/>
        </p:nvSpPr>
        <p:spPr>
          <a:xfrm rot="0">
            <a:off x="992238" y="7932334"/>
            <a:ext cx="7840561" cy="790575"/>
          </a:xfrm>
          <a:prstGeom prst="rect">
            <a:avLst/>
          </a:prstGeom>
        </p:spPr>
        <p:txBody>
          <a:bodyPr anchor="t" rtlCol="false" tIns="0" lIns="0" bIns="0" rIns="0">
            <a:spAutoFit/>
          </a:bodyPr>
          <a:lstStyle/>
          <a:p>
            <a:pPr algn="l">
              <a:lnSpc>
                <a:spcPts val="3000"/>
              </a:lnSpc>
            </a:pPr>
            <a:r>
              <a:rPr lang="en-US" sz="2000">
                <a:solidFill>
                  <a:srgbClr val="FFFFFF"/>
                </a:solidFill>
                <a:latin typeface="Arial MT Pro"/>
                <a:ea typeface="Arial MT Pro"/>
                <a:cs typeface="Arial MT Pro"/>
                <a:sym typeface="Arial MT Pro"/>
              </a:rPr>
              <a:t>By offering immediate insights, Module 3 empowers users to make informed decisions for energy optimization and cost reduction.</a:t>
            </a:r>
          </a:p>
        </p:txBody>
      </p:sp>
      <p:grpSp>
        <p:nvGrpSpPr>
          <p:cNvPr name="Group 11" id="11"/>
          <p:cNvGrpSpPr/>
          <p:nvPr/>
        </p:nvGrpSpPr>
        <p:grpSpPr>
          <a:xfrm rot="0">
            <a:off x="9464726" y="2426941"/>
            <a:ext cx="7056387" cy="5971880"/>
            <a:chOff x="0" y="0"/>
            <a:chExt cx="9408516" cy="7962506"/>
          </a:xfrm>
        </p:grpSpPr>
        <p:sp>
          <p:nvSpPr>
            <p:cNvPr name="Freeform 12" id="12" descr="preencoded.png"/>
            <p:cNvSpPr/>
            <p:nvPr/>
          </p:nvSpPr>
          <p:spPr>
            <a:xfrm flipH="false" flipV="false" rot="0">
              <a:off x="0" y="0"/>
              <a:ext cx="9408541" cy="7962519"/>
            </a:xfrm>
            <a:custGeom>
              <a:avLst/>
              <a:gdLst/>
              <a:ahLst/>
              <a:cxnLst/>
              <a:rect r="r" b="b" t="t" l="l"/>
              <a:pathLst>
                <a:path h="7962519" w="9408541">
                  <a:moveTo>
                    <a:pt x="0" y="0"/>
                  </a:moveTo>
                  <a:lnTo>
                    <a:pt x="9408541" y="0"/>
                  </a:lnTo>
                  <a:lnTo>
                    <a:pt x="9408541" y="7962519"/>
                  </a:lnTo>
                  <a:lnTo>
                    <a:pt x="0" y="7962519"/>
                  </a:lnTo>
                  <a:lnTo>
                    <a:pt x="0" y="0"/>
                  </a:lnTo>
                  <a:close/>
                </a:path>
              </a:pathLst>
            </a:custGeom>
            <a:blipFill>
              <a:blip r:embed="rId4"/>
              <a:stretch>
                <a:fillRect l="-9" t="0" r="-8" b="0"/>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41519">
                <a:alpha val="90196"/>
              </a:srgbClr>
            </a:solidFill>
          </p:spPr>
        </p:sp>
      </p:grpSp>
      <p:sp>
        <p:nvSpPr>
          <p:cNvPr name="TextBox 6" id="6"/>
          <p:cNvSpPr txBox="true"/>
          <p:nvPr/>
        </p:nvSpPr>
        <p:spPr>
          <a:xfrm rot="0">
            <a:off x="992238" y="721671"/>
            <a:ext cx="8140303" cy="825500"/>
          </a:xfrm>
          <a:prstGeom prst="rect">
            <a:avLst/>
          </a:prstGeom>
        </p:spPr>
        <p:txBody>
          <a:bodyPr anchor="t" rtlCol="false" tIns="0" lIns="0" bIns="0" rIns="0">
            <a:spAutoFit/>
          </a:bodyPr>
          <a:lstStyle/>
          <a:p>
            <a:pPr algn="l">
              <a:lnSpc>
                <a:spcPts val="5875"/>
              </a:lnSpc>
            </a:pPr>
            <a:r>
              <a:rPr lang="en-US" b="true" sz="4687" spc="-196">
                <a:solidFill>
                  <a:srgbClr val="FFFFFF"/>
                </a:solidFill>
                <a:latin typeface="Arial MT Pro Bold"/>
                <a:ea typeface="Arial MT Pro Bold"/>
                <a:cs typeface="Arial MT Pro Bold"/>
                <a:sym typeface="Arial MT Pro Bold"/>
              </a:rPr>
              <a:t>Module 4: Analytics Dashboard</a:t>
            </a:r>
          </a:p>
        </p:txBody>
      </p:sp>
      <p:sp>
        <p:nvSpPr>
          <p:cNvPr name="TextBox 7" id="7"/>
          <p:cNvSpPr txBox="true"/>
          <p:nvPr/>
        </p:nvSpPr>
        <p:spPr>
          <a:xfrm rot="0">
            <a:off x="992238" y="1994745"/>
            <a:ext cx="7857830" cy="1393825"/>
          </a:xfrm>
          <a:prstGeom prst="rect">
            <a:avLst/>
          </a:prstGeom>
        </p:spPr>
        <p:txBody>
          <a:bodyPr anchor="t" rtlCol="false" tIns="0" lIns="0" bIns="0" rIns="0">
            <a:spAutoFit/>
          </a:bodyPr>
          <a:lstStyle/>
          <a:p>
            <a:pPr algn="l">
              <a:lnSpc>
                <a:spcPts val="2750"/>
              </a:lnSpc>
            </a:pPr>
            <a:r>
              <a:rPr lang="en-US" sz="1875">
                <a:solidFill>
                  <a:srgbClr val="FFFFFF"/>
                </a:solidFill>
                <a:latin typeface="Arial MT Pro"/>
                <a:ea typeface="Arial MT Pro"/>
                <a:cs typeface="Arial MT Pro"/>
                <a:sym typeface="Arial MT Pro"/>
              </a:rPr>
              <a:t>This module provides advanced analytical tools designed to transform raw energy data into actionable insights. It empowers users to dive deeper into consumption patterns, predict future trends, and generate comprehensive reports for strategic decision-making.</a:t>
            </a:r>
          </a:p>
        </p:txBody>
      </p:sp>
      <p:sp>
        <p:nvSpPr>
          <p:cNvPr name="TextBox 8" id="8"/>
          <p:cNvSpPr txBox="true"/>
          <p:nvPr/>
        </p:nvSpPr>
        <p:spPr>
          <a:xfrm rot="0">
            <a:off x="992238" y="3605365"/>
            <a:ext cx="7857830" cy="365125"/>
          </a:xfrm>
          <a:prstGeom prst="rect">
            <a:avLst/>
          </a:prstGeom>
        </p:spPr>
        <p:txBody>
          <a:bodyPr anchor="t" rtlCol="false" tIns="0" lIns="0" bIns="0" rIns="0">
            <a:spAutoFit/>
          </a:bodyPr>
          <a:lstStyle/>
          <a:p>
            <a:pPr algn="l">
              <a:lnSpc>
                <a:spcPts val="2750"/>
              </a:lnSpc>
            </a:pPr>
            <a:r>
              <a:rPr lang="en-US" sz="1875">
                <a:solidFill>
                  <a:srgbClr val="FFFFFF"/>
                </a:solidFill>
                <a:latin typeface="Arial MT Pro"/>
                <a:ea typeface="Arial MT Pro"/>
                <a:cs typeface="Arial MT Pro"/>
                <a:sym typeface="Arial MT Pro"/>
              </a:rPr>
              <a:t>Key capabilities include:</a:t>
            </a:r>
          </a:p>
        </p:txBody>
      </p:sp>
      <p:sp>
        <p:nvSpPr>
          <p:cNvPr name="TextBox 9" id="9"/>
          <p:cNvSpPr txBox="true"/>
          <p:nvPr/>
        </p:nvSpPr>
        <p:spPr>
          <a:xfrm rot="0">
            <a:off x="992238" y="4146204"/>
            <a:ext cx="7857830" cy="2765425"/>
          </a:xfrm>
          <a:prstGeom prst="rect">
            <a:avLst/>
          </a:prstGeom>
        </p:spPr>
        <p:txBody>
          <a:bodyPr anchor="t" rtlCol="false" tIns="0" lIns="0" bIns="0" rIns="0">
            <a:spAutoFit/>
          </a:bodyPr>
          <a:lstStyle/>
          <a:p>
            <a:pPr algn="l" marL="282773" indent="-141387" lvl="1">
              <a:lnSpc>
                <a:spcPts val="2750"/>
              </a:lnSpc>
              <a:buFont typeface="Arial"/>
              <a:buChar char="•"/>
            </a:pPr>
            <a:r>
              <a:rPr lang="en-US" sz="1875">
                <a:solidFill>
                  <a:srgbClr val="FFFFFF"/>
                </a:solidFill>
                <a:latin typeface="Arial MT Pro"/>
                <a:ea typeface="Arial MT Pro"/>
                <a:cs typeface="Arial MT Pro"/>
                <a:sym typeface="Arial MT Pro"/>
              </a:rPr>
              <a:t>Customizable Dashboards: Tailor your view with personalized widgets and data displays for focused analysis.</a:t>
            </a:r>
          </a:p>
          <a:p>
            <a:pPr algn="l" marL="282773" indent="-141387" lvl="1">
              <a:lnSpc>
                <a:spcPts val="2750"/>
              </a:lnSpc>
              <a:buFont typeface="Arial"/>
              <a:buChar char="•"/>
            </a:pPr>
            <a:r>
              <a:rPr lang="en-US" sz="1875">
                <a:solidFill>
                  <a:srgbClr val="FFFFFF"/>
                </a:solidFill>
                <a:latin typeface="Arial MT Pro"/>
                <a:ea typeface="Arial MT Pro"/>
                <a:cs typeface="Arial MT Pro"/>
                <a:sym typeface="Arial MT Pro"/>
              </a:rPr>
              <a:t>Predictive Analytics: Utilize sophisticated algorithms to forecast future energy consumption based on historical data and external factors.</a:t>
            </a:r>
          </a:p>
          <a:p>
            <a:pPr algn="l" marL="282773" indent="-141387" lvl="1">
              <a:lnSpc>
                <a:spcPts val="2750"/>
              </a:lnSpc>
              <a:buFont typeface="Arial"/>
              <a:buChar char="•"/>
            </a:pPr>
            <a:r>
              <a:rPr lang="en-US" sz="1875">
                <a:solidFill>
                  <a:srgbClr val="FFFFFF"/>
                </a:solidFill>
                <a:latin typeface="Arial MT Pro"/>
                <a:ea typeface="Arial MT Pro"/>
                <a:cs typeface="Arial MT Pro"/>
                <a:sym typeface="Arial MT Pro"/>
              </a:rPr>
              <a:t>Comprehensive Reporting: Generate detailed and customizable reports on energy usage, cost, and efficiency over specified periods.</a:t>
            </a:r>
          </a:p>
          <a:p>
            <a:pPr algn="l" marL="282773" indent="-141387" lvl="1">
              <a:lnSpc>
                <a:spcPts val="2750"/>
              </a:lnSpc>
              <a:buFont typeface="Arial"/>
              <a:buChar char="•"/>
            </a:pPr>
            <a:r>
              <a:rPr lang="en-US" sz="1875">
                <a:solidFill>
                  <a:srgbClr val="FFFFFF"/>
                </a:solidFill>
                <a:latin typeface="Arial MT Pro"/>
                <a:ea typeface="Arial MT Pro"/>
                <a:cs typeface="Arial MT Pro"/>
                <a:sym typeface="Arial MT Pro"/>
              </a:rPr>
              <a:t>Performance Benchmarking: Compare your energy performance against industry standards, internal targets, or past operational periods.</a:t>
            </a:r>
          </a:p>
        </p:txBody>
      </p:sp>
      <p:sp>
        <p:nvSpPr>
          <p:cNvPr name="TextBox 10" id="10"/>
          <p:cNvSpPr txBox="true"/>
          <p:nvPr/>
        </p:nvSpPr>
        <p:spPr>
          <a:xfrm rot="0">
            <a:off x="992238" y="7897320"/>
            <a:ext cx="7857830" cy="1050925"/>
          </a:xfrm>
          <a:prstGeom prst="rect">
            <a:avLst/>
          </a:prstGeom>
        </p:spPr>
        <p:txBody>
          <a:bodyPr anchor="t" rtlCol="false" tIns="0" lIns="0" bIns="0" rIns="0">
            <a:spAutoFit/>
          </a:bodyPr>
          <a:lstStyle/>
          <a:p>
            <a:pPr algn="l">
              <a:lnSpc>
                <a:spcPts val="2750"/>
              </a:lnSpc>
            </a:pPr>
            <a:r>
              <a:rPr lang="en-US" sz="1875">
                <a:solidFill>
                  <a:srgbClr val="FFFFFF"/>
                </a:solidFill>
                <a:latin typeface="Arial MT Pro"/>
                <a:ea typeface="Arial MT Pro"/>
                <a:cs typeface="Arial MT Pro"/>
                <a:sym typeface="Arial MT Pro"/>
              </a:rPr>
              <a:t>By leveraging these powerful analytical features, Module 4 enables proactive energy management, identifies opportunities for optimization, and supports significant operational improvements.</a:t>
            </a:r>
          </a:p>
        </p:txBody>
      </p:sp>
      <p:grpSp>
        <p:nvGrpSpPr>
          <p:cNvPr name="Group 11" id="11"/>
          <p:cNvGrpSpPr/>
          <p:nvPr/>
        </p:nvGrpSpPr>
        <p:grpSpPr>
          <a:xfrm rot="0">
            <a:off x="9447457" y="2126609"/>
            <a:ext cx="6679111" cy="4595222"/>
            <a:chOff x="0" y="0"/>
            <a:chExt cx="8905481" cy="6126963"/>
          </a:xfrm>
        </p:grpSpPr>
        <p:sp>
          <p:nvSpPr>
            <p:cNvPr name="Freeform 12" id="12" descr="preencoded.png"/>
            <p:cNvSpPr/>
            <p:nvPr/>
          </p:nvSpPr>
          <p:spPr>
            <a:xfrm flipH="false" flipV="false" rot="0">
              <a:off x="0" y="0"/>
              <a:ext cx="8905494" cy="6126988"/>
            </a:xfrm>
            <a:custGeom>
              <a:avLst/>
              <a:gdLst/>
              <a:ahLst/>
              <a:cxnLst/>
              <a:rect r="r" b="b" t="t" l="l"/>
              <a:pathLst>
                <a:path h="6126988" w="8905494">
                  <a:moveTo>
                    <a:pt x="0" y="0"/>
                  </a:moveTo>
                  <a:lnTo>
                    <a:pt x="8905494" y="0"/>
                  </a:lnTo>
                  <a:lnTo>
                    <a:pt x="8905494" y="6126988"/>
                  </a:lnTo>
                  <a:lnTo>
                    <a:pt x="0" y="6126988"/>
                  </a:lnTo>
                  <a:lnTo>
                    <a:pt x="0" y="0"/>
                  </a:lnTo>
                  <a:close/>
                </a:path>
              </a:pathLst>
            </a:custGeom>
            <a:blipFill>
              <a:blip r:embed="rId4"/>
              <a:stretch>
                <a:fillRect l="-29" t="0" r="-29" b="0"/>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41519">
                <a:alpha val="90196"/>
              </a:srgbClr>
            </a:solidFill>
          </p:spPr>
        </p:sp>
      </p:grpSp>
      <p:sp>
        <p:nvSpPr>
          <p:cNvPr name="TextBox 6" id="6"/>
          <p:cNvSpPr txBox="true"/>
          <p:nvPr/>
        </p:nvSpPr>
        <p:spPr>
          <a:xfrm rot="0">
            <a:off x="992238" y="1432770"/>
            <a:ext cx="8894168" cy="779462"/>
          </a:xfrm>
          <a:prstGeom prst="rect">
            <a:avLst/>
          </a:prstGeom>
        </p:spPr>
        <p:txBody>
          <a:bodyPr anchor="t" rtlCol="false" tIns="0" lIns="0" bIns="0" rIns="0">
            <a:spAutoFit/>
          </a:bodyPr>
          <a:lstStyle/>
          <a:p>
            <a:pPr algn="l">
              <a:lnSpc>
                <a:spcPts val="5562"/>
              </a:lnSpc>
            </a:pPr>
            <a:r>
              <a:rPr lang="en-US" b="true" sz="4437" spc="-186">
                <a:solidFill>
                  <a:srgbClr val="FFFFFF"/>
                </a:solidFill>
                <a:latin typeface="Arial MT Pro Bold"/>
                <a:ea typeface="Arial MT Pro Bold"/>
                <a:cs typeface="Arial MT Pro Bold"/>
                <a:sym typeface="Arial MT Pro Bold"/>
              </a:rPr>
              <a:t>Module 5: Scheduling &amp; Automation</a:t>
            </a:r>
          </a:p>
        </p:txBody>
      </p:sp>
      <p:sp>
        <p:nvSpPr>
          <p:cNvPr name="TextBox 7" id="7"/>
          <p:cNvSpPr txBox="true"/>
          <p:nvPr/>
        </p:nvSpPr>
        <p:spPr>
          <a:xfrm rot="0">
            <a:off x="992238" y="2595858"/>
            <a:ext cx="7875089" cy="1322388"/>
          </a:xfrm>
          <a:prstGeom prst="rect">
            <a:avLst/>
          </a:prstGeom>
        </p:spPr>
        <p:txBody>
          <a:bodyPr anchor="t" rtlCol="false" tIns="0" lIns="0" bIns="0" rIns="0">
            <a:spAutoFit/>
          </a:bodyPr>
          <a:lstStyle/>
          <a:p>
            <a:pPr algn="l">
              <a:lnSpc>
                <a:spcPts val="2562"/>
              </a:lnSpc>
            </a:pPr>
            <a:r>
              <a:rPr lang="en-US" sz="1749">
                <a:solidFill>
                  <a:srgbClr val="FFFFFF"/>
                </a:solidFill>
                <a:latin typeface="Arial MT Pro"/>
                <a:ea typeface="Arial MT Pro"/>
                <a:cs typeface="Arial MT Pro"/>
                <a:sym typeface="Arial MT Pro"/>
              </a:rPr>
              <a:t>This module focuses on optimizing energy operations through advanced scheduling and automation capabilities. It allows users to create automated tasks, set up intelligent rules, and schedule actions for various energy systems to maximize efficiency and reduce manual intervention.</a:t>
            </a:r>
          </a:p>
        </p:txBody>
      </p:sp>
      <p:sp>
        <p:nvSpPr>
          <p:cNvPr name="TextBox 8" id="8"/>
          <p:cNvSpPr txBox="true"/>
          <p:nvPr/>
        </p:nvSpPr>
        <p:spPr>
          <a:xfrm rot="0">
            <a:off x="992238" y="4065241"/>
            <a:ext cx="7875089" cy="350838"/>
          </a:xfrm>
          <a:prstGeom prst="rect">
            <a:avLst/>
          </a:prstGeom>
        </p:spPr>
        <p:txBody>
          <a:bodyPr anchor="t" rtlCol="false" tIns="0" lIns="0" bIns="0" rIns="0">
            <a:spAutoFit/>
          </a:bodyPr>
          <a:lstStyle/>
          <a:p>
            <a:pPr algn="l">
              <a:lnSpc>
                <a:spcPts val="2562"/>
              </a:lnSpc>
            </a:pPr>
            <a:r>
              <a:rPr lang="en-US" sz="1749">
                <a:solidFill>
                  <a:srgbClr val="FFFFFF"/>
                </a:solidFill>
                <a:latin typeface="Arial MT Pro"/>
                <a:ea typeface="Arial MT Pro"/>
                <a:cs typeface="Arial MT Pro"/>
                <a:sym typeface="Arial MT Pro"/>
              </a:rPr>
              <a:t>Key functionalities include:</a:t>
            </a:r>
          </a:p>
        </p:txBody>
      </p:sp>
      <p:sp>
        <p:nvSpPr>
          <p:cNvPr name="TextBox 9" id="9"/>
          <p:cNvSpPr txBox="true"/>
          <p:nvPr/>
        </p:nvSpPr>
        <p:spPr>
          <a:xfrm rot="0">
            <a:off x="992238" y="4555036"/>
            <a:ext cx="7875089" cy="2617788"/>
          </a:xfrm>
          <a:prstGeom prst="rect">
            <a:avLst/>
          </a:prstGeom>
        </p:spPr>
        <p:txBody>
          <a:bodyPr anchor="t" rtlCol="false" tIns="0" lIns="0" bIns="0" rIns="0">
            <a:spAutoFit/>
          </a:bodyPr>
          <a:lstStyle/>
          <a:p>
            <a:pPr algn="l" marL="263921" indent="-131961" lvl="1">
              <a:lnSpc>
                <a:spcPts val="2562"/>
              </a:lnSpc>
              <a:buFont typeface="Arial"/>
              <a:buChar char="•"/>
            </a:pPr>
            <a:r>
              <a:rPr lang="en-US" sz="1749">
                <a:solidFill>
                  <a:srgbClr val="FFFFFF"/>
                </a:solidFill>
                <a:latin typeface="Arial MT Pro"/>
                <a:ea typeface="Arial MT Pro"/>
                <a:cs typeface="Arial MT Pro"/>
                <a:sym typeface="Arial MT Pro"/>
              </a:rPr>
              <a:t>Automated Task Creation: Define and implement custom automation rules based on real-time data, schedules, or events.</a:t>
            </a:r>
          </a:p>
          <a:p>
            <a:pPr algn="l" marL="263921" indent="-131961" lvl="1">
              <a:lnSpc>
                <a:spcPts val="2562"/>
              </a:lnSpc>
              <a:buFont typeface="Arial"/>
              <a:buChar char="•"/>
            </a:pPr>
            <a:r>
              <a:rPr lang="en-US" sz="1749">
                <a:solidFill>
                  <a:srgbClr val="FFFFFF"/>
                </a:solidFill>
                <a:latin typeface="Arial MT Pro"/>
                <a:ea typeface="Arial MT Pro"/>
                <a:cs typeface="Arial MT Pro"/>
                <a:sym typeface="Arial MT Pro"/>
              </a:rPr>
              <a:t>Rule-Based Orchestration: Set up sophisticated "if-then" scenarios to trigger actions across integrated energy devices and systems.</a:t>
            </a:r>
          </a:p>
          <a:p>
            <a:pPr algn="l" marL="263921" indent="-131961" lvl="1">
              <a:lnSpc>
                <a:spcPts val="2562"/>
              </a:lnSpc>
              <a:buFont typeface="Arial"/>
              <a:buChar char="•"/>
            </a:pPr>
            <a:r>
              <a:rPr lang="en-US" sz="1749">
                <a:solidFill>
                  <a:srgbClr val="FFFFFF"/>
                </a:solidFill>
                <a:latin typeface="Arial MT Pro"/>
                <a:ea typeface="Arial MT Pro"/>
                <a:cs typeface="Arial MT Pro"/>
                <a:sym typeface="Arial MT Pro"/>
              </a:rPr>
              <a:t>Calendar-Based Scheduling: Plan and execute energy-related operations and routines according to predefined calendars and recurring events.</a:t>
            </a:r>
          </a:p>
          <a:p>
            <a:pPr algn="l" marL="263921" indent="-131961" lvl="1">
              <a:lnSpc>
                <a:spcPts val="2562"/>
              </a:lnSpc>
              <a:buFont typeface="Arial"/>
              <a:buChar char="•"/>
            </a:pPr>
            <a:r>
              <a:rPr lang="en-US" sz="1749">
                <a:solidFill>
                  <a:srgbClr val="FFFFFF"/>
                </a:solidFill>
                <a:latin typeface="Arial MT Pro"/>
                <a:ea typeface="Arial MT Pro"/>
                <a:cs typeface="Arial MT Pro"/>
                <a:sym typeface="Arial MT Pro"/>
              </a:rPr>
              <a:t>Notification and Alert System: Configure automated alerts for critical events, anomalies, or performance deviations to ensure prompt response.</a:t>
            </a:r>
          </a:p>
        </p:txBody>
      </p:sp>
      <p:sp>
        <p:nvSpPr>
          <p:cNvPr name="TextBox 10" id="10"/>
          <p:cNvSpPr txBox="true"/>
          <p:nvPr/>
        </p:nvSpPr>
        <p:spPr>
          <a:xfrm rot="0">
            <a:off x="992238" y="7331354"/>
            <a:ext cx="7875089" cy="998538"/>
          </a:xfrm>
          <a:prstGeom prst="rect">
            <a:avLst/>
          </a:prstGeom>
        </p:spPr>
        <p:txBody>
          <a:bodyPr anchor="t" rtlCol="false" tIns="0" lIns="0" bIns="0" rIns="0">
            <a:spAutoFit/>
          </a:bodyPr>
          <a:lstStyle/>
          <a:p>
            <a:pPr algn="l">
              <a:lnSpc>
                <a:spcPts val="2562"/>
              </a:lnSpc>
            </a:pPr>
            <a:r>
              <a:rPr lang="en-US" sz="1749">
                <a:solidFill>
                  <a:srgbClr val="FFFFFF"/>
                </a:solidFill>
                <a:latin typeface="Arial MT Pro"/>
                <a:ea typeface="Arial MT Pro"/>
                <a:cs typeface="Arial MT Pro"/>
                <a:sym typeface="Arial MT Pro"/>
              </a:rPr>
              <a:t>This module streamlines energy management workflows, enhances system responsiveness, and drives significant operational savings by minimizing human error and maximizing system uptime.</a:t>
            </a:r>
          </a:p>
        </p:txBody>
      </p:sp>
      <p:grpSp>
        <p:nvGrpSpPr>
          <p:cNvPr name="Group 11" id="11"/>
          <p:cNvGrpSpPr/>
          <p:nvPr/>
        </p:nvGrpSpPr>
        <p:grpSpPr>
          <a:xfrm rot="0">
            <a:off x="9430198" y="2722359"/>
            <a:ext cx="6300045" cy="1660027"/>
            <a:chOff x="0" y="0"/>
            <a:chExt cx="8400059" cy="2213369"/>
          </a:xfrm>
        </p:grpSpPr>
        <p:sp>
          <p:nvSpPr>
            <p:cNvPr name="Freeform 12" id="12" descr="preencoded.png"/>
            <p:cNvSpPr/>
            <p:nvPr/>
          </p:nvSpPr>
          <p:spPr>
            <a:xfrm flipH="false" flipV="false" rot="0">
              <a:off x="0" y="0"/>
              <a:ext cx="8400034" cy="2213356"/>
            </a:xfrm>
            <a:custGeom>
              <a:avLst/>
              <a:gdLst/>
              <a:ahLst/>
              <a:cxnLst/>
              <a:rect r="r" b="b" t="t" l="l"/>
              <a:pathLst>
                <a:path h="2213356" w="8400034">
                  <a:moveTo>
                    <a:pt x="0" y="0"/>
                  </a:moveTo>
                  <a:lnTo>
                    <a:pt x="8400034" y="0"/>
                  </a:lnTo>
                  <a:lnTo>
                    <a:pt x="8400034" y="2213356"/>
                  </a:lnTo>
                  <a:lnTo>
                    <a:pt x="0" y="2213356"/>
                  </a:lnTo>
                  <a:lnTo>
                    <a:pt x="0" y="0"/>
                  </a:lnTo>
                  <a:close/>
                </a:path>
              </a:pathLst>
            </a:custGeom>
            <a:blipFill>
              <a:blip r:embed="rId4"/>
              <a:stretch>
                <a:fillRect l="-48" t="0" r="-49" b="0"/>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41519">
                <a:alpha val="90196"/>
              </a:srgbClr>
            </a:solidFill>
          </p:spPr>
        </p:sp>
      </p:grpSp>
      <p:sp>
        <p:nvSpPr>
          <p:cNvPr name="TextBox 6" id="6"/>
          <p:cNvSpPr txBox="true"/>
          <p:nvPr/>
        </p:nvSpPr>
        <p:spPr>
          <a:xfrm rot="0">
            <a:off x="992238" y="681485"/>
            <a:ext cx="10076259" cy="882650"/>
          </a:xfrm>
          <a:prstGeom prst="rect">
            <a:avLst/>
          </a:prstGeom>
        </p:spPr>
        <p:txBody>
          <a:bodyPr anchor="t" rtlCol="false" tIns="0" lIns="0" bIns="0" rIns="0">
            <a:spAutoFit/>
          </a:bodyPr>
          <a:lstStyle/>
          <a:p>
            <a:pPr algn="l">
              <a:lnSpc>
                <a:spcPts val="6250"/>
              </a:lnSpc>
            </a:pPr>
            <a:r>
              <a:rPr lang="en-US" b="true" sz="5000" spc="-210">
                <a:solidFill>
                  <a:srgbClr val="FFFFFF"/>
                </a:solidFill>
                <a:latin typeface="Arial MT Pro Bold"/>
                <a:ea typeface="Arial MT Pro Bold"/>
                <a:cs typeface="Arial MT Pro Bold"/>
                <a:sym typeface="Arial MT Pro Bold"/>
              </a:rPr>
              <a:t>Module 6: Recommendation System</a:t>
            </a:r>
          </a:p>
        </p:txBody>
      </p:sp>
      <p:sp>
        <p:nvSpPr>
          <p:cNvPr name="TextBox 7" id="7"/>
          <p:cNvSpPr txBox="true"/>
          <p:nvPr/>
        </p:nvSpPr>
        <p:spPr>
          <a:xfrm rot="0">
            <a:off x="992238" y="2048913"/>
            <a:ext cx="7840561" cy="1933575"/>
          </a:xfrm>
          <a:prstGeom prst="rect">
            <a:avLst/>
          </a:prstGeom>
        </p:spPr>
        <p:txBody>
          <a:bodyPr anchor="t" rtlCol="false" tIns="0" lIns="0" bIns="0" rIns="0">
            <a:spAutoFit/>
          </a:bodyPr>
          <a:lstStyle/>
          <a:p>
            <a:pPr algn="l">
              <a:lnSpc>
                <a:spcPts val="3000"/>
              </a:lnSpc>
            </a:pPr>
            <a:r>
              <a:rPr lang="en-US" sz="2000">
                <a:solidFill>
                  <a:srgbClr val="FFFFFF"/>
                </a:solidFill>
                <a:latin typeface="Arial MT Pro"/>
                <a:ea typeface="Arial MT Pro"/>
                <a:cs typeface="Arial MT Pro"/>
                <a:sym typeface="Arial MT Pro"/>
              </a:rPr>
              <a:t>This module introduces an intelligent Recommendation System designed to provide actionable insights for optimizing energy consumption and operational efficiency. By leveraging advanced analytics and machine learning, it helps users make informed decisions to reduce costs and improve sustainability.</a:t>
            </a:r>
          </a:p>
        </p:txBody>
      </p:sp>
      <p:sp>
        <p:nvSpPr>
          <p:cNvPr name="TextBox 8" id="8"/>
          <p:cNvSpPr txBox="true"/>
          <p:nvPr/>
        </p:nvSpPr>
        <p:spPr>
          <a:xfrm rot="0">
            <a:off x="992238" y="4194724"/>
            <a:ext cx="7840561" cy="409575"/>
          </a:xfrm>
          <a:prstGeom prst="rect">
            <a:avLst/>
          </a:prstGeom>
        </p:spPr>
        <p:txBody>
          <a:bodyPr anchor="t" rtlCol="false" tIns="0" lIns="0" bIns="0" rIns="0">
            <a:spAutoFit/>
          </a:bodyPr>
          <a:lstStyle/>
          <a:p>
            <a:pPr algn="l">
              <a:lnSpc>
                <a:spcPts val="3000"/>
              </a:lnSpc>
            </a:pPr>
            <a:r>
              <a:rPr lang="en-US" sz="2000">
                <a:solidFill>
                  <a:srgbClr val="FFFFFF"/>
                </a:solidFill>
                <a:latin typeface="Arial MT Pro"/>
                <a:ea typeface="Arial MT Pro"/>
                <a:cs typeface="Arial MT Pro"/>
                <a:sym typeface="Arial MT Pro"/>
              </a:rPr>
              <a:t>Key functionalities include:</a:t>
            </a:r>
          </a:p>
        </p:txBody>
      </p:sp>
      <p:sp>
        <p:nvSpPr>
          <p:cNvPr name="TextBox 9" id="9"/>
          <p:cNvSpPr txBox="true"/>
          <p:nvPr/>
        </p:nvSpPr>
        <p:spPr>
          <a:xfrm rot="0">
            <a:off x="992238" y="4789141"/>
            <a:ext cx="7840561" cy="4219575"/>
          </a:xfrm>
          <a:prstGeom prst="rect">
            <a:avLst/>
          </a:prstGeom>
        </p:spPr>
        <p:txBody>
          <a:bodyPr anchor="t" rtlCol="false" tIns="0" lIns="0" bIns="0" rIns="0">
            <a:spAutoFit/>
          </a:bodyPr>
          <a:lstStyle/>
          <a:p>
            <a:pPr algn="l" marL="301625" indent="-150813" lvl="1">
              <a:lnSpc>
                <a:spcPts val="3000"/>
              </a:lnSpc>
              <a:buFont typeface="Arial"/>
              <a:buChar char="•"/>
            </a:pPr>
            <a:r>
              <a:rPr lang="en-US" sz="2000">
                <a:solidFill>
                  <a:srgbClr val="FFFFFF"/>
                </a:solidFill>
                <a:latin typeface="Arial MT Pro"/>
                <a:ea typeface="Arial MT Pro"/>
                <a:cs typeface="Arial MT Pro"/>
                <a:sym typeface="Arial MT Pro"/>
              </a:rPr>
              <a:t>Data-Driven Insights: Analyze historical and real-time energy data to identify patterns and predict future usage.</a:t>
            </a:r>
          </a:p>
          <a:p>
            <a:pPr algn="l" marL="301625" indent="-150813" lvl="1">
              <a:lnSpc>
                <a:spcPts val="3000"/>
              </a:lnSpc>
              <a:buFont typeface="Arial"/>
              <a:buChar char="•"/>
            </a:pPr>
            <a:r>
              <a:rPr lang="en-US" sz="2000">
                <a:solidFill>
                  <a:srgbClr val="FFFFFF"/>
                </a:solidFill>
                <a:latin typeface="Arial MT Pro"/>
                <a:ea typeface="Arial MT Pro"/>
                <a:cs typeface="Arial MT Pro"/>
                <a:sym typeface="Arial MT Pro"/>
              </a:rPr>
              <a:t>Optimization Suggestions: Offer tailored recommendations for adjusting schedules, device settings, and operational workflows to maximize energy savings.</a:t>
            </a:r>
          </a:p>
          <a:p>
            <a:pPr algn="l" marL="301625" indent="-150813" lvl="1">
              <a:lnSpc>
                <a:spcPts val="3000"/>
              </a:lnSpc>
              <a:buFont typeface="Arial"/>
              <a:buChar char="•"/>
            </a:pPr>
            <a:r>
              <a:rPr lang="en-US" sz="2000">
                <a:solidFill>
                  <a:srgbClr val="FFFFFF"/>
                </a:solidFill>
                <a:latin typeface="Arial MT Pro"/>
                <a:ea typeface="Arial MT Pro"/>
                <a:cs typeface="Arial MT Pro"/>
                <a:sym typeface="Arial MT Pro"/>
              </a:rPr>
              <a:t>Predictive Maintenance: Alert users to potential equipment malfunctions before they occur, suggesting timely maintenance to prevent downtime.</a:t>
            </a:r>
          </a:p>
          <a:p>
            <a:pPr algn="l" marL="301625" indent="-150813" lvl="1">
              <a:lnSpc>
                <a:spcPts val="3000"/>
              </a:lnSpc>
              <a:buFont typeface="Arial"/>
              <a:buChar char="•"/>
            </a:pPr>
            <a:r>
              <a:rPr lang="en-US" sz="2000">
                <a:solidFill>
                  <a:srgbClr val="FFFFFF"/>
                </a:solidFill>
                <a:latin typeface="Arial MT Pro"/>
                <a:ea typeface="Arial MT Pro"/>
                <a:cs typeface="Arial MT Pro"/>
                <a:sym typeface="Arial MT Pro"/>
              </a:rPr>
              <a:t>Performance Benchmarking: Compare current energy performance against industry best practices and similar facilities to highlight areas for improvement.</a:t>
            </a:r>
          </a:p>
        </p:txBody>
      </p:sp>
      <p:grpSp>
        <p:nvGrpSpPr>
          <p:cNvPr name="Group 10" id="10"/>
          <p:cNvGrpSpPr/>
          <p:nvPr/>
        </p:nvGrpSpPr>
        <p:grpSpPr>
          <a:xfrm rot="0">
            <a:off x="9464726" y="2205485"/>
            <a:ext cx="7056387" cy="6611988"/>
            <a:chOff x="0" y="0"/>
            <a:chExt cx="9408516" cy="8815984"/>
          </a:xfrm>
        </p:grpSpPr>
        <p:sp>
          <p:nvSpPr>
            <p:cNvPr name="Freeform 11" id="11" descr="preencoded.png"/>
            <p:cNvSpPr/>
            <p:nvPr/>
          </p:nvSpPr>
          <p:spPr>
            <a:xfrm flipH="false" flipV="false" rot="0">
              <a:off x="0" y="0"/>
              <a:ext cx="9408541" cy="8815959"/>
            </a:xfrm>
            <a:custGeom>
              <a:avLst/>
              <a:gdLst/>
              <a:ahLst/>
              <a:cxnLst/>
              <a:rect r="r" b="b" t="t" l="l"/>
              <a:pathLst>
                <a:path h="8815959" w="9408541">
                  <a:moveTo>
                    <a:pt x="0" y="0"/>
                  </a:moveTo>
                  <a:lnTo>
                    <a:pt x="9408541" y="0"/>
                  </a:lnTo>
                  <a:lnTo>
                    <a:pt x="9408541" y="8815959"/>
                  </a:lnTo>
                  <a:lnTo>
                    <a:pt x="0" y="8815959"/>
                  </a:lnTo>
                  <a:lnTo>
                    <a:pt x="0" y="0"/>
                  </a:lnTo>
                  <a:close/>
                </a:path>
              </a:pathLst>
            </a:custGeom>
            <a:blipFill>
              <a:blip r:embed="rId4"/>
              <a:stretch>
                <a:fillRect l="-24" t="0" r="-23" b="0"/>
              </a:stretch>
            </a:blip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41519">
                <a:alpha val="90196"/>
              </a:srgbClr>
            </a:solidFill>
          </p:spPr>
        </p:sp>
      </p:grpSp>
      <p:sp>
        <p:nvSpPr>
          <p:cNvPr name="TextBox 6" id="6"/>
          <p:cNvSpPr txBox="true"/>
          <p:nvPr/>
        </p:nvSpPr>
        <p:spPr>
          <a:xfrm rot="0">
            <a:off x="5599805" y="3751955"/>
            <a:ext cx="7088238" cy="976312"/>
          </a:xfrm>
          <a:prstGeom prst="rect">
            <a:avLst/>
          </a:prstGeom>
        </p:spPr>
        <p:txBody>
          <a:bodyPr anchor="t" rtlCol="false" tIns="0" lIns="0" bIns="0" rIns="0">
            <a:spAutoFit/>
          </a:bodyPr>
          <a:lstStyle/>
          <a:p>
            <a:pPr algn="ctr">
              <a:lnSpc>
                <a:spcPts val="6937"/>
              </a:lnSpc>
            </a:pPr>
            <a:r>
              <a:rPr lang="en-US" b="true" sz="5562" spc="-89">
                <a:solidFill>
                  <a:srgbClr val="FFFFFF"/>
                </a:solidFill>
                <a:latin typeface="Arial MT Pro Bold"/>
                <a:ea typeface="Arial MT Pro Bold"/>
                <a:cs typeface="Arial MT Pro Bold"/>
                <a:sym typeface="Arial MT Pro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DAHAobHAtlw</dc:identifier>
  <dcterms:modified xsi:type="dcterms:W3CDTF">2011-08-01T06:04:30Z</dcterms:modified>
  <cp:revision>1</cp:revision>
  <dc:title>MILESTONE-2-2pptx.pptx</dc:title>
</cp:coreProperties>
</file>