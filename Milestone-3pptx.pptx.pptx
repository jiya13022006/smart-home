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unito Bold" charset="1" panose="00000000000000000000"/>
      <p:regular r:id="rId17"/>
    </p:embeddedFont>
    <p:embeddedFont>
      <p:font typeface="Nunito Bold Italics" charset="1" panose="00000000000000000000"/>
      <p:regular r:id="rId18"/>
    </p:embeddedFont>
    <p:embeddedFont>
      <p:font typeface="PT Sans" charset="1" panose="020B0503020203020204"/>
      <p:regular r:id="rId20"/>
    </p:embeddedFont>
    <p:embeddedFont>
      <p:font typeface="PT Sans Bold" charset="1" panose="020B07030202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231697"/>
            <a:ext cx="9157697" cy="63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SMART HOME ENERGY MANAGEMENT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62072" y="2159794"/>
            <a:ext cx="6163866" cy="6163866"/>
            <a:chOff x="0" y="0"/>
            <a:chExt cx="8218488" cy="82184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218551" cy="8218551"/>
            </a:xfrm>
            <a:custGeom>
              <a:avLst/>
              <a:gdLst/>
              <a:ahLst/>
              <a:cxnLst/>
              <a:rect r="r" b="b" t="t" l="l"/>
              <a:pathLst>
                <a:path h="8218551" w="8218551">
                  <a:moveTo>
                    <a:pt x="0" y="0"/>
                  </a:moveTo>
                  <a:lnTo>
                    <a:pt x="8218551" y="0"/>
                  </a:lnTo>
                  <a:lnTo>
                    <a:pt x="8218551" y="8218551"/>
                  </a:lnTo>
                  <a:lnTo>
                    <a:pt x="0" y="8218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47159" y="8514902"/>
            <a:ext cx="15875051" cy="52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b="true" sz="3062" i="true">
                <a:solidFill>
                  <a:srgbClr val="FFFFFF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                                                                                                                                           Jiya Jain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687411"/>
            <a:chOff x="0" y="0"/>
            <a:chExt cx="24384000" cy="224988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2249932"/>
            </a:xfrm>
            <a:custGeom>
              <a:avLst/>
              <a:gdLst/>
              <a:ahLst/>
              <a:cxnLst/>
              <a:rect r="r" b="b" t="t" l="l"/>
              <a:pathLst>
                <a:path h="224993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49932"/>
                  </a:lnTo>
                  <a:lnTo>
                    <a:pt x="0" y="2249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" t="0" r="-44" b="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872" y="2578151"/>
            <a:ext cx="3176292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872" y="3008862"/>
            <a:ext cx="2541089" cy="32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b="true" sz="2000" i="true">
                <a:solidFill>
                  <a:srgbClr val="FFFFFF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what is SHEMS?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6872" y="3436591"/>
            <a:ext cx="16834247" cy="30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The Smart Home Energy Management System (SHEMS) is a Java-powered web platform designed to monitor, analyze, and manage energy usage within a household. It continuously observes electricity consumption, estimates upcoming usage patterns, and provides guidance to lower overall power costs, all accessible through an interactive dashboard.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7347" y="3799132"/>
            <a:ext cx="16853297" cy="896388"/>
            <a:chOff x="0" y="0"/>
            <a:chExt cx="22471062" cy="11951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F2B4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5922" y="3827707"/>
            <a:ext cx="539953" cy="839238"/>
            <a:chOff x="0" y="0"/>
            <a:chExt cx="719938" cy="1118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909933" y="4146052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6"/>
                </a:lnTo>
                <a:lnTo>
                  <a:pt x="0" y="20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637" r="0" b="-136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46749" y="3953170"/>
            <a:ext cx="2585590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Authentication &amp; Role 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6749" y="4207078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Secure user access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Manage user roles and permissions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7347" y="4716380"/>
            <a:ext cx="16853297" cy="896388"/>
            <a:chOff x="0" y="0"/>
            <a:chExt cx="22471062" cy="1195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D7425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5922" y="4744955"/>
            <a:ext cx="539953" cy="839238"/>
            <a:chOff x="0" y="0"/>
            <a:chExt cx="719938" cy="1118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909933" y="5063300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6"/>
                </a:lnTo>
                <a:lnTo>
                  <a:pt x="0" y="202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46749" y="4870418"/>
            <a:ext cx="1958130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Smart Device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6749" y="5124317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Integrate and control smart devices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Manage device settings and configurations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17347" y="5633618"/>
            <a:ext cx="16853297" cy="896388"/>
            <a:chOff x="0" y="0"/>
            <a:chExt cx="22471062" cy="1195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DD785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45922" y="5662193"/>
            <a:ext cx="539953" cy="839238"/>
            <a:chOff x="0" y="0"/>
            <a:chExt cx="719938" cy="1118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09933" y="5980538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6"/>
                </a:lnTo>
                <a:lnTo>
                  <a:pt x="0" y="202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46749" y="5787657"/>
            <a:ext cx="1927622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Real Time Energy Tracking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6749" y="6041555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Monitor live electricity consumption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Track and log usage patterns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17347" y="6550857"/>
            <a:ext cx="16853297" cy="896388"/>
            <a:chOff x="0" y="0"/>
            <a:chExt cx="22471062" cy="1195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48A8E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45922" y="6579432"/>
            <a:ext cx="539953" cy="839238"/>
            <a:chOff x="0" y="0"/>
            <a:chExt cx="719938" cy="1118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09933" y="6897776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7"/>
                </a:lnTo>
                <a:lnTo>
                  <a:pt x="0" y="2024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545" t="0" r="-4545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46749" y="6704895"/>
            <a:ext cx="1588141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Analytics Dashboard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6749" y="6958794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Visualize energy data with charts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Identify peak consumption periods and cost projections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17347" y="7468095"/>
            <a:ext cx="16853297" cy="896388"/>
            <a:chOff x="0" y="0"/>
            <a:chExt cx="22471062" cy="11951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59ABA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5922" y="7496670"/>
            <a:ext cx="539953" cy="839238"/>
            <a:chOff x="0" y="0"/>
            <a:chExt cx="719938" cy="11189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48" id="48" descr="preencoded.png"/>
          <p:cNvSpPr/>
          <p:nvPr/>
        </p:nvSpPr>
        <p:spPr>
          <a:xfrm flipH="false" flipV="false" rot="0">
            <a:off x="909933" y="7815015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6"/>
                </a:lnTo>
                <a:lnTo>
                  <a:pt x="0" y="202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272" r="0" b="-2272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346749" y="7622134"/>
            <a:ext cx="1857527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Scheduling &amp; Automation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6749" y="7876032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Automate device actions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Set energy-saving schedules and notifications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17347" y="8385343"/>
            <a:ext cx="16853297" cy="896388"/>
            <a:chOff x="0" y="0"/>
            <a:chExt cx="22471062" cy="1195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22445726" cy="1169797"/>
            </a:xfrm>
            <a:custGeom>
              <a:avLst/>
              <a:gdLst/>
              <a:ahLst/>
              <a:cxnLst/>
              <a:rect r="r" b="b" t="t" l="l"/>
              <a:pathLst>
                <a:path h="1169797" w="22445726">
                  <a:moveTo>
                    <a:pt x="0" y="270002"/>
                  </a:moveTo>
                  <a:cubicBezTo>
                    <a:pt x="0" y="120904"/>
                    <a:pt x="123317" y="0"/>
                    <a:pt x="275590" y="0"/>
                  </a:cubicBezTo>
                  <a:lnTo>
                    <a:pt x="22170137" y="0"/>
                  </a:lnTo>
                  <a:cubicBezTo>
                    <a:pt x="22322282" y="0"/>
                    <a:pt x="22445726" y="120904"/>
                    <a:pt x="22445726" y="270002"/>
                  </a:cubicBezTo>
                  <a:lnTo>
                    <a:pt x="22445726" y="899795"/>
                  </a:lnTo>
                  <a:cubicBezTo>
                    <a:pt x="22445726" y="1048893"/>
                    <a:pt x="22322410" y="1169797"/>
                    <a:pt x="22170137" y="1169797"/>
                  </a:cubicBezTo>
                  <a:lnTo>
                    <a:pt x="275590" y="1169797"/>
                  </a:lnTo>
                  <a:cubicBezTo>
                    <a:pt x="123317" y="1169797"/>
                    <a:pt x="0" y="1048893"/>
                    <a:pt x="0" y="89979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71126" cy="1195197"/>
            </a:xfrm>
            <a:custGeom>
              <a:avLst/>
              <a:gdLst/>
              <a:ahLst/>
              <a:cxnLst/>
              <a:rect r="r" b="b" t="t" l="l"/>
              <a:pathLst>
                <a:path h="1195197" w="22471126">
                  <a:moveTo>
                    <a:pt x="0" y="282702"/>
                  </a:moveTo>
                  <a:cubicBezTo>
                    <a:pt x="0" y="126365"/>
                    <a:pt x="129286" y="0"/>
                    <a:pt x="288290" y="0"/>
                  </a:cubicBezTo>
                  <a:lnTo>
                    <a:pt x="22182837" y="0"/>
                  </a:lnTo>
                  <a:lnTo>
                    <a:pt x="22182837" y="12700"/>
                  </a:lnTo>
                  <a:lnTo>
                    <a:pt x="22182837" y="0"/>
                  </a:lnTo>
                  <a:cubicBezTo>
                    <a:pt x="22341841" y="0"/>
                    <a:pt x="22471126" y="126365"/>
                    <a:pt x="22471126" y="282702"/>
                  </a:cubicBezTo>
                  <a:lnTo>
                    <a:pt x="22458426" y="282702"/>
                  </a:lnTo>
                  <a:lnTo>
                    <a:pt x="22471126" y="282702"/>
                  </a:lnTo>
                  <a:lnTo>
                    <a:pt x="22471126" y="912495"/>
                  </a:lnTo>
                  <a:lnTo>
                    <a:pt x="22458426" y="912495"/>
                  </a:lnTo>
                  <a:lnTo>
                    <a:pt x="22471126" y="912495"/>
                  </a:lnTo>
                  <a:cubicBezTo>
                    <a:pt x="22471126" y="1068832"/>
                    <a:pt x="22341841" y="1195197"/>
                    <a:pt x="22182837" y="1195197"/>
                  </a:cubicBezTo>
                  <a:lnTo>
                    <a:pt x="22182837" y="1182497"/>
                  </a:lnTo>
                  <a:lnTo>
                    <a:pt x="22182837" y="1195197"/>
                  </a:lnTo>
                  <a:lnTo>
                    <a:pt x="288290" y="1195197"/>
                  </a:lnTo>
                  <a:lnTo>
                    <a:pt x="288290" y="1182497"/>
                  </a:lnTo>
                  <a:lnTo>
                    <a:pt x="288290" y="1195197"/>
                  </a:lnTo>
                  <a:cubicBezTo>
                    <a:pt x="129286" y="1195197"/>
                    <a:pt x="0" y="1068832"/>
                    <a:pt x="0" y="912495"/>
                  </a:cubicBezTo>
                  <a:lnTo>
                    <a:pt x="0" y="282702"/>
                  </a:lnTo>
                  <a:lnTo>
                    <a:pt x="12700" y="282702"/>
                  </a:lnTo>
                  <a:lnTo>
                    <a:pt x="0" y="282702"/>
                  </a:lnTo>
                  <a:moveTo>
                    <a:pt x="25400" y="282702"/>
                  </a:moveTo>
                  <a:lnTo>
                    <a:pt x="25400" y="912495"/>
                  </a:lnTo>
                  <a:lnTo>
                    <a:pt x="12700" y="912495"/>
                  </a:lnTo>
                  <a:lnTo>
                    <a:pt x="25400" y="912495"/>
                  </a:lnTo>
                  <a:cubicBezTo>
                    <a:pt x="25400" y="1054354"/>
                    <a:pt x="142875" y="1169797"/>
                    <a:pt x="288290" y="1169797"/>
                  </a:cubicBezTo>
                  <a:lnTo>
                    <a:pt x="22182837" y="1169797"/>
                  </a:lnTo>
                  <a:cubicBezTo>
                    <a:pt x="22328251" y="1169797"/>
                    <a:pt x="22445726" y="1054354"/>
                    <a:pt x="22445726" y="912495"/>
                  </a:cubicBezTo>
                  <a:lnTo>
                    <a:pt x="22445726" y="282702"/>
                  </a:lnTo>
                  <a:cubicBezTo>
                    <a:pt x="22445726" y="140843"/>
                    <a:pt x="22328251" y="25400"/>
                    <a:pt x="22182837" y="25400"/>
                  </a:cubicBezTo>
                  <a:lnTo>
                    <a:pt x="288290" y="25400"/>
                  </a:lnTo>
                  <a:lnTo>
                    <a:pt x="288290" y="12700"/>
                  </a:lnTo>
                  <a:lnTo>
                    <a:pt x="288290" y="25400"/>
                  </a:lnTo>
                  <a:cubicBezTo>
                    <a:pt x="142875" y="25400"/>
                    <a:pt x="25400" y="140843"/>
                    <a:pt x="25400" y="282702"/>
                  </a:cubicBezTo>
                  <a:close/>
                </a:path>
              </a:pathLst>
            </a:custGeom>
            <a:solidFill>
              <a:srgbClr val="F2B42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45922" y="8413918"/>
            <a:ext cx="539953" cy="839238"/>
            <a:chOff x="0" y="0"/>
            <a:chExt cx="719938" cy="11189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9963" cy="1118997"/>
            </a:xfrm>
            <a:custGeom>
              <a:avLst/>
              <a:gdLst/>
              <a:ahLst/>
              <a:cxnLst/>
              <a:rect r="r" b="b" t="t" l="l"/>
              <a:pathLst>
                <a:path h="1118997" w="719963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480441" y="0"/>
                  </a:lnTo>
                  <a:cubicBezTo>
                    <a:pt x="612648" y="0"/>
                    <a:pt x="719963" y="107188"/>
                    <a:pt x="719963" y="239522"/>
                  </a:cubicBezTo>
                  <a:lnTo>
                    <a:pt x="719963" y="879475"/>
                  </a:lnTo>
                  <a:cubicBezTo>
                    <a:pt x="719963" y="1011809"/>
                    <a:pt x="612775" y="1118997"/>
                    <a:pt x="480441" y="1118997"/>
                  </a:cubicBezTo>
                  <a:lnTo>
                    <a:pt x="239522" y="1118997"/>
                  </a:lnTo>
                  <a:cubicBezTo>
                    <a:pt x="107188" y="1118997"/>
                    <a:pt x="0" y="1011809"/>
                    <a:pt x="0" y="879475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Freeform 56" id="56" descr="preencoded.png"/>
          <p:cNvSpPr/>
          <p:nvPr/>
        </p:nvSpPr>
        <p:spPr>
          <a:xfrm flipH="false" flipV="false" rot="0">
            <a:off x="909933" y="8732253"/>
            <a:ext cx="202406" cy="202406"/>
          </a:xfrm>
          <a:custGeom>
            <a:avLst/>
            <a:gdLst/>
            <a:ahLst/>
            <a:cxnLst/>
            <a:rect r="r" b="b" t="t" l="l"/>
            <a:pathLst>
              <a:path h="202406" w="202406">
                <a:moveTo>
                  <a:pt x="0" y="0"/>
                </a:moveTo>
                <a:lnTo>
                  <a:pt x="202406" y="0"/>
                </a:lnTo>
                <a:lnTo>
                  <a:pt x="202406" y="202407"/>
                </a:lnTo>
                <a:lnTo>
                  <a:pt x="0" y="202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8183" r="0" b="-18178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346749" y="8539372"/>
            <a:ext cx="1838173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4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Recommendation System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6749" y="8793280"/>
            <a:ext cx="16060341" cy="30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Provide personalized energy-saving tips</a:t>
            </a:r>
          </a:p>
          <a:p>
            <a:pPr algn="l" marL="160238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Suggest cost reduction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9" y="919610"/>
            <a:ext cx="6688484" cy="85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 quick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1863481"/>
            <a:ext cx="9335691" cy="135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1: Authentication &amp; Role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3548653"/>
            <a:ext cx="9335691" cy="140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Handles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secure user login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and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registration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Validates user credentials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and enforces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role-based access control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Ensures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only authorized users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can access system features.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59" y="5341134"/>
            <a:ext cx="9335691" cy="135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2: Smart Device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59" y="7026307"/>
            <a:ext cx="9335691" cy="185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Manages all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smart home devices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Accepts and processes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device control requests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Maintains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real-time device status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(ON / OFF).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Integrates with Module 1 for </a:t>
            </a:r>
            <a:r>
              <a:rPr lang="en-US" b="true" sz="2187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secure device access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1861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3580" y="223925"/>
            <a:ext cx="8326140" cy="44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3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1: Authentication &amp; Role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3580" y="1158048"/>
            <a:ext cx="8501805" cy="168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647" indent="-199824" lvl="1">
              <a:lnSpc>
                <a:spcPts val="264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Handles </a:t>
            </a:r>
            <a:r>
              <a:rPr lang="en-US" b="true" sz="264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secure user login</a:t>
            </a: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and </a:t>
            </a:r>
            <a:r>
              <a:rPr lang="en-US" b="true" sz="264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registration</a:t>
            </a: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99647" indent="-199824" lvl="1">
              <a:lnSpc>
                <a:spcPts val="264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Validates user credentials</a:t>
            </a: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and enforces </a:t>
            </a:r>
            <a:r>
              <a:rPr lang="en-US" b="true" sz="264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role-based access control</a:t>
            </a: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399647" indent="-199824" lvl="1">
              <a:lnSpc>
                <a:spcPts val="264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Ensures </a:t>
            </a:r>
            <a:r>
              <a:rPr lang="en-US" b="true" sz="264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only authorized users</a:t>
            </a:r>
            <a:r>
              <a:rPr lang="en-US" sz="264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can access system features.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3580" y="3507769"/>
            <a:ext cx="2607469" cy="2300878"/>
            <a:chOff x="0" y="0"/>
            <a:chExt cx="3476625" cy="30678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476625" cy="3067812"/>
            </a:xfrm>
            <a:custGeom>
              <a:avLst/>
              <a:gdLst/>
              <a:ahLst/>
              <a:cxnLst/>
              <a:rect r="r" b="b" t="t" l="l"/>
              <a:pathLst>
                <a:path h="3067812" w="3476625">
                  <a:moveTo>
                    <a:pt x="0" y="0"/>
                  </a:moveTo>
                  <a:lnTo>
                    <a:pt x="3476625" y="0"/>
                  </a:lnTo>
                  <a:lnTo>
                    <a:pt x="3476625" y="3067812"/>
                  </a:lnTo>
                  <a:lnTo>
                    <a:pt x="0" y="3067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" r="0" b="-4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34457" y="6525673"/>
            <a:ext cx="2340026" cy="2317699"/>
            <a:chOff x="0" y="0"/>
            <a:chExt cx="3120034" cy="309026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120009" cy="3090291"/>
            </a:xfrm>
            <a:custGeom>
              <a:avLst/>
              <a:gdLst/>
              <a:ahLst/>
              <a:cxnLst/>
              <a:rect r="r" b="b" t="t" l="l"/>
              <a:pathLst>
                <a:path h="3090291" w="3120009">
                  <a:moveTo>
                    <a:pt x="0" y="0"/>
                  </a:moveTo>
                  <a:lnTo>
                    <a:pt x="3120009" y="0"/>
                  </a:lnTo>
                  <a:lnTo>
                    <a:pt x="3120009" y="3090291"/>
                  </a:lnTo>
                  <a:lnTo>
                    <a:pt x="0" y="3090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" t="0" r="-13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56316" y="3517589"/>
            <a:ext cx="2643930" cy="2291058"/>
            <a:chOff x="0" y="0"/>
            <a:chExt cx="3525241" cy="305474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3525266" cy="3054731"/>
            </a:xfrm>
            <a:custGeom>
              <a:avLst/>
              <a:gdLst/>
              <a:ahLst/>
              <a:cxnLst/>
              <a:rect r="r" b="b" t="t" l="l"/>
              <a:pathLst>
                <a:path h="3054731" w="3525266">
                  <a:moveTo>
                    <a:pt x="0" y="0"/>
                  </a:moveTo>
                  <a:lnTo>
                    <a:pt x="3525266" y="0"/>
                  </a:lnTo>
                  <a:lnTo>
                    <a:pt x="3525266" y="3054731"/>
                  </a:lnTo>
                  <a:lnTo>
                    <a:pt x="0" y="3054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" r="0" b="-2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121932" y="230478"/>
            <a:ext cx="6809482" cy="44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3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2: Smart Device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75074" y="1167573"/>
            <a:ext cx="18679401" cy="142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97" indent="-210549" lvl="1">
              <a:lnSpc>
                <a:spcPts val="2792"/>
              </a:lnSpc>
              <a:buFont typeface="Arial"/>
              <a:buChar char="•"/>
            </a:pP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Manages all </a:t>
            </a:r>
            <a:r>
              <a:rPr lang="en-US" b="true" sz="2792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smart home devices</a:t>
            </a: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421097" indent="-210549" lvl="1">
              <a:lnSpc>
                <a:spcPts val="2792"/>
              </a:lnSpc>
              <a:buFont typeface="Arial"/>
              <a:buChar char="•"/>
            </a:pP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Accepts and processes </a:t>
            </a:r>
            <a:r>
              <a:rPr lang="en-US" b="true" sz="2792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device control requests</a:t>
            </a: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algn="l" marL="421097" indent="-210549" lvl="1">
              <a:lnSpc>
                <a:spcPts val="2792"/>
              </a:lnSpc>
              <a:buFont typeface="Arial"/>
              <a:buChar char="•"/>
            </a:pP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Maintains </a:t>
            </a:r>
            <a:r>
              <a:rPr lang="en-US" b="true" sz="2792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real-time device status</a:t>
            </a: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(ON / OFF).</a:t>
            </a:r>
          </a:p>
          <a:p>
            <a:pPr algn="l" marL="421097" indent="-210549" lvl="1">
              <a:lnSpc>
                <a:spcPts val="2792"/>
              </a:lnSpc>
              <a:buFont typeface="Arial"/>
              <a:buChar char="•"/>
            </a:pP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Integrates with Module 1 for </a:t>
            </a:r>
            <a:r>
              <a:rPr lang="en-US" b="true" sz="2792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secure device access</a:t>
            </a:r>
            <a:r>
              <a:rPr lang="en-US" sz="279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526673" y="2790744"/>
            <a:ext cx="3734929" cy="3734929"/>
            <a:chOff x="0" y="0"/>
            <a:chExt cx="7368184" cy="736818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368159" cy="7368159"/>
            </a:xfrm>
            <a:custGeom>
              <a:avLst/>
              <a:gdLst/>
              <a:ahLst/>
              <a:cxnLst/>
              <a:rect r="r" b="b" t="t" l="l"/>
              <a:pathLst>
                <a:path h="7368159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7368159"/>
                  </a:lnTo>
                  <a:lnTo>
                    <a:pt x="0" y="736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526673" y="6525673"/>
            <a:ext cx="3761327" cy="3761327"/>
            <a:chOff x="0" y="0"/>
            <a:chExt cx="7368184" cy="7368184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368159" cy="7368159"/>
            </a:xfrm>
            <a:custGeom>
              <a:avLst/>
              <a:gdLst/>
              <a:ahLst/>
              <a:cxnLst/>
              <a:rect r="r" b="b" t="t" l="l"/>
              <a:pathLst>
                <a:path h="7368159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7368159"/>
                  </a:lnTo>
                  <a:lnTo>
                    <a:pt x="0" y="736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72140" y="12252341"/>
            <a:ext cx="5526138" cy="5526138"/>
            <a:chOff x="0" y="0"/>
            <a:chExt cx="7368184" cy="736818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368159" cy="7368159"/>
            </a:xfrm>
            <a:custGeom>
              <a:avLst/>
              <a:gdLst/>
              <a:ahLst/>
              <a:cxnLst/>
              <a:rect r="r" b="b" t="t" l="l"/>
              <a:pathLst>
                <a:path h="7368159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7368159"/>
                  </a:lnTo>
                  <a:lnTo>
                    <a:pt x="0" y="736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251749"/>
            <a:chOff x="0" y="0"/>
            <a:chExt cx="24384000" cy="43356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335653"/>
            </a:xfrm>
            <a:custGeom>
              <a:avLst/>
              <a:gdLst/>
              <a:ahLst/>
              <a:cxnLst/>
              <a:rect r="r" b="b" t="t" l="l"/>
              <a:pathLst>
                <a:path h="433565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35653"/>
                  </a:lnTo>
                  <a:lnTo>
                    <a:pt x="0" y="4335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" t="0" r="-5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1584" y="4066727"/>
            <a:ext cx="11837041" cy="79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3: Classes &amp; Their Responsibilities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296" y="5185324"/>
            <a:ext cx="8047882" cy="2037455"/>
            <a:chOff x="0" y="0"/>
            <a:chExt cx="10730509" cy="27166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0692385" cy="2678557"/>
            </a:xfrm>
            <a:custGeom>
              <a:avLst/>
              <a:gdLst/>
              <a:ahLst/>
              <a:cxnLst/>
              <a:rect r="r" b="b" t="t" l="l"/>
              <a:pathLst>
                <a:path h="2678557" w="10692385">
                  <a:moveTo>
                    <a:pt x="0" y="520319"/>
                  </a:moveTo>
                  <a:cubicBezTo>
                    <a:pt x="0" y="232918"/>
                    <a:pt x="235458" y="0"/>
                    <a:pt x="525780" y="0"/>
                  </a:cubicBezTo>
                  <a:lnTo>
                    <a:pt x="10166604" y="0"/>
                  </a:lnTo>
                  <a:cubicBezTo>
                    <a:pt x="10457053" y="0"/>
                    <a:pt x="10692385" y="232918"/>
                    <a:pt x="10692385" y="520319"/>
                  </a:cubicBezTo>
                  <a:lnTo>
                    <a:pt x="10692385" y="2158238"/>
                  </a:lnTo>
                  <a:cubicBezTo>
                    <a:pt x="10692385" y="2445639"/>
                    <a:pt x="10456926" y="2678557"/>
                    <a:pt x="10166604" y="2678557"/>
                  </a:cubicBezTo>
                  <a:lnTo>
                    <a:pt x="525780" y="2678557"/>
                  </a:lnTo>
                  <a:cubicBezTo>
                    <a:pt x="235331" y="2678557"/>
                    <a:pt x="0" y="2445639"/>
                    <a:pt x="0" y="2158238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30485" cy="2716657"/>
            </a:xfrm>
            <a:custGeom>
              <a:avLst/>
              <a:gdLst/>
              <a:ahLst/>
              <a:cxnLst/>
              <a:rect r="r" b="b" t="t" l="l"/>
              <a:pathLst>
                <a:path h="2716657" w="10730485">
                  <a:moveTo>
                    <a:pt x="0" y="539369"/>
                  </a:moveTo>
                  <a:cubicBezTo>
                    <a:pt x="0" y="241300"/>
                    <a:pt x="244094" y="0"/>
                    <a:pt x="544830" y="0"/>
                  </a:cubicBezTo>
                  <a:lnTo>
                    <a:pt x="10185654" y="0"/>
                  </a:lnTo>
                  <a:lnTo>
                    <a:pt x="10185654" y="19050"/>
                  </a:lnTo>
                  <a:lnTo>
                    <a:pt x="10185654" y="0"/>
                  </a:lnTo>
                  <a:cubicBezTo>
                    <a:pt x="10486390" y="0"/>
                    <a:pt x="10730485" y="241300"/>
                    <a:pt x="10730485" y="539369"/>
                  </a:cubicBezTo>
                  <a:lnTo>
                    <a:pt x="10711435" y="539369"/>
                  </a:lnTo>
                  <a:lnTo>
                    <a:pt x="10730485" y="539369"/>
                  </a:lnTo>
                  <a:lnTo>
                    <a:pt x="10730485" y="2177288"/>
                  </a:lnTo>
                  <a:lnTo>
                    <a:pt x="10711435" y="2177288"/>
                  </a:lnTo>
                  <a:lnTo>
                    <a:pt x="10730485" y="2177288"/>
                  </a:lnTo>
                  <a:cubicBezTo>
                    <a:pt x="10730485" y="2475357"/>
                    <a:pt x="10486390" y="2716657"/>
                    <a:pt x="10185654" y="2716657"/>
                  </a:cubicBezTo>
                  <a:lnTo>
                    <a:pt x="10185654" y="2697607"/>
                  </a:lnTo>
                  <a:lnTo>
                    <a:pt x="10185654" y="2716657"/>
                  </a:lnTo>
                  <a:lnTo>
                    <a:pt x="544830" y="2716657"/>
                  </a:lnTo>
                  <a:lnTo>
                    <a:pt x="544830" y="2697607"/>
                  </a:lnTo>
                  <a:lnTo>
                    <a:pt x="544830" y="2716657"/>
                  </a:lnTo>
                  <a:cubicBezTo>
                    <a:pt x="244094" y="2716657"/>
                    <a:pt x="0" y="2475357"/>
                    <a:pt x="0" y="2177288"/>
                  </a:cubicBezTo>
                  <a:lnTo>
                    <a:pt x="0" y="539369"/>
                  </a:lnTo>
                  <a:lnTo>
                    <a:pt x="19050" y="539369"/>
                  </a:lnTo>
                  <a:lnTo>
                    <a:pt x="0" y="539369"/>
                  </a:lnTo>
                  <a:moveTo>
                    <a:pt x="38100" y="539369"/>
                  </a:moveTo>
                  <a:lnTo>
                    <a:pt x="38100" y="2177288"/>
                  </a:lnTo>
                  <a:lnTo>
                    <a:pt x="19050" y="2177288"/>
                  </a:lnTo>
                  <a:lnTo>
                    <a:pt x="38100" y="2177288"/>
                  </a:lnTo>
                  <a:cubicBezTo>
                    <a:pt x="38100" y="2453894"/>
                    <a:pt x="264795" y="2678557"/>
                    <a:pt x="544830" y="2678557"/>
                  </a:cubicBezTo>
                  <a:lnTo>
                    <a:pt x="10185654" y="2678557"/>
                  </a:lnTo>
                  <a:cubicBezTo>
                    <a:pt x="10465689" y="2678557"/>
                    <a:pt x="10692385" y="2453894"/>
                    <a:pt x="10692385" y="2177288"/>
                  </a:cubicBezTo>
                  <a:lnTo>
                    <a:pt x="10692385" y="539369"/>
                  </a:lnTo>
                  <a:cubicBezTo>
                    <a:pt x="10692384" y="262763"/>
                    <a:pt x="10465689" y="38100"/>
                    <a:pt x="10185654" y="38100"/>
                  </a:cubicBezTo>
                  <a:lnTo>
                    <a:pt x="544830" y="38100"/>
                  </a:lnTo>
                  <a:lnTo>
                    <a:pt x="544830" y="19050"/>
                  </a:lnTo>
                  <a:lnTo>
                    <a:pt x="544830" y="38100"/>
                  </a:lnTo>
                  <a:cubicBezTo>
                    <a:pt x="264795" y="38100"/>
                    <a:pt x="38100" y="262763"/>
                    <a:pt x="38100" y="539369"/>
                  </a:cubicBezTo>
                  <a:close/>
                </a:path>
              </a:pathLst>
            </a:custGeom>
            <a:solidFill>
              <a:srgbClr val="F2B42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00162" y="5478666"/>
            <a:ext cx="3060497" cy="39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UsageLog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0162" y="5949105"/>
            <a:ext cx="7442149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Represents the data model for energy usage.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0162" y="6473723"/>
            <a:ext cx="7442149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Stores device ID, timestamp, duration, and power usage.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2669" y="5185324"/>
            <a:ext cx="8048034" cy="2037455"/>
            <a:chOff x="0" y="0"/>
            <a:chExt cx="10730713" cy="27166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692512" cy="2678557"/>
            </a:xfrm>
            <a:custGeom>
              <a:avLst/>
              <a:gdLst/>
              <a:ahLst/>
              <a:cxnLst/>
              <a:rect r="r" b="b" t="t" l="l"/>
              <a:pathLst>
                <a:path h="2678557" w="10692512">
                  <a:moveTo>
                    <a:pt x="0" y="520319"/>
                  </a:moveTo>
                  <a:cubicBezTo>
                    <a:pt x="0" y="232918"/>
                    <a:pt x="235458" y="0"/>
                    <a:pt x="525780" y="0"/>
                  </a:cubicBezTo>
                  <a:lnTo>
                    <a:pt x="10166731" y="0"/>
                  </a:lnTo>
                  <a:cubicBezTo>
                    <a:pt x="10457180" y="0"/>
                    <a:pt x="10692512" y="232918"/>
                    <a:pt x="10692512" y="520319"/>
                  </a:cubicBezTo>
                  <a:lnTo>
                    <a:pt x="10692512" y="2158238"/>
                  </a:lnTo>
                  <a:cubicBezTo>
                    <a:pt x="10692512" y="2445639"/>
                    <a:pt x="10457053" y="2678557"/>
                    <a:pt x="10166731" y="2678557"/>
                  </a:cubicBezTo>
                  <a:lnTo>
                    <a:pt x="525780" y="2678557"/>
                  </a:lnTo>
                  <a:cubicBezTo>
                    <a:pt x="235331" y="2678557"/>
                    <a:pt x="0" y="2445639"/>
                    <a:pt x="0" y="2158238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30612" cy="2716657"/>
            </a:xfrm>
            <a:custGeom>
              <a:avLst/>
              <a:gdLst/>
              <a:ahLst/>
              <a:cxnLst/>
              <a:rect r="r" b="b" t="t" l="l"/>
              <a:pathLst>
                <a:path h="2716657" w="10730612">
                  <a:moveTo>
                    <a:pt x="0" y="539369"/>
                  </a:moveTo>
                  <a:cubicBezTo>
                    <a:pt x="0" y="241300"/>
                    <a:pt x="244094" y="0"/>
                    <a:pt x="544830" y="0"/>
                  </a:cubicBezTo>
                  <a:lnTo>
                    <a:pt x="10185781" y="0"/>
                  </a:lnTo>
                  <a:lnTo>
                    <a:pt x="10185781" y="19050"/>
                  </a:lnTo>
                  <a:lnTo>
                    <a:pt x="10185781" y="0"/>
                  </a:lnTo>
                  <a:cubicBezTo>
                    <a:pt x="10486517" y="0"/>
                    <a:pt x="10730612" y="241300"/>
                    <a:pt x="10730612" y="539369"/>
                  </a:cubicBezTo>
                  <a:lnTo>
                    <a:pt x="10711562" y="539369"/>
                  </a:lnTo>
                  <a:lnTo>
                    <a:pt x="10730612" y="539369"/>
                  </a:lnTo>
                  <a:lnTo>
                    <a:pt x="10730612" y="2177288"/>
                  </a:lnTo>
                  <a:lnTo>
                    <a:pt x="10711562" y="2177288"/>
                  </a:lnTo>
                  <a:lnTo>
                    <a:pt x="10730612" y="2177288"/>
                  </a:lnTo>
                  <a:cubicBezTo>
                    <a:pt x="10730612" y="2475357"/>
                    <a:pt x="10486517" y="2716657"/>
                    <a:pt x="10185781" y="2716657"/>
                  </a:cubicBezTo>
                  <a:lnTo>
                    <a:pt x="10185781" y="2697607"/>
                  </a:lnTo>
                  <a:lnTo>
                    <a:pt x="10185781" y="2716657"/>
                  </a:lnTo>
                  <a:lnTo>
                    <a:pt x="544830" y="2716657"/>
                  </a:lnTo>
                  <a:lnTo>
                    <a:pt x="544830" y="2697607"/>
                  </a:lnTo>
                  <a:lnTo>
                    <a:pt x="544830" y="2716657"/>
                  </a:lnTo>
                  <a:cubicBezTo>
                    <a:pt x="244094" y="2716657"/>
                    <a:pt x="0" y="2475357"/>
                    <a:pt x="0" y="2177288"/>
                  </a:cubicBezTo>
                  <a:lnTo>
                    <a:pt x="0" y="539369"/>
                  </a:lnTo>
                  <a:lnTo>
                    <a:pt x="19050" y="539369"/>
                  </a:lnTo>
                  <a:lnTo>
                    <a:pt x="0" y="539369"/>
                  </a:lnTo>
                  <a:moveTo>
                    <a:pt x="38100" y="539369"/>
                  </a:moveTo>
                  <a:lnTo>
                    <a:pt x="38100" y="2177288"/>
                  </a:lnTo>
                  <a:lnTo>
                    <a:pt x="19050" y="2177288"/>
                  </a:lnTo>
                  <a:lnTo>
                    <a:pt x="38100" y="2177288"/>
                  </a:lnTo>
                  <a:cubicBezTo>
                    <a:pt x="38100" y="2453894"/>
                    <a:pt x="264795" y="2678557"/>
                    <a:pt x="544830" y="2678557"/>
                  </a:cubicBezTo>
                  <a:lnTo>
                    <a:pt x="10185781" y="2678557"/>
                  </a:lnTo>
                  <a:cubicBezTo>
                    <a:pt x="10465816" y="2678557"/>
                    <a:pt x="10692512" y="2453894"/>
                    <a:pt x="10692512" y="2177288"/>
                  </a:cubicBezTo>
                  <a:lnTo>
                    <a:pt x="10692512" y="539369"/>
                  </a:lnTo>
                  <a:cubicBezTo>
                    <a:pt x="10692638" y="262763"/>
                    <a:pt x="10465943" y="38100"/>
                    <a:pt x="10185781" y="38100"/>
                  </a:cubicBezTo>
                  <a:lnTo>
                    <a:pt x="544830" y="38100"/>
                  </a:lnTo>
                  <a:lnTo>
                    <a:pt x="544830" y="19050"/>
                  </a:lnTo>
                  <a:lnTo>
                    <a:pt x="544830" y="38100"/>
                  </a:lnTo>
                  <a:cubicBezTo>
                    <a:pt x="264795" y="38100"/>
                    <a:pt x="38100" y="262763"/>
                    <a:pt x="38100" y="539369"/>
                  </a:cubicBezTo>
                  <a:close/>
                </a:path>
              </a:pathLst>
            </a:custGeom>
            <a:solidFill>
              <a:srgbClr val="D7425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45536" y="5478666"/>
            <a:ext cx="3060497" cy="39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UsageRepository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5536" y="5949105"/>
            <a:ext cx="7442302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Stores and retrieves energy usage data from the database.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5536" y="6473723"/>
            <a:ext cx="7442302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Maintains consistency of energy records.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7296" y="7420270"/>
            <a:ext cx="8047882" cy="2037455"/>
            <a:chOff x="0" y="0"/>
            <a:chExt cx="10730509" cy="2716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10692385" cy="2678557"/>
            </a:xfrm>
            <a:custGeom>
              <a:avLst/>
              <a:gdLst/>
              <a:ahLst/>
              <a:cxnLst/>
              <a:rect r="r" b="b" t="t" l="l"/>
              <a:pathLst>
                <a:path h="2678557" w="10692385">
                  <a:moveTo>
                    <a:pt x="0" y="520319"/>
                  </a:moveTo>
                  <a:cubicBezTo>
                    <a:pt x="0" y="232918"/>
                    <a:pt x="235458" y="0"/>
                    <a:pt x="525780" y="0"/>
                  </a:cubicBezTo>
                  <a:lnTo>
                    <a:pt x="10166604" y="0"/>
                  </a:lnTo>
                  <a:cubicBezTo>
                    <a:pt x="10457053" y="0"/>
                    <a:pt x="10692385" y="232918"/>
                    <a:pt x="10692385" y="520319"/>
                  </a:cubicBezTo>
                  <a:lnTo>
                    <a:pt x="10692385" y="2158238"/>
                  </a:lnTo>
                  <a:cubicBezTo>
                    <a:pt x="10692385" y="2445639"/>
                    <a:pt x="10456926" y="2678557"/>
                    <a:pt x="10166604" y="2678557"/>
                  </a:cubicBezTo>
                  <a:lnTo>
                    <a:pt x="525780" y="2678557"/>
                  </a:lnTo>
                  <a:cubicBezTo>
                    <a:pt x="235331" y="2678557"/>
                    <a:pt x="0" y="2445639"/>
                    <a:pt x="0" y="2158238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485" cy="2716657"/>
            </a:xfrm>
            <a:custGeom>
              <a:avLst/>
              <a:gdLst/>
              <a:ahLst/>
              <a:cxnLst/>
              <a:rect r="r" b="b" t="t" l="l"/>
              <a:pathLst>
                <a:path h="2716657" w="10730485">
                  <a:moveTo>
                    <a:pt x="0" y="539369"/>
                  </a:moveTo>
                  <a:cubicBezTo>
                    <a:pt x="0" y="241300"/>
                    <a:pt x="244094" y="0"/>
                    <a:pt x="544830" y="0"/>
                  </a:cubicBezTo>
                  <a:lnTo>
                    <a:pt x="10185654" y="0"/>
                  </a:lnTo>
                  <a:lnTo>
                    <a:pt x="10185654" y="19050"/>
                  </a:lnTo>
                  <a:lnTo>
                    <a:pt x="10185654" y="0"/>
                  </a:lnTo>
                  <a:cubicBezTo>
                    <a:pt x="10486390" y="0"/>
                    <a:pt x="10730485" y="241300"/>
                    <a:pt x="10730485" y="539369"/>
                  </a:cubicBezTo>
                  <a:lnTo>
                    <a:pt x="10711435" y="539369"/>
                  </a:lnTo>
                  <a:lnTo>
                    <a:pt x="10730485" y="539369"/>
                  </a:lnTo>
                  <a:lnTo>
                    <a:pt x="10730485" y="2177288"/>
                  </a:lnTo>
                  <a:lnTo>
                    <a:pt x="10711435" y="2177288"/>
                  </a:lnTo>
                  <a:lnTo>
                    <a:pt x="10730485" y="2177288"/>
                  </a:lnTo>
                  <a:cubicBezTo>
                    <a:pt x="10730485" y="2475357"/>
                    <a:pt x="10486390" y="2716657"/>
                    <a:pt x="10185654" y="2716657"/>
                  </a:cubicBezTo>
                  <a:lnTo>
                    <a:pt x="10185654" y="2697607"/>
                  </a:lnTo>
                  <a:lnTo>
                    <a:pt x="10185654" y="2716657"/>
                  </a:lnTo>
                  <a:lnTo>
                    <a:pt x="544830" y="2716657"/>
                  </a:lnTo>
                  <a:lnTo>
                    <a:pt x="544830" y="2697607"/>
                  </a:lnTo>
                  <a:lnTo>
                    <a:pt x="544830" y="2716657"/>
                  </a:lnTo>
                  <a:cubicBezTo>
                    <a:pt x="244094" y="2716657"/>
                    <a:pt x="0" y="2475357"/>
                    <a:pt x="0" y="2177288"/>
                  </a:cubicBezTo>
                  <a:lnTo>
                    <a:pt x="0" y="539369"/>
                  </a:lnTo>
                  <a:lnTo>
                    <a:pt x="19050" y="539369"/>
                  </a:lnTo>
                  <a:lnTo>
                    <a:pt x="0" y="539369"/>
                  </a:lnTo>
                  <a:moveTo>
                    <a:pt x="38100" y="539369"/>
                  </a:moveTo>
                  <a:lnTo>
                    <a:pt x="38100" y="2177288"/>
                  </a:lnTo>
                  <a:lnTo>
                    <a:pt x="19050" y="2177288"/>
                  </a:lnTo>
                  <a:lnTo>
                    <a:pt x="38100" y="2177288"/>
                  </a:lnTo>
                  <a:cubicBezTo>
                    <a:pt x="38100" y="2453894"/>
                    <a:pt x="264795" y="2678557"/>
                    <a:pt x="544830" y="2678557"/>
                  </a:cubicBezTo>
                  <a:lnTo>
                    <a:pt x="10185654" y="2678557"/>
                  </a:lnTo>
                  <a:cubicBezTo>
                    <a:pt x="10465689" y="2678557"/>
                    <a:pt x="10692385" y="2453894"/>
                    <a:pt x="10692385" y="2177288"/>
                  </a:cubicBezTo>
                  <a:lnTo>
                    <a:pt x="10692385" y="539369"/>
                  </a:lnTo>
                  <a:cubicBezTo>
                    <a:pt x="10692384" y="262763"/>
                    <a:pt x="10465689" y="38100"/>
                    <a:pt x="10185654" y="38100"/>
                  </a:cubicBezTo>
                  <a:lnTo>
                    <a:pt x="544830" y="38100"/>
                  </a:lnTo>
                  <a:lnTo>
                    <a:pt x="544830" y="19050"/>
                  </a:lnTo>
                  <a:lnTo>
                    <a:pt x="544830" y="38100"/>
                  </a:lnTo>
                  <a:cubicBezTo>
                    <a:pt x="264795" y="38100"/>
                    <a:pt x="38100" y="262763"/>
                    <a:pt x="38100" y="539369"/>
                  </a:cubicBezTo>
                  <a:close/>
                </a:path>
              </a:pathLst>
            </a:custGeom>
            <a:solidFill>
              <a:srgbClr val="DD785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00162" y="7713612"/>
            <a:ext cx="3553273" cy="39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EnergyTrackingController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0162" y="8184061"/>
            <a:ext cx="7442149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Receives energy tracking requests from the system.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0162" y="8708679"/>
            <a:ext cx="7442149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Acts as the entry point for energy tracking operations.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42669" y="7420270"/>
            <a:ext cx="8048034" cy="2037455"/>
            <a:chOff x="0" y="0"/>
            <a:chExt cx="10730713" cy="27166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" y="19050"/>
              <a:ext cx="10692512" cy="2678557"/>
            </a:xfrm>
            <a:custGeom>
              <a:avLst/>
              <a:gdLst/>
              <a:ahLst/>
              <a:cxnLst/>
              <a:rect r="r" b="b" t="t" l="l"/>
              <a:pathLst>
                <a:path h="2678557" w="10692512">
                  <a:moveTo>
                    <a:pt x="0" y="520319"/>
                  </a:moveTo>
                  <a:cubicBezTo>
                    <a:pt x="0" y="232918"/>
                    <a:pt x="235458" y="0"/>
                    <a:pt x="525780" y="0"/>
                  </a:cubicBezTo>
                  <a:lnTo>
                    <a:pt x="10166731" y="0"/>
                  </a:lnTo>
                  <a:cubicBezTo>
                    <a:pt x="10457180" y="0"/>
                    <a:pt x="10692512" y="232918"/>
                    <a:pt x="10692512" y="520319"/>
                  </a:cubicBezTo>
                  <a:lnTo>
                    <a:pt x="10692512" y="2158238"/>
                  </a:lnTo>
                  <a:cubicBezTo>
                    <a:pt x="10692512" y="2445639"/>
                    <a:pt x="10457053" y="2678557"/>
                    <a:pt x="10166731" y="2678557"/>
                  </a:cubicBezTo>
                  <a:lnTo>
                    <a:pt x="525780" y="2678557"/>
                  </a:lnTo>
                  <a:cubicBezTo>
                    <a:pt x="235331" y="2678557"/>
                    <a:pt x="0" y="2445639"/>
                    <a:pt x="0" y="2158238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0612" cy="2716657"/>
            </a:xfrm>
            <a:custGeom>
              <a:avLst/>
              <a:gdLst/>
              <a:ahLst/>
              <a:cxnLst/>
              <a:rect r="r" b="b" t="t" l="l"/>
              <a:pathLst>
                <a:path h="2716657" w="10730612">
                  <a:moveTo>
                    <a:pt x="0" y="539369"/>
                  </a:moveTo>
                  <a:cubicBezTo>
                    <a:pt x="0" y="241300"/>
                    <a:pt x="244094" y="0"/>
                    <a:pt x="544830" y="0"/>
                  </a:cubicBezTo>
                  <a:lnTo>
                    <a:pt x="10185781" y="0"/>
                  </a:lnTo>
                  <a:lnTo>
                    <a:pt x="10185781" y="19050"/>
                  </a:lnTo>
                  <a:lnTo>
                    <a:pt x="10185781" y="0"/>
                  </a:lnTo>
                  <a:cubicBezTo>
                    <a:pt x="10486517" y="0"/>
                    <a:pt x="10730612" y="241300"/>
                    <a:pt x="10730612" y="539369"/>
                  </a:cubicBezTo>
                  <a:lnTo>
                    <a:pt x="10711562" y="539369"/>
                  </a:lnTo>
                  <a:lnTo>
                    <a:pt x="10730612" y="539369"/>
                  </a:lnTo>
                  <a:lnTo>
                    <a:pt x="10730612" y="2177288"/>
                  </a:lnTo>
                  <a:lnTo>
                    <a:pt x="10711562" y="2177288"/>
                  </a:lnTo>
                  <a:lnTo>
                    <a:pt x="10730612" y="2177288"/>
                  </a:lnTo>
                  <a:cubicBezTo>
                    <a:pt x="10730612" y="2475357"/>
                    <a:pt x="10486517" y="2716657"/>
                    <a:pt x="10185781" y="2716657"/>
                  </a:cubicBezTo>
                  <a:lnTo>
                    <a:pt x="10185781" y="2697607"/>
                  </a:lnTo>
                  <a:lnTo>
                    <a:pt x="10185781" y="2716657"/>
                  </a:lnTo>
                  <a:lnTo>
                    <a:pt x="544830" y="2716657"/>
                  </a:lnTo>
                  <a:lnTo>
                    <a:pt x="544830" y="2697607"/>
                  </a:lnTo>
                  <a:lnTo>
                    <a:pt x="544830" y="2716657"/>
                  </a:lnTo>
                  <a:cubicBezTo>
                    <a:pt x="244094" y="2716657"/>
                    <a:pt x="0" y="2475357"/>
                    <a:pt x="0" y="2177288"/>
                  </a:cubicBezTo>
                  <a:lnTo>
                    <a:pt x="0" y="539369"/>
                  </a:lnTo>
                  <a:lnTo>
                    <a:pt x="19050" y="539369"/>
                  </a:lnTo>
                  <a:lnTo>
                    <a:pt x="0" y="539369"/>
                  </a:lnTo>
                  <a:moveTo>
                    <a:pt x="38100" y="539369"/>
                  </a:moveTo>
                  <a:lnTo>
                    <a:pt x="38100" y="2177288"/>
                  </a:lnTo>
                  <a:lnTo>
                    <a:pt x="19050" y="2177288"/>
                  </a:lnTo>
                  <a:lnTo>
                    <a:pt x="38100" y="2177288"/>
                  </a:lnTo>
                  <a:cubicBezTo>
                    <a:pt x="38100" y="2453894"/>
                    <a:pt x="264795" y="2678557"/>
                    <a:pt x="544830" y="2678557"/>
                  </a:cubicBezTo>
                  <a:lnTo>
                    <a:pt x="10185781" y="2678557"/>
                  </a:lnTo>
                  <a:cubicBezTo>
                    <a:pt x="10465816" y="2678557"/>
                    <a:pt x="10692512" y="2453894"/>
                    <a:pt x="10692512" y="2177288"/>
                  </a:cubicBezTo>
                  <a:lnTo>
                    <a:pt x="10692512" y="539369"/>
                  </a:lnTo>
                  <a:cubicBezTo>
                    <a:pt x="10692638" y="262763"/>
                    <a:pt x="10465943" y="38100"/>
                    <a:pt x="10185781" y="38100"/>
                  </a:cubicBezTo>
                  <a:lnTo>
                    <a:pt x="544830" y="38100"/>
                  </a:lnTo>
                  <a:lnTo>
                    <a:pt x="544830" y="19050"/>
                  </a:lnTo>
                  <a:lnTo>
                    <a:pt x="544830" y="38100"/>
                  </a:lnTo>
                  <a:cubicBezTo>
                    <a:pt x="264795" y="38100"/>
                    <a:pt x="38100" y="262763"/>
                    <a:pt x="38100" y="539369"/>
                  </a:cubicBezTo>
                  <a:close/>
                </a:path>
              </a:pathLst>
            </a:custGeom>
            <a:solidFill>
              <a:srgbClr val="48A8E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45536" y="7713612"/>
            <a:ext cx="3162748" cy="39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EnergyTrackingService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5536" y="8184061"/>
            <a:ext cx="7442302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Calculates energy consumption based on device usage.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5536" y="8708679"/>
            <a:ext cx="7442302" cy="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Applies business logic and prepares data before saving.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20776" y="917229"/>
            <a:ext cx="4846291" cy="62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WORK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0776" y="1825523"/>
            <a:ext cx="8418909" cy="4698797"/>
            <a:chOff x="0" y="0"/>
            <a:chExt cx="11225212" cy="62650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225276" cy="6265037"/>
            </a:xfrm>
            <a:custGeom>
              <a:avLst/>
              <a:gdLst/>
              <a:ahLst/>
              <a:cxnLst/>
              <a:rect r="r" b="b" t="t" l="l"/>
              <a:pathLst>
                <a:path h="6265037" w="11225276">
                  <a:moveTo>
                    <a:pt x="0" y="0"/>
                  </a:moveTo>
                  <a:lnTo>
                    <a:pt x="11225276" y="0"/>
                  </a:lnTo>
                  <a:lnTo>
                    <a:pt x="11225276" y="6265037"/>
                  </a:lnTo>
                  <a:lnTo>
                    <a:pt x="0" y="626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" t="0" r="-3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95292" y="1220095"/>
            <a:ext cx="550346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4"/>
              </a:lnSpc>
            </a:pPr>
            <a:r>
              <a:rPr lang="en-US" sz="35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Module 3 – Working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227364"/>
            <a:ext cx="18774364" cy="291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Device state changes in Module 2</a:t>
            </a:r>
          </a:p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EnergyTrackingController receives tracking trigger</a:t>
            </a:r>
          </a:p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EnergyTrackingService calculates energy usage</a:t>
            </a:r>
          </a:p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UsageLog object is created</a:t>
            </a:r>
          </a:p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UsageRepository saves data</a:t>
            </a:r>
          </a:p>
          <a:p>
            <a:pPr algn="l" marL="1184461" indent="-394820" lvl="2">
              <a:lnSpc>
                <a:spcPts val="3900"/>
              </a:lnSpc>
              <a:buFont typeface="Arial"/>
              <a:buChar char="⚬"/>
            </a:pPr>
            <a:r>
              <a:rPr lang="en-US" sz="278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Data is available for analytics and 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02037"/>
            <a:ext cx="18288000" cy="1149743"/>
            <a:chOff x="0" y="0"/>
            <a:chExt cx="24384000" cy="15329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533004"/>
            </a:xfrm>
            <a:custGeom>
              <a:avLst/>
              <a:gdLst/>
              <a:ahLst/>
              <a:cxnLst/>
              <a:rect r="r" b="b" t="t" l="l"/>
              <a:pathLst>
                <a:path h="15330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33004"/>
                  </a:lnTo>
                  <a:lnTo>
                    <a:pt x="0" y="1533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20" r="0" b="-302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91219" y="4609059"/>
            <a:ext cx="4794349" cy="5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sz="340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functioning of module 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65081" y="5659936"/>
            <a:ext cx="5526138" cy="4794647"/>
            <a:chOff x="0" y="0"/>
            <a:chExt cx="7368184" cy="639286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368159" cy="6392926"/>
            </a:xfrm>
            <a:custGeom>
              <a:avLst/>
              <a:gdLst/>
              <a:ahLst/>
              <a:cxnLst/>
              <a:rect r="r" b="b" t="t" l="l"/>
              <a:pathLst>
                <a:path h="6392926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6392926"/>
                  </a:lnTo>
                  <a:lnTo>
                    <a:pt x="0" y="6392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" t="0" r="-2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491219" y="5659936"/>
            <a:ext cx="5526138" cy="5312416"/>
            <a:chOff x="0" y="0"/>
            <a:chExt cx="7368184" cy="708322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368159" cy="7083171"/>
            </a:xfrm>
            <a:custGeom>
              <a:avLst/>
              <a:gdLst/>
              <a:ahLst/>
              <a:cxnLst/>
              <a:rect r="r" b="b" t="t" l="l"/>
              <a:pathLst>
                <a:path h="7083171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7083171"/>
                  </a:lnTo>
                  <a:lnTo>
                    <a:pt x="0" y="7083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" r="0" b="-3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761862" y="5659936"/>
            <a:ext cx="5526138" cy="4627064"/>
            <a:chOff x="0" y="0"/>
            <a:chExt cx="7368184" cy="616941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368159" cy="6169406"/>
            </a:xfrm>
            <a:custGeom>
              <a:avLst/>
              <a:gdLst/>
              <a:ahLst/>
              <a:cxnLst/>
              <a:rect r="r" b="b" t="t" l="l"/>
              <a:pathLst>
                <a:path h="6169406" w="7368159">
                  <a:moveTo>
                    <a:pt x="0" y="0"/>
                  </a:moveTo>
                  <a:lnTo>
                    <a:pt x="7368159" y="0"/>
                  </a:lnTo>
                  <a:lnTo>
                    <a:pt x="7368159" y="6169406"/>
                  </a:lnTo>
                  <a:lnTo>
                    <a:pt x="0" y="616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4136231"/>
            <a:ext cx="9902723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                                  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DAHAoDUD1gM</dc:identifier>
  <dcterms:modified xsi:type="dcterms:W3CDTF">2011-08-01T06:04:30Z</dcterms:modified>
  <cp:revision>1</cp:revision>
  <dc:title>Milestone-3pptx.pptx</dc:title>
</cp:coreProperties>
</file>