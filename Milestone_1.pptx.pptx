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ex Gyre Bonum" charset="1" panose="00000500000000000000"/>
      <p:regular r:id="rId16"/>
    </p:embeddedFont>
    <p:embeddedFont>
      <p:font typeface="Open Sauce Bold" charset="1" panose="00000800000000000000"/>
      <p:regular r:id="rId17"/>
    </p:embeddedFont>
    <p:embeddedFont>
      <p:font typeface="Open Sauce" charset="1" panose="00000500000000000000"/>
      <p:regular r:id="rId18"/>
    </p:embeddedFont>
    <p:embeddedFont>
      <p:font typeface="Gotham" charset="1" panose="00000000000000000000"/>
      <p:regular r:id="rId19"/>
    </p:embeddedFont>
    <p:embeddedFont>
      <p:font typeface="Canva Sans" charset="1" panose="020B0503030501040103"/>
      <p:regular r:id="rId20"/>
    </p:embeddedFont>
    <p:embeddedFont>
      <p:font typeface="Canva Sans Bold" charset="1" panose="020B0803030501040103"/>
      <p:regular r:id="rId21"/>
    </p:embeddedFont>
    <p:embeddedFont>
      <p:font typeface="League Spartan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FFF">
                <a:alpha val="100000"/>
              </a:srgbClr>
            </a:gs>
            <a:gs pos="100000">
              <a:srgbClr val="C5C5C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384749"/>
            <a:ext cx="8249702" cy="5968534"/>
          </a:xfrm>
          <a:custGeom>
            <a:avLst/>
            <a:gdLst/>
            <a:ahLst/>
            <a:cxnLst/>
            <a:rect r="r" b="b" t="t" l="l"/>
            <a:pathLst>
              <a:path h="5968534" w="8249702">
                <a:moveTo>
                  <a:pt x="0" y="0"/>
                </a:moveTo>
                <a:lnTo>
                  <a:pt x="8249702" y="0"/>
                </a:lnTo>
                <a:lnTo>
                  <a:pt x="8249702" y="5968534"/>
                </a:lnTo>
                <a:lnTo>
                  <a:pt x="0" y="596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04892" y="408391"/>
            <a:ext cx="16543166" cy="2298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5"/>
              </a:lnSpc>
            </a:pPr>
            <a:r>
              <a:rPr lang="en-US" sz="8855" spc="-531">
                <a:solidFill>
                  <a:srgbClr val="331B0D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Smart Home Energy Management System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7407116"/>
            <a:ext cx="4560684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b="true" sz="2400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93631" y="7974263"/>
            <a:ext cx="456068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</a:pPr>
            <a:r>
              <a:rPr lang="en-US" sz="26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JIYA JAIN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FFF">
                <a:alpha val="100000"/>
              </a:srgbClr>
            </a:gs>
            <a:gs pos="100000">
              <a:srgbClr val="C5C5C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31042" y="6572857"/>
            <a:ext cx="6356958" cy="3619320"/>
          </a:xfrm>
          <a:custGeom>
            <a:avLst/>
            <a:gdLst/>
            <a:ahLst/>
            <a:cxnLst/>
            <a:rect r="r" b="b" t="t" l="l"/>
            <a:pathLst>
              <a:path h="3619320" w="6356958">
                <a:moveTo>
                  <a:pt x="0" y="0"/>
                </a:moveTo>
                <a:lnTo>
                  <a:pt x="6356958" y="0"/>
                </a:lnTo>
                <a:lnTo>
                  <a:pt x="6356958" y="3619320"/>
                </a:lnTo>
                <a:lnTo>
                  <a:pt x="0" y="3619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621" r="0" b="-3901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97929" y="923925"/>
            <a:ext cx="18964661" cy="176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6"/>
              </a:lnSpc>
            </a:pPr>
            <a:r>
              <a:rPr lang="en-US" sz="5083">
                <a:solidFill>
                  <a:srgbClr val="214184"/>
                </a:solidFill>
                <a:latin typeface="Gotham"/>
                <a:ea typeface="Gotham"/>
                <a:cs typeface="Gotham"/>
                <a:sym typeface="Gotham"/>
              </a:rPr>
              <a:t>In</a:t>
            </a:r>
            <a:r>
              <a:rPr lang="en-US" sz="5083">
                <a:solidFill>
                  <a:srgbClr val="214184"/>
                </a:solidFill>
                <a:latin typeface="Gotham"/>
                <a:ea typeface="Gotham"/>
                <a:cs typeface="Gotham"/>
                <a:sym typeface="Gotham"/>
              </a:rPr>
              <a:t>telligent Energy Monitoring &amp; </a:t>
            </a:r>
          </a:p>
          <a:p>
            <a:pPr algn="l">
              <a:lnSpc>
                <a:spcPts val="7116"/>
              </a:lnSpc>
            </a:pPr>
            <a:r>
              <a:rPr lang="en-US" sz="5083">
                <a:solidFill>
                  <a:srgbClr val="214184"/>
                </a:solidFill>
                <a:latin typeface="Gotham"/>
                <a:ea typeface="Gotham"/>
                <a:cs typeface="Gotham"/>
                <a:sym typeface="Gotham"/>
              </a:rPr>
              <a:t>Cost Optimization Platform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548987"/>
            <a:ext cx="13973573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E4257"/>
                </a:solidFill>
                <a:latin typeface="Canva Sans"/>
                <a:ea typeface="Canva Sans"/>
                <a:cs typeface="Canva Sans"/>
                <a:sym typeface="Canva Sans"/>
              </a:rPr>
              <a:t>🔹 </a:t>
            </a:r>
            <a:r>
              <a:rPr lang="en-US" sz="3399" b="true">
                <a:solidFill>
                  <a:srgbClr val="2E42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Overview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Java-base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web platform for managing household energy usage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Centralized monitoring and control system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🔹</a:t>
            </a: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399" b="true">
                <a:solidFill>
                  <a:srgbClr val="2E42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Features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Real-time electricity consumption tracking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Peak usage detection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Cost estimation and usage prediction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Interactive dashboard with live analytics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FFF">
                <a:alpha val="100000"/>
              </a:srgbClr>
            </a:gs>
            <a:gs pos="100000">
              <a:srgbClr val="C5C5C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98616" y="6495087"/>
            <a:ext cx="6035645" cy="4526734"/>
          </a:xfrm>
          <a:custGeom>
            <a:avLst/>
            <a:gdLst/>
            <a:ahLst/>
            <a:cxnLst/>
            <a:rect r="r" b="b" t="t" l="l"/>
            <a:pathLst>
              <a:path h="4526734" w="6035645">
                <a:moveTo>
                  <a:pt x="0" y="0"/>
                </a:moveTo>
                <a:lnTo>
                  <a:pt x="6035645" y="0"/>
                </a:lnTo>
                <a:lnTo>
                  <a:pt x="6035645" y="4526734"/>
                </a:lnTo>
                <a:lnTo>
                  <a:pt x="0" y="4526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98616" y="8946518"/>
            <a:ext cx="4560684" cy="31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8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4270" y="2305941"/>
            <a:ext cx="14189512" cy="52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50"/>
              </a:lnSpc>
            </a:pPr>
          </a:p>
          <a:p>
            <a:pPr algn="just" marL="809700" indent="-404850" lvl="1">
              <a:lnSpc>
                <a:spcPts val="5250"/>
              </a:lnSpc>
              <a:buFont typeface="Arial"/>
              <a:buChar char="•"/>
            </a:pPr>
            <a:r>
              <a:rPr lang="en-US" b="true" sz="3750">
                <a:solidFill>
                  <a:srgbClr val="331B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electricity wastage </a:t>
            </a:r>
            <a:r>
              <a:rPr lang="en-US" b="true" sz="3750">
                <a:solidFill>
                  <a:srgbClr val="331B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due to unattended appliances</a:t>
            </a:r>
          </a:p>
          <a:p>
            <a:pPr algn="just" marL="809700" indent="-404850" lvl="1">
              <a:lnSpc>
                <a:spcPts val="5250"/>
              </a:lnSpc>
              <a:buFont typeface="Arial"/>
              <a:buChar char="•"/>
            </a:pPr>
            <a:r>
              <a:rPr lang="en-US" b="true" sz="3750">
                <a:solidFill>
                  <a:srgbClr val="331B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real-time monitoring of energy usage</a:t>
            </a:r>
          </a:p>
          <a:p>
            <a:pPr algn="just" marL="809700" indent="-404850" lvl="1">
              <a:lnSpc>
                <a:spcPts val="5250"/>
              </a:lnSpc>
              <a:buFont typeface="Arial"/>
              <a:buChar char="•"/>
            </a:pPr>
            <a:r>
              <a:rPr lang="en-US" b="true" sz="3750">
                <a:solidFill>
                  <a:srgbClr val="331B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Increasing electricity bills</a:t>
            </a:r>
          </a:p>
          <a:p>
            <a:pPr algn="just" marL="809700" indent="-404850" lvl="1">
              <a:lnSpc>
                <a:spcPts val="5250"/>
              </a:lnSpc>
              <a:buFont typeface="Arial"/>
              <a:buChar char="•"/>
            </a:pPr>
            <a:r>
              <a:rPr lang="en-US" b="true" sz="3750">
                <a:solidFill>
                  <a:srgbClr val="331B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alert system for abnormal power spikes</a:t>
            </a:r>
          </a:p>
          <a:p>
            <a:pPr algn="just" marL="809700" indent="-404850" lvl="1">
              <a:lnSpc>
                <a:spcPts val="5250"/>
              </a:lnSpc>
              <a:buFont typeface="Arial"/>
              <a:buChar char="•"/>
            </a:pPr>
            <a:r>
              <a:rPr lang="en-US" b="true" sz="3750">
                <a:solidFill>
                  <a:srgbClr val="331B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Poor awareness of daily and monthly consumption trends</a:t>
            </a:r>
          </a:p>
          <a:p>
            <a:pPr algn="just">
              <a:lnSpc>
                <a:spcPts val="5250"/>
              </a:lnSpc>
            </a:pPr>
          </a:p>
          <a:p>
            <a:pPr algn="just">
              <a:lnSpc>
                <a:spcPts val="525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406851" y="159703"/>
            <a:ext cx="1257210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gradFill>
                  <a:gsLst>
                    <a:gs pos="0">
                      <a:srgbClr val="001F65">
                        <a:alpha val="100000"/>
                      </a:srgbClr>
                    </a:gs>
                    <a:gs pos="100000">
                      <a:srgbClr val="6895FD">
                        <a:alpha val="100000"/>
                      </a:srgbClr>
                    </a:gs>
                  </a:gsLst>
                  <a:lin ang="540000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Problem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FFF">
                <a:alpha val="100000"/>
              </a:srgbClr>
            </a:gs>
            <a:gs pos="100000">
              <a:srgbClr val="C5C5C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2158"/>
            <a:ext cx="18288000" cy="10224842"/>
          </a:xfrm>
          <a:custGeom>
            <a:avLst/>
            <a:gdLst/>
            <a:ahLst/>
            <a:cxnLst/>
            <a:rect r="r" b="b" t="t" l="l"/>
            <a:pathLst>
              <a:path h="10224842" w="18288000">
                <a:moveTo>
                  <a:pt x="0" y="0"/>
                </a:moveTo>
                <a:lnTo>
                  <a:pt x="18288000" y="0"/>
                </a:lnTo>
                <a:lnTo>
                  <a:pt x="18288000" y="10224842"/>
                </a:lnTo>
                <a:lnTo>
                  <a:pt x="0" y="102248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90" r="0" b="-15273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FFF">
                <a:alpha val="100000"/>
              </a:srgbClr>
            </a:gs>
            <a:gs pos="100000">
              <a:srgbClr val="C5C5C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31795" y="7749436"/>
            <a:ext cx="2890367" cy="2927628"/>
          </a:xfrm>
          <a:custGeom>
            <a:avLst/>
            <a:gdLst/>
            <a:ahLst/>
            <a:cxnLst/>
            <a:rect r="r" b="b" t="t" l="l"/>
            <a:pathLst>
              <a:path h="2927628" w="2890367">
                <a:moveTo>
                  <a:pt x="0" y="0"/>
                </a:moveTo>
                <a:lnTo>
                  <a:pt x="2890367" y="0"/>
                </a:lnTo>
                <a:lnTo>
                  <a:pt x="2890367" y="2927628"/>
                </a:lnTo>
                <a:lnTo>
                  <a:pt x="0" y="2927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44513"/>
            <a:ext cx="164343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gradFill>
                  <a:gsLst>
                    <a:gs pos="0">
                      <a:srgbClr val="001F65">
                        <a:alpha val="100000"/>
                      </a:srgbClr>
                    </a:gs>
                    <a:gs pos="100000">
                      <a:srgbClr val="6895FD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SYSTEM </a:t>
            </a:r>
            <a:r>
              <a:rPr lang="en-US" b="true" sz="5000">
                <a:gradFill>
                  <a:gsLst>
                    <a:gs pos="0">
                      <a:srgbClr val="001F65">
                        <a:alpha val="100000"/>
                      </a:srgbClr>
                    </a:gs>
                    <a:gs pos="100000">
                      <a:srgbClr val="6895FD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ARCHITECTURE (Technology Stack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0725" y="2414034"/>
            <a:ext cx="16508810" cy="620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9232" indent="-409616" lvl="1">
              <a:lnSpc>
                <a:spcPts val="6868"/>
              </a:lnSpc>
              <a:buFont typeface="Arial"/>
              <a:buChar char="•"/>
            </a:pPr>
            <a:r>
              <a:rPr lang="en-US" sz="37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Front-En</a:t>
            </a:r>
            <a:r>
              <a:rPr lang="en-US" sz="37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d: HTML, CSS, Bootstrap, Thymeleaf (UI &amp; user interaction)</a:t>
            </a:r>
          </a:p>
          <a:p>
            <a:pPr algn="l" marL="819232" indent="-409616" lvl="1">
              <a:lnSpc>
                <a:spcPts val="5312"/>
              </a:lnSpc>
              <a:buFont typeface="Arial"/>
              <a:buChar char="•"/>
            </a:pPr>
            <a:r>
              <a:rPr lang="en-US" sz="37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Back-End: Java 17/21 with Spring Boot &amp; Spring MVC (business logic)</a:t>
            </a:r>
          </a:p>
          <a:p>
            <a:pPr algn="l" marL="819232" indent="-409616" lvl="1">
              <a:lnSpc>
                <a:spcPts val="7209"/>
              </a:lnSpc>
              <a:buFont typeface="Arial"/>
              <a:buChar char="•"/>
            </a:pPr>
            <a:r>
              <a:rPr lang="en-US" sz="37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Security: Spring Security (authentication &amp; authorization)</a:t>
            </a:r>
          </a:p>
          <a:p>
            <a:pPr algn="l" marL="819232" indent="-409616" lvl="1">
              <a:lnSpc>
                <a:spcPts val="6868"/>
              </a:lnSpc>
              <a:buFont typeface="Arial"/>
              <a:buChar char="•"/>
            </a:pPr>
            <a:r>
              <a:rPr lang="en-US" sz="37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REST API: Spring Boot REST Controllers (JSON communication)</a:t>
            </a:r>
          </a:p>
          <a:p>
            <a:pPr algn="l" marL="819232" indent="-409616" lvl="1">
              <a:lnSpc>
                <a:spcPts val="5312"/>
              </a:lnSpc>
              <a:buFont typeface="Arial"/>
              <a:buChar char="•"/>
            </a:pPr>
            <a:r>
              <a:rPr lang="en-US" sz="37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Persistence: Hibernate / JPA (ORM &amp; database operations)</a:t>
            </a:r>
          </a:p>
          <a:p>
            <a:pPr algn="l" marL="819232" indent="-409616" lvl="1">
              <a:lnSpc>
                <a:spcPts val="6868"/>
              </a:lnSpc>
              <a:buFont typeface="Arial"/>
              <a:buChar char="•"/>
            </a:pPr>
            <a:r>
              <a:rPr lang="en-US" sz="37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Database: MySQL / PostgreSQL (data storage)</a:t>
            </a:r>
          </a:p>
          <a:p>
            <a:pPr algn="l" marL="819232" indent="-409616" lvl="1">
              <a:lnSpc>
                <a:spcPts val="5312"/>
              </a:lnSpc>
              <a:buFont typeface="Arial"/>
              <a:buChar char="•"/>
            </a:pPr>
            <a:r>
              <a:rPr lang="en-US" sz="37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Deployment: Docker (containerized application environment)</a:t>
            </a:r>
          </a:p>
          <a:p>
            <a:pPr algn="l">
              <a:lnSpc>
                <a:spcPts val="531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FFF">
                <a:alpha val="100000"/>
              </a:srgbClr>
            </a:gs>
            <a:gs pos="100000">
              <a:srgbClr val="C5C5C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0724" y="0"/>
            <a:ext cx="16498576" cy="10287000"/>
          </a:xfrm>
          <a:custGeom>
            <a:avLst/>
            <a:gdLst/>
            <a:ahLst/>
            <a:cxnLst/>
            <a:rect r="r" b="b" t="t" l="l"/>
            <a:pathLst>
              <a:path h="10287000" w="16498576">
                <a:moveTo>
                  <a:pt x="0" y="0"/>
                </a:moveTo>
                <a:lnTo>
                  <a:pt x="16498576" y="0"/>
                </a:lnTo>
                <a:lnTo>
                  <a:pt x="1649857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553" r="-1073" b="-4447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FFF">
                <a:alpha val="100000"/>
              </a:srgbClr>
            </a:gs>
            <a:gs pos="100000">
              <a:srgbClr val="C5C5C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9301" y="0"/>
            <a:ext cx="17809397" cy="10287000"/>
          </a:xfrm>
          <a:custGeom>
            <a:avLst/>
            <a:gdLst/>
            <a:ahLst/>
            <a:cxnLst/>
            <a:rect r="r" b="b" t="t" l="l"/>
            <a:pathLst>
              <a:path h="10287000" w="17809397">
                <a:moveTo>
                  <a:pt x="0" y="0"/>
                </a:moveTo>
                <a:lnTo>
                  <a:pt x="17809398" y="0"/>
                </a:lnTo>
                <a:lnTo>
                  <a:pt x="178093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8" t="-4573" r="0" b="-10977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FFF">
                <a:alpha val="100000"/>
              </a:srgbClr>
            </a:gs>
            <a:gs pos="100000">
              <a:srgbClr val="C5C5C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6260" y="0"/>
            <a:ext cx="17259300" cy="10287000"/>
          </a:xfrm>
          <a:custGeom>
            <a:avLst/>
            <a:gdLst/>
            <a:ahLst/>
            <a:cxnLst/>
            <a:rect r="r" b="b" t="t" l="l"/>
            <a:pathLst>
              <a:path h="10287000" w="17259300">
                <a:moveTo>
                  <a:pt x="0" y="0"/>
                </a:moveTo>
                <a:lnTo>
                  <a:pt x="17259300" y="0"/>
                </a:lnTo>
                <a:lnTo>
                  <a:pt x="172593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262" r="0" b="-6519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FFF">
                <a:alpha val="100000"/>
              </a:srgbClr>
            </a:gs>
            <a:gs pos="100000">
              <a:srgbClr val="C5C5C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3596" y="1841481"/>
            <a:ext cx="14100807" cy="8383042"/>
            <a:chOff x="0" y="0"/>
            <a:chExt cx="23542366" cy="139961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42403" cy="13996163"/>
            </a:xfrm>
            <a:custGeom>
              <a:avLst/>
              <a:gdLst/>
              <a:ahLst/>
              <a:cxnLst/>
              <a:rect r="r" b="b" t="t" l="l"/>
              <a:pathLst>
                <a:path h="13996163" w="23542403">
                  <a:moveTo>
                    <a:pt x="0" y="0"/>
                  </a:moveTo>
                  <a:lnTo>
                    <a:pt x="23542403" y="0"/>
                  </a:lnTo>
                  <a:lnTo>
                    <a:pt x="23542403" y="13996163"/>
                  </a:lnTo>
                  <a:lnTo>
                    <a:pt x="0" y="13996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7" r="0" b="-29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464847" y="6033002"/>
            <a:ext cx="38100" cy="899350"/>
            <a:chOff x="0" y="0"/>
            <a:chExt cx="50800" cy="11991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25400"/>
              <a:ext cx="50800" cy="1148334"/>
            </a:xfrm>
            <a:custGeom>
              <a:avLst/>
              <a:gdLst/>
              <a:ahLst/>
              <a:cxnLst/>
              <a:rect r="r" b="b" t="t" l="l"/>
              <a:pathLst>
                <a:path h="1148334" w="50800">
                  <a:moveTo>
                    <a:pt x="50800" y="0"/>
                  </a:moveTo>
                  <a:lnTo>
                    <a:pt x="50800" y="1148334"/>
                  </a:lnTo>
                  <a:lnTo>
                    <a:pt x="0" y="11483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7753">
                <a:alpha val="48627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498441" y="537527"/>
            <a:ext cx="672623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DATABASE SCHEMA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EFFFF">
                <a:alpha val="100000"/>
              </a:srgbClr>
            </a:gs>
            <a:gs pos="100000">
              <a:srgbClr val="C5C5C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82253" y="4573588"/>
            <a:ext cx="7750952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 spc="-599">
                <a:solidFill>
                  <a:srgbClr val="331B0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DAHAjXVrpp8</dc:identifier>
  <dcterms:modified xsi:type="dcterms:W3CDTF">2011-08-01T06:04:30Z</dcterms:modified>
  <cp:revision>1</cp:revision>
  <dc:title>Milestone_1.pptx</dc:title>
</cp:coreProperties>
</file>